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61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Pt>
            <c:idx val="4"/>
            <c:bubble3D val="0"/>
            <c:spPr>
              <a:solidFill>
                <a:srgbClr val="A8B0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</c:v>
                </c:pt>
                <c:pt idx="2">
                  <c:v>Baunebenkosten und Standard</c:v>
                </c:pt>
                <c:pt idx="3">
                  <c:v>Gastro-Ausbau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236256</c:v>
                </c:pt>
                <c:pt idx="1">
                  <c:v>3465450</c:v>
                </c:pt>
                <c:pt idx="2">
                  <c:v>639375.525</c:v>
                </c:pt>
                <c:pt idx="3">
                  <c:v>274750</c:v>
                </c:pt>
                <c:pt idx="4">
                  <c:v>279047.74409598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421"/>
                </a:solidFill>
                <a:latin typeface="+mn-lt"/>
              </a:rPr>
              <a:t>Restschuld in € nach Jahren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Restschuld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</c:f>
              <c:multiLvlStrCache>
                <c:ptCount val="3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</c:lvl>
              </c:multiLvlStrCache>
            </c:multiLvl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4845203</c:v>
                </c:pt>
                <c:pt idx="1">
                  <c:v>4793904</c:v>
                </c:pt>
                <c:pt idx="2">
                  <c:v>4740927</c:v>
                </c:pt>
                <c:pt idx="3">
                  <c:v>4686215</c:v>
                </c:pt>
                <c:pt idx="4">
                  <c:v>4629709</c:v>
                </c:pt>
                <c:pt idx="5">
                  <c:v>4571347</c:v>
                </c:pt>
                <c:pt idx="6">
                  <c:v>4511066</c:v>
                </c:pt>
                <c:pt idx="7">
                  <c:v>4448799</c:v>
                </c:pt>
                <c:pt idx="8">
                  <c:v>4384479</c:v>
                </c:pt>
                <c:pt idx="9">
                  <c:v>4318034</c:v>
                </c:pt>
                <c:pt idx="10">
                  <c:v>4249392</c:v>
                </c:pt>
                <c:pt idx="11">
                  <c:v>4178477</c:v>
                </c:pt>
                <c:pt idx="12">
                  <c:v>4105210</c:v>
                </c:pt>
                <c:pt idx="13">
                  <c:v>4029510</c:v>
                </c:pt>
                <c:pt idx="14">
                  <c:v>3951292</c:v>
                </c:pt>
                <c:pt idx="15">
                  <c:v>3870469</c:v>
                </c:pt>
                <c:pt idx="16">
                  <c:v>3786951</c:v>
                </c:pt>
                <c:pt idx="17">
                  <c:v>3700644</c:v>
                </c:pt>
                <c:pt idx="18">
                  <c:v>3611451</c:v>
                </c:pt>
                <c:pt idx="19">
                  <c:v>3519271</c:v>
                </c:pt>
                <c:pt idx="20">
                  <c:v>3424000</c:v>
                </c:pt>
                <c:pt idx="21">
                  <c:v>3325529</c:v>
                </c:pt>
                <c:pt idx="22">
                  <c:v>3223748</c:v>
                </c:pt>
                <c:pt idx="23">
                  <c:v>3118540</c:v>
                </c:pt>
                <c:pt idx="24">
                  <c:v>3009784</c:v>
                </c:pt>
                <c:pt idx="25">
                  <c:v>2897356</c:v>
                </c:pt>
                <c:pt idx="26">
                  <c:v>2781127</c:v>
                </c:pt>
                <c:pt idx="27">
                  <c:v>2660964</c:v>
                </c:pt>
                <c:pt idx="28">
                  <c:v>2536726</c:v>
                </c:pt>
                <c:pt idx="29">
                  <c:v>2408271</c:v>
                </c:pt>
                <c:pt idx="30">
                  <c:v>2275450</c:v>
                </c:pt>
                <c:pt idx="31">
                  <c:v>2138108</c:v>
                </c:pt>
                <c:pt idx="32">
                  <c:v>1996084</c:v>
                </c:pt>
                <c:pt idx="33">
                  <c:v>1849213</c:v>
                </c:pt>
                <c:pt idx="34">
                  <c:v>1697323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stammen aus dem Rechenmodell Bankunterlagen_Baufeld3.xlsx und sind Planungsannahmen.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Rendering, Planung folgt mit dem Gastro-Fachplaner. Details im Gastro-Konzept.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370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 11,18 €/m² (950 € für 85 m², Annahme des Bauherrn). Portale nennen für Neubau in Werlte ca. 10,7–11,0 €/m². Nebenkosten werden umgelegt.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Gastro-Flächen aus Plätzen und Richtwerten abgeleitet, Büromieten und Laufzeiten sind Annahmen (keine Büromarktdaten für Werlte gefunden).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 zahlt im Neubau keinen Zuschuss, sondern verbilligt den Zins. Beträge und Zinsen laut Ratgebern Oktober 2026, bei Hausbank und KfW bestätigen. Antrag über die Hausbank vor Baubeginn.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 ohne Eigenkapital. Die Hausbank finanziert den Rest und die Zinsen der Bau- und Anlaufzeit. Tilgungsfreie Anlaufzeit 12 Monate ist mit der Bank zu verhandeln.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Annuität: Rate = Darlehen × (Zins + 1 % Tilgung) / 12. Zinsbindung 10 Jahre, danach gleicher Zins angenommen. Die Rate gilt nach der tilgungsfreien Anlaufzeit.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Monatlicher Plan über 35 Jahre im Excel-Blatt Tilgungsplan. Hier nach Jahren, Anfangstilgung 1 %, gleicher Zins nach der Zinsbindung angenommen.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Gastro wird getrennt geführt. Die GbR ist Eigentümerin und Vermieterin, die Betreiberfirma pachtet die Gastro. Rechtsform und Haftung mit Steuerberater und Anwalt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Pacht = Maximum aus 10 €/m² und 10 % vom Umsatz (Plan: 95.635 € Umsatz). Rücklagen 10 % von Miete, Büro und Pacht. Das Gastro-Betriebsergebnis gehört der Betreiberfirma.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Frühstück und Mittag am Tag, Restaurant und Bar am Abend. Öffnungstage, Gäste und Bon sind Annahmen ohne Marktdaten für Werlte, Ruhetag Montag.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Betreiberfirma: Marge vor Pacht 30,5 % vom Umsatz (Branchen-Richtwert, nicht aus Werlte). Pacht = Maximum aus 10 €/m² und 10 % vom Umsatz. Bei sehr niedrigem Umsatz drücken Fixkosten stärker.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Vereinfachtes Ertragswertverfahren nach ImmoWertV, getrennt nach Nutzung: Liegenschaftszins Wohnen 4,0 %, Büro 6,0 %, Gastro 6,5 %. Der verbindliche Beleihungswert kommt vom Gutachter der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Prognose: Miete, Pacht und Umsatz +1,5 % pro Jahr, Büros +2 %, Kapitaldienst konstant. Belastungstest vereinfacht, Hausbank rechnet mit eigenen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KfW-Zinsen und Rahmen Stand Ratgeber Oktober 2026 (Annahme). Steuerliche Förderung und NBank-Programm sind nicht in der Basisrechnung, Fristen und Voraussetzungen prüfen Steuerberater und NBank.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Gleiche Anteile, Basis ohne Eigenkapital. Steuerwirkung bei 35 % Grenzsteuersatz (Annahme), Verluste der GbR werden mit anderen Einkünften verrechnet (Gewinnerzielungsabsicht prüfen). Förderoption: degressive AfA und Sonder-AfA im Wohnteil.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Restaurant und Bar, Gastro getrennt, Pacht 10 % vom Umsatz, KfW 297/298/299 berücksichtigt. Eigenkapital so bemessen, dass die GbR die Raten mit Faktor 1,2 deckt. Werte aus einem unabhängigen Nachbau des Modells, Basis stimmt auf den Cent mit Excel überein.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Marktdaten Werlte Q4 2026: Auslastung der Beherbergung 17,4 % (Emsland 36,2 %), Angebotspreis ca. 87 € pro Nacht, 89 % der Unterkünfte unter 100 €. Möblierung 600 €/m² im Kredit, Kostenquote 56 % vom Umsatz.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Ausgehend vom Zielbudget des Bauherrn (150.000 € für 150 Plätze) hochgerechnet auf 190 Plätze: 1.000 € je Platz. Büros: Vermieter-Ausbau 150 €/m² zusätzlich. Angebote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Restaurant, Bar und 12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Businessplan für die Bank und die Gesellschafter: Vermietungs-GbR, Gastro getrennt, KfW-Förderung, Ertragswert, Abzahlungsplan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inkl. Finanzierung in Bau- und Anlaufzeit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4,89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inkl. Finanzierung in Bau- und Anlaufzeit</a:t>
            </a:r>
            <a:endParaRPr lang="en-US" sz="1400" dirty="0"/>
          </a:p>
        </p:txBody>
      </p:sp>
      <p:sp>
        <p:nvSpPr>
          <p:cNvPr id="8" name="Kennzahl KfW-Kredite 297, 298, 299 (60 % der Finanzierung)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2,95 Mio.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297, 298, 299 (60 % der Finanzierung)</a:t>
            </a:r>
            <a:endParaRPr lang="en-US" sz="1400" dirty="0"/>
          </a:p>
        </p:txBody>
      </p:sp>
      <p:sp>
        <p:nvSpPr>
          <p:cNvPr id="11" name="Kennzahl Kapitaldienst pro Monat (Mischzins 3,21 %, 1 % Tilg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17.189 €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 pro Monat (Mischzins 3,21 %, 1 % Tilgung)</a:t>
            </a:r>
            <a:endParaRPr lang="en-US" sz="1400" dirty="0"/>
          </a:p>
        </p:txBody>
      </p:sp>
      <p:sp>
        <p:nvSpPr>
          <p:cNvPr id="14" name="Kennzahl Ergebnis der Vermietungs-GbR pro Monat nach Kapitaldienst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−553 €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der Vermietungs-GbR pro Monat nach Kapitaldienst</a:t>
            </a:r>
            <a:endParaRPr lang="en-US" sz="1400" dirty="0"/>
          </a:p>
        </p:txBody>
      </p:sp>
      <p:graphicFrame>
        <p:nvGraphicFramePr>
          <p:cNvPr id="3" name="Tabelle Eckda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/ Grundfläche / 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/ 576 m² (32 × 18 m, GRZ-Maximum) / 1.650 m² (EG, 1. OG, Staffel)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 und Bar im EG (ca. 510 m²), im 1. OG 2 Büro-Ankermieter (100 und 65 m²) und 5 Wohnungen, im Staffelgeschoss in Holzbau 7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Struktur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Vermietungs-GbR mit den Gesellschaftern ist Eigentümerin, eine eigene Betreiberfirma führt die Gastro und zahlt 10 % vom Umsatz als Pacht (mindestens 10 €/m²)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297/298/299 sparen 38.475 € Zinsen im Jahr gegenüber der Hausbank, steuerliche Abschreibungen als Option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 (DSCR) der GbR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 ohne Eigenkapital, mit Gastro-Gewinn des Bauherrn 2,11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/ 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3,59 Mio. € / 151 % (Darlehen zu Beleihungswert)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48640" y="5943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Eigenkapital deckt die GbR die Raten knapp nicht, mit Eigenkapital der Gesellschafter oder Sicherheiten wird das Vorhaben finanzierbar, siehe Folien Ergebnis pro Gesellschafter und Szenarien.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 Grundfläche (60 %, GRZ-Maximum)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32 × 18 m =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6–8,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576 m² Grundfläche zulässig (im Plan ist das Baufenster nach meiner Schätzung kleiner)? Zählt das Staffelgeschoss (ca. 498 m² in Holzbau, 86 %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sp>
        <p:nvSpPr>
          <p:cNvPr id="5" name="Kennzahl Staffelgeschoss in Holzbau, nur 0,8 m rundum zurückgesetzt"/>
          <p:cNvSpPr/>
          <p:nvPr/>
        </p:nvSpPr>
        <p:spPr>
          <a:xfrm>
            <a:off x="548640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498 m²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in Holzbau, nur 0,8 m rundum zurückgesetzt</a:t>
            </a:r>
            <a:endParaRPr lang="en-US" sz="1400" dirty="0"/>
          </a:p>
        </p:txBody>
      </p:sp>
      <p:sp>
        <p:nvSpPr>
          <p:cNvPr id="8" name="Kennzahl Ersparnis gegenüber Massivbau (400 € je m², Annahme)"/>
          <p:cNvSpPr/>
          <p:nvPr/>
        </p:nvSpPr>
        <p:spPr>
          <a:xfrm>
            <a:off x="4337304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0184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199.200 €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4520184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Ersparnis gegenüber Massivbau (400 € je m², Annahme)</a:t>
            </a:r>
            <a:endParaRPr lang="en-US" sz="1400" dirty="0"/>
          </a:p>
        </p:txBody>
      </p:sp>
      <p:sp>
        <p:nvSpPr>
          <p:cNvPr id="11" name="Kennzahl schmale Dachterrasse rundum (ca. 0,8 m), nicht Teil der BGF"/>
          <p:cNvSpPr/>
          <p:nvPr/>
        </p:nvSpPr>
        <p:spPr>
          <a:xfrm>
            <a:off x="8125968" y="1371600"/>
            <a:ext cx="3514344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08848" y="1508760"/>
            <a:ext cx="3148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77 m²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08848" y="2240280"/>
            <a:ext cx="3148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schmale Dachterrasse rundum (ca. 0,8 m), nicht Teil der BGF</a:t>
            </a:r>
            <a:endParaRPr lang="en-US" sz="1400" dirty="0"/>
          </a:p>
        </p:txBody>
      </p:sp>
      <p:sp>
        <p:nvSpPr>
          <p:cNvPr id="14" name="Warum Holz oben"/>
          <p:cNvSpPr/>
          <p:nvPr/>
        </p:nvSpPr>
        <p:spPr>
          <a:xfrm>
            <a:off x="548640" y="3108960"/>
            <a:ext cx="1109167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291840"/>
            <a:ext cx="10543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aus dem Bekanntenkreis (Bauunternehmen unten, Zimmerei oben) können Preise und Termine gemeinsam angeben.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 hilft beim QNG-Nachweis und beim Effizienzhaus-40-Standard (KfW-Voraussetzung).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große Gastro mit Bar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2 Büros, 5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7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Restaurant und Bar ca. 510 m² mit Séparée und Küche, dazu Treppenhaus, Aufzug, Eingänge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Büro-Ankermieter (100 und 65 m²), 5 Wohnungen à ca. 64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Wohnungen à ca. 48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Wohnungen (655 m²), 2 Büros (165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77 m² um die Wohnungen.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700" dirty="0"/>
          </a:p>
        </p:txBody>
      </p:sp>
      <p:sp>
        <p:nvSpPr>
          <p:cNvPr id="9" name="Raum Fläche"/>
          <p:cNvSpPr/>
          <p:nvPr/>
        </p:nvSpPr>
        <p:spPr>
          <a:xfrm>
            <a:off x="1001085" y="2103120"/>
            <a:ext cx="3167116" cy="2036003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Raum Gastraum und Lounge ca. 160 Plätze"/>
          <p:cNvSpPr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83863" y="2385898"/>
            <a:ext cx="2714671" cy="848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und Lounge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160 Plätze</a:t>
            </a:r>
            <a:endParaRPr lang="en-US" sz="1100" dirty="0"/>
          </a:p>
        </p:txBody>
      </p:sp>
      <p:sp>
        <p:nvSpPr>
          <p:cNvPr id="12" name="Raum Bar"/>
          <p:cNvSpPr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solidFill>
            <a:srgbClr val="3A3F4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05975" y="3369966"/>
            <a:ext cx="1696669" cy="18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Séparée 30 Plätze"/>
          <p:cNvSpPr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solidFill>
            <a:srgbClr val="8A6A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1085" y="3517011"/>
            <a:ext cx="791779" cy="62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100" dirty="0"/>
          </a:p>
        </p:txBody>
      </p:sp>
      <p:sp>
        <p:nvSpPr>
          <p:cNvPr id="16" name="Raum Küche"/>
          <p:cNvSpPr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05975" y="3686678"/>
            <a:ext cx="735223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8" name="Raum Lager"/>
          <p:cNvSpPr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41199" y="3686678"/>
            <a:ext cx="56555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</a:t>
            </a:r>
            <a:endParaRPr lang="en-US" sz="1100" dirty="0"/>
          </a:p>
        </p:txBody>
      </p:sp>
      <p:sp>
        <p:nvSpPr>
          <p:cNvPr id="20" name="Raum WC"/>
          <p:cNvSpPr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06755" y="3686678"/>
            <a:ext cx="961446" cy="452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4284696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3" name="Baukörper 1. Obergeschoss"/>
          <p:cNvSpPr/>
          <p:nvPr/>
        </p:nvSpPr>
        <p:spPr>
          <a:xfrm>
            <a:off x="4284696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4" name="Raum Treppe, Aufzug"/>
          <p:cNvSpPr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284696" y="2103120"/>
            <a:ext cx="452445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700" dirty="0"/>
          </a:p>
        </p:txBody>
      </p:sp>
      <p:sp>
        <p:nvSpPr>
          <p:cNvPr id="26" name="Raum Büro 1 100 m²"/>
          <p:cNvSpPr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solidFill>
            <a:srgbClr val="3F627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37141" y="2103120"/>
            <a:ext cx="701290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m²</a:t>
            </a:r>
            <a:endParaRPr lang="en-US" sz="1100" dirty="0"/>
          </a:p>
        </p:txBody>
      </p:sp>
      <p:sp>
        <p:nvSpPr>
          <p:cNvPr id="28" name="Raum Büro 2 65 m²"/>
          <p:cNvSpPr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38431" y="2103120"/>
            <a:ext cx="463756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m²</a:t>
            </a:r>
            <a:endParaRPr lang="en-US" sz="700" dirty="0"/>
          </a:p>
        </p:txBody>
      </p:sp>
      <p:sp>
        <p:nvSpPr>
          <p:cNvPr id="30" name="Raum WE 1 64 m²"/>
          <p:cNvSpPr/>
          <p:nvPr/>
        </p:nvSpPr>
        <p:spPr>
          <a:xfrm>
            <a:off x="5902187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2187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2" name="Raum WE 2 64 m²"/>
          <p:cNvSpPr/>
          <p:nvPr/>
        </p:nvSpPr>
        <p:spPr>
          <a:xfrm>
            <a:off x="6302601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02601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4" name="Raum WE 3 64 m²"/>
          <p:cNvSpPr/>
          <p:nvPr/>
        </p:nvSpPr>
        <p:spPr>
          <a:xfrm>
            <a:off x="6703015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703015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6" name="Raum WE 4 64 m²"/>
          <p:cNvSpPr/>
          <p:nvPr/>
        </p:nvSpPr>
        <p:spPr>
          <a:xfrm>
            <a:off x="7103429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103429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38" name="Raum WE 5 64 m²"/>
          <p:cNvSpPr/>
          <p:nvPr/>
        </p:nvSpPr>
        <p:spPr>
          <a:xfrm>
            <a:off x="7503843" y="2103120"/>
            <a:ext cx="400414" cy="2036003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503843" y="2103120"/>
            <a:ext cx="400414" cy="2036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m²</a:t>
            </a:r>
            <a:endParaRPr lang="en-US" sz="700" dirty="0"/>
          </a:p>
        </p:txBody>
      </p:sp>
      <p:sp>
        <p:nvSpPr>
          <p:cNvPr id="40" name="Text 37"/>
          <p:cNvSpPr txBox="1"/>
          <p:nvPr/>
        </p:nvSpPr>
        <p:spPr>
          <a:xfrm>
            <a:off x="8020751" y="1371600"/>
            <a:ext cx="36195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41" name="Baukörper Staffel (Holzbau)"/>
          <p:cNvSpPr/>
          <p:nvPr/>
        </p:nvSpPr>
        <p:spPr>
          <a:xfrm>
            <a:off x="8020751" y="2011680"/>
            <a:ext cx="3619561" cy="2218883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42" name="Raum Fläche"/>
          <p:cNvSpPr/>
          <p:nvPr/>
        </p:nvSpPr>
        <p:spPr>
          <a:xfrm>
            <a:off x="8020751" y="2103120"/>
            <a:ext cx="3619561" cy="2036003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Raum Treppe"/>
          <p:cNvSpPr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11240" y="2193609"/>
            <a:ext cx="384578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700" dirty="0"/>
          </a:p>
        </p:txBody>
      </p:sp>
      <p:sp>
        <p:nvSpPr>
          <p:cNvPr id="45" name="Raum WE 6 48 m²"/>
          <p:cNvSpPr/>
          <p:nvPr/>
        </p:nvSpPr>
        <p:spPr>
          <a:xfrm>
            <a:off x="8495818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495818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47" name="Raum WE 7 48 m²"/>
          <p:cNvSpPr/>
          <p:nvPr/>
        </p:nvSpPr>
        <p:spPr>
          <a:xfrm>
            <a:off x="8932105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932105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49" name="Raum WE 8 48 m²"/>
          <p:cNvSpPr/>
          <p:nvPr/>
        </p:nvSpPr>
        <p:spPr>
          <a:xfrm>
            <a:off x="9368391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368391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1" name="Raum WE 9 48 m²"/>
          <p:cNvSpPr/>
          <p:nvPr/>
        </p:nvSpPr>
        <p:spPr>
          <a:xfrm>
            <a:off x="9804678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804678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9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3" name="Raum WE 10 48 m²"/>
          <p:cNvSpPr/>
          <p:nvPr/>
        </p:nvSpPr>
        <p:spPr>
          <a:xfrm>
            <a:off x="10240964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0240964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10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5" name="Raum WE 11 48 m²"/>
          <p:cNvSpPr/>
          <p:nvPr/>
        </p:nvSpPr>
        <p:spPr>
          <a:xfrm>
            <a:off x="10677250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677250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7" name="Raum WE 12 48 m²"/>
          <p:cNvSpPr/>
          <p:nvPr/>
        </p:nvSpPr>
        <p:spPr>
          <a:xfrm>
            <a:off x="11113537" y="2193609"/>
            <a:ext cx="436286" cy="1855025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1113537" y="2193609"/>
            <a:ext cx="436286" cy="1855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m²</a:t>
            </a:r>
            <a:endParaRPr lang="en-US" sz="700" dirty="0"/>
          </a:p>
        </p:txBody>
      </p:sp>
      <p:sp>
        <p:nvSpPr>
          <p:cNvPr id="59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32 × 18 m = 576 m² (GRZ-Maximum 0,6). Die Gastro nutzt das ganze EG (ca. 510 m²), Treppenhaus und Aufzug liegen am Westende und erschließen Büros und Wohnungen getrennt von der Gastro. Im 1. OG liegen die zwei Büro-Ankermieter und 5 Wohnungen, die Staffel in Holzbau hat ca. 498 m² BGF mit 7 Wohnungen, die beige Fläche ist die schmale Terrasse (ca. 77 m²).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Gastraum mit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498080" cy="4215384"/>
          </a:xfrm>
          <a:prstGeom prst="rect">
            <a:avLst/>
          </a:prstGeom>
        </p:spPr>
      </p:pic>
      <p:pic>
        <p:nvPicPr>
          <p:cNvPr id="6" name="Image 1" descr="Visualisierung B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186537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38328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 Plätze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74904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 (160 im Gastraum, 30 im Séparée), plus ca. 60 auf der Terrasse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2519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61772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Barhocker, Polsterbänke, Backbar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12064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sp>
        <p:nvSpPr>
          <p:cNvPr id="10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Renderings zur Orientierung, Gestalt und Materialien. Fassadenteilung, Länge (32 m) und Büro-Fenster im 1. OG weichen im Detail von den Skizzen ab, Maße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61 Stellplätze, auf dem Grundstück passen bei 576 m² Gebäude nur ca. 6–8.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Flächen und Mieten: Wohnungen, Büros und Gastro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463040"/>
                <a:gridCol w="164592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je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1–5 im 1, OG (5 × 64.2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43.052 €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6–12 im Staffelgeschoss (7 × 47,7 m²)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44.795 €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Wohnen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(Pacht: 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114.762 €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 (Ankermieter)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18.484 €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Gewerbeflächen: große Gastro und zwei Ankermieter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Gastro Bedar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Gastro-Flächenbedarf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inkl. Lounge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(Feiern)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mit Spülküche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Lager, Kühlung, Anlieferung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WC (Herren, Damen, barrierefrei)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Eingang, Garderobe, Flure,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gesamt (ca. 190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elle Ankermie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371600"/>
          <a:ext cx="54223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00584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Ankermieter Büro (1. OG)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1: Versicherungsgesellschaft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 2: Makler o. ä.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Büro, 10 Jahre fest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Wirkung"/>
          <p:cNvSpPr/>
          <p:nvPr/>
        </p:nvSpPr>
        <p:spPr>
          <a:xfrm>
            <a:off x="6217920" y="3383280"/>
            <a:ext cx="5422392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46520" y="3520440"/>
            <a:ext cx="49651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Ankermieter: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Büros bringen 19.200 € im Jahr über 10 Jahre (Indexmiete, zusammen 0,21 Mio. €) und decken 8 % des Kapitaldienstes. Zusammen mit den Wohnungen decken die langfristigen Mieten 47 %, den Rest tragen Pacht und Gastro-Gewinn.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 Plätze auf 510 m² (2,7 m² je Platz), Pacht 10 % vom Umsatz.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49834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EG gehört ganz der Gastro, die Büros liegen im 1. OG mit Aufzug und eigenem Eingang (Versicherung, Makler). Die Grundfläche ist auf das Maximum der GRZ (576 m²) vergrößert.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KfW-Kredite 297, 298 und 299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15" name="Tabelle Kf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560320"/>
                <a:gridCol w="2651760"/>
                <a:gridCol w="1554480"/>
                <a:gridCol w="13075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Wofür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Rahmen (mit QNG)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 (Annahme)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 genutzte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vermietete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Klimafreundlicher Neubau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und Büros (Nichtwohngebäude)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 (Rest)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Restfinanzierung inkl. Bauzeitzinsen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Voraussetzungen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393192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Effizienzhaus 40 (Gastro: Effizienzgebäude 40), QNG-Zertifikat für den vollen Rahmen, Heizung ohne Öl, Gas und Biomasse (z. B. Wärmepumpe), Energieeffizienz-Experte, Antrag vor Baubeginn über die Hausbank.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Gemischte Nutzung: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Wohnteil (297/298) und Gastro (299) werden getrennt gefördert. Kreditrahmen insgesamt 2.947.500 €, das sind 60 % des Darlehens. Die KfW-Zinsen schwanken in den Quellen zwischen 0,6 % und 3,05 %. Mehrkosten für den Standard angenommen mit 3 % (119.558 €).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6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066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011680"/>
                <a:gridCol w="1234440"/>
                <a:gridCol w="7772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 und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−199.200 €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519.818 €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Mehrkosten Effizienzhaus 40 und QNG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3 % auf Bau inkl. Nebenkosten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Ausbau Gastro, Büros und 4 zusätzliche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190.000 €, Büros 150 €/m², je Wohnung über 8: 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Finanzierungskosten (Bauzeit, Bereitstellung, Anlaufzeit)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Monate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8138160" y="1280160"/>
          <a:ext cx="3657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2.967 € pro m²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Herkun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Mittelherkunft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297 (selbst genutzte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(Nichtwohngebäude: 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Hausbank-Darlehen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Finanzierung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Finanzierungskosten"/>
          <p:cNvSpPr/>
          <p:nvPr/>
        </p:nvSpPr>
        <p:spPr>
          <a:xfrm>
            <a:off x="7772400" y="1371600"/>
            <a:ext cx="3867912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554480"/>
            <a:ext cx="341071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Mischzins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3,21 % über alle Darlehen.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Bau- und Anlaufzeit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Monate Bau und 12 Monate Anlaufzeit kosten 279.048 € an Zinsen und Bereitstellungsgebühr, finanziert von der Hausbank.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17.189 € pro Monat (Zins plus 1 % Anfangstilgung).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Kosten von 4.894.879 € sind komplett durch Fremdkapital gedeckt.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Zinsberechnung und Rate je Darlehen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8" name="Tabelle Zins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1097280"/>
                <a:gridCol w="1097280"/>
                <a:gridCol w="1828800"/>
                <a:gridCol w="18562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bei Rate-Start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/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Wohnen (297 und 298)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Gastro (299)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97.369 €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2976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ersten Jahr nach der Anlaufzeit zahlst du 156.592 € Zinsen und 49.677 € Tilgung.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Zinsänderung nach 10 Jahren: +1 Prozentpunkt auf die Restschuld kostet ca. 3.598 € pro Monat mehr.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Abzahlungsplan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5" name="Diagramm Restschuld" descr=""/>
          <p:cNvGraphicFramePr/>
          <p:nvPr/>
        </p:nvGraphicFramePr>
        <p:xfrm>
          <a:off x="548640" y="1280160"/>
          <a:ext cx="62179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elle Abzahlung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280160"/>
          <a:ext cx="469087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  <a:gridCol w="11247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156.592 €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154.970 €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4.793.904 €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153.292 €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52.977 €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4.740.927 €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149.763 €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4.629.709 €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(Ende Zinsbindung)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139.824 €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66.444 €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4.318.034 €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128.051 €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78.218 €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3.951.292 €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114.089 €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92.180 €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3.519.271 €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108.756 €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3.009.784 €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77.814 €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128.455 €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2.408.271 €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151.890 €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1.697.323 €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beträgt die Restschuld 4.318.034 €. Die Anschlussfinanzierung muss eingeplant werden.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Struktur: Vermietungs-GbR und Betreiberfirma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Gesellschafter</a:t>
            </a:r>
            <a:endParaRPr lang="en-US" sz="1000" dirty="0"/>
          </a:p>
        </p:txBody>
      </p:sp>
      <p:sp>
        <p:nvSpPr>
          <p:cNvPr id="5" name="Box Vermietungs-GbR (Gesellschafter)"/>
          <p:cNvSpPr/>
          <p:nvPr/>
        </p:nvSpPr>
        <p:spPr>
          <a:xfrm>
            <a:off x="548640" y="1463040"/>
            <a:ext cx="5120640" cy="329184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Vermietungs-GbR (Gesellschafter)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Eigentümerin des Gebäudes, nimmt die Darlehen auf (KfW und Hausbank)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Einnahmen: Mieten Wohnen (12 Wohnungen), Büros (2 Ankermieter), Pacht der Gastro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nach Kapitaldienst: −553 € pro Monat ohne Eigenkapital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Gesellschafter teilen Ergebnis, Steuer und Haftung</a:t>
            </a:r>
            <a:endParaRPr lang="en-US" sz="1300" dirty="0"/>
          </a:p>
        </p:txBody>
      </p:sp>
      <p:sp>
        <p:nvSpPr>
          <p:cNvPr id="8" name="Box Betreiberfirma Gastro (Bauherr)"/>
          <p:cNvSpPr/>
          <p:nvPr/>
        </p:nvSpPr>
        <p:spPr>
          <a:xfrm>
            <a:off x="6519672" y="1463040"/>
            <a:ext cx="5120640" cy="3291840"/>
          </a:xfrm>
          <a:prstGeom prst="roundRect">
            <a:avLst>
              <a:gd name="adj" fmla="val 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02552" y="16002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Betreiberfirma Gastro (Bauherr)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702552" y="21488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Pachtet Restaurant und Bar (510 m²) von der GbR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Pacht: 10 % vom Umsatz, mindestens 10 €/m², bei Plan 9.564 € pro Monat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Betriebsergebnis nach Pacht: +19.605 € pro Monat, ohne Lohn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gehört nicht der GbR</a:t>
            </a:r>
            <a:endParaRPr lang="en-US" sz="1300" dirty="0"/>
          </a:p>
        </p:txBody>
      </p:sp>
      <p:sp>
        <p:nvSpPr>
          <p:cNvPr id="11" name="Pfeil Pacht"/>
          <p:cNvSpPr/>
          <p:nvPr/>
        </p:nvSpPr>
        <p:spPr>
          <a:xfrm>
            <a:off x="5760720" y="3108960"/>
            <a:ext cx="667512" cy="0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Text 9"/>
          <p:cNvSpPr txBox="1"/>
          <p:nvPr/>
        </p:nvSpPr>
        <p:spPr>
          <a:xfrm>
            <a:off x="5760720" y="2743200"/>
            <a:ext cx="667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Pacht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749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die Bank ist die Pacht der Gastro Teil des Ertrags der GbR. Die Kapitaldienstdeckung wird deshalb ohne den Gastro-Gewinn des Bauherrn gerechnet.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 und Kapitaldienst der GbR pro Monat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1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949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554480"/>
                <a:gridCol w="155448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Kaltmiete Wohnen (12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+87.847 €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Büromieten (2 Ankermieter, 10 Jahre fest)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Gastro (10 %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+114.762 €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von Miete, Büro,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−1.848 €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−22.181 €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+16.636 €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+199.628 €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−6.641 €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(Betreiberfirma)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+235.262 €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Bauherr (zur Information)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+19.052 €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+228.621 €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Kennzahlen"/>
          <p:cNvSpPr/>
          <p:nvPr/>
        </p:nvSpPr>
        <p:spPr>
          <a:xfrm>
            <a:off x="7863840" y="1371600"/>
            <a:ext cx="3776472" cy="411480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Kapitaldienstdeckung (DSCR)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GbR 0,97, nur Wohnen und Büro 0,47, mit Gastro-Gewinn des Bauherrn 2,11. Banken verlangen meist mindestens 1,2.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Zinsdeckung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1,27.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Anfangsrendite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4,08 % auf die Gesamtkosten (Nettoertrag Immobilie).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GbR deckt die Raten ohne Eigenkapital zu 97 %. Ab ca. 101.800 € Gastro-Umsatz (Umsatzpacht) wäre sie bei 100 %.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Gastro-Umsatz: Hauptfokus Abend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2" name="Tabelle Tagestei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640080"/>
                <a:gridCol w="914400"/>
                <a:gridCol w="731520"/>
                <a:gridCol w="1097280"/>
                <a:gridCol w="914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Tagesteil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686800" y="1371600"/>
            <a:ext cx="2953512" cy="4297680"/>
          </a:xfrm>
          <a:prstGeom prst="roundRect">
            <a:avLst>
              <a:gd name="adj" fmla="val 24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69680" y="155448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Abend im Fokus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75 % des Umsatzes entstehen am Abend (Restaurant, Bar, Feiern), 25 % am Tag.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Plausibel?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6.000 € je Platz und Jahr, Branchen-Median Österreich ca. 12.000 €. Das Haus trägt sich ab 101.800 € Umsatz.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3" name="Tabelle Gastro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 (Betreiber)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Break-even"/>
          <p:cNvSpPr/>
          <p:nvPr/>
        </p:nvSpPr>
        <p:spPr>
          <a:xfrm>
            <a:off x="7863840" y="1371600"/>
            <a:ext cx="3776472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allein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16.700 € Umsatz deckt die Betreiberfirma die Mindestpacht.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Vermietungs-GbR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ca. 101.800 € Umsatz (Umsatzpacht) deckt die GbR alle Raten.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Umsatz von 95.635 € entspricht ca. 6.000 € je Sitzplatz und Jahr (190 Plätze), der Branchen-Median in Österreich liegt bei ca. 12.000 €.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Ertragswert und Beleihung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4" name="Tabelle Ertragswe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6692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Rohertrag pro Jahr (Mieten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Bewirtschaftungskosten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−28.330 €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Reinertrag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193.479 €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Bodenwert (960 m² × 230 €)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Gebäudeertragswert (mittl. Vervielfältiger 18,5)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3.370.838 €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3.591.638 €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davon Wohnen / Büro / Gastro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1,77 / 0,27 / 1,55 Mio.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7" name="Tabelle Beleih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23951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733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Sachwert (Boden + Herstellungskosten)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4.325.626 €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Beleihungswert (niedrigerer Wert, −10 %)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3.232.474 €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 und Darlehen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Beleihungsauslauf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Ertragswert minus 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−1.303.241 €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 über 80 % Auslauf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2.308.900 €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Mieten und die Pacht tragen einen Wert von 3,59 Mio. €, die Kosten liegen bei 4,89 Mio. €. Eine Bank beleiht üblicherweise nur bis ca. 80 % des Beleihungswerts. Für die Finanzierung braucht es deshalb zusätzliche Sicherheiten (Grundschulden auf weitere Immobilien, Bürgschaft) oder Eigenkapital in Höhe von ca. 2,31 Mio. €.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Prognose und Belastungstest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5" name="Tabelle Progno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45336"/>
                <a:gridCol w="1545336"/>
                <a:gridCol w="1545336"/>
                <a:gridCol w="1545336"/>
                <a:gridCol w="152704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Nettoertrag Immobilie (GbR)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199.628 €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212.242 €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229.146 €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−206.269 €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nach Kapitaldienst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+1.048 €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+1.906 €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Restschuld Jahresende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4.845.203 €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4.740.927 €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4.629.709 €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4.511.066 €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4.318.034 €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9" name="Tabelle Belastungstes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737360"/>
                <a:gridCol w="1371600"/>
                <a:gridCol w="1947672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Belastungstest (pro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Anschlusszins nach 10 Jahren +1 Prozentpunkt (auf Restschuld)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−3.598 €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Mieten Wohnen −10 %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−1.212 €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−659 €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−20 % (Umsatzpacht sinkt)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−1.721 €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Gastro-Umsatz −40 % (Umsatzpacht sinkt, Mindestpacht)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−3.996 €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−3.443 €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Baukosten +10 % (Kredit steigt entsprechend)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Größerer Büro-Ankermieter zieht aus (Leerstand)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Beide Büros leer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−1.993 €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−1.440 €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fällt ganz aus (keine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−9.161 €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Förderungen: KfW-Kredite und steuerliche Abschreibung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Gesellschafter</a:t>
            </a:r>
            <a:endParaRPr lang="en-US" sz="1000" dirty="0"/>
          </a:p>
        </p:txBody>
      </p:sp>
      <p:graphicFrame>
        <p:nvGraphicFramePr>
          <p:cNvPr id="26" name="Tabelle För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029200"/>
                <a:gridCol w="295351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Inhalt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Wirkung im Projekt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298 (vermietete Wohnungen)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150.000 € je Wohnung, Zins 2,5 % statt 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1.800.000 €, spart 27.000 € im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 299 (Gastro und Büros)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 2.000 € je m² Nettogrundfläche, Zins 3,0 %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1.147.500 €, spart 11.475 € im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Zinsvorteil KfW gesamt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gegenüber reiner Hausbank-Finanzierung zu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38.475 € 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Degressive AfA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vom Restwert im Wohnteil statt 3 % linear, § 7 Abs. 5a EStG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Abschreibung 282.367 € statt 131.387 €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Sonder-AfA § 7b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zusätzlich 5 % in 4 Jahren, Baukostengrenze 5.200 €/m², 10 Jahre Vermietung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Wohnteil, in der Zahl oben enthalten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NBank Mietwohnraumförderung (Option)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zinsloses Darlehen, Zuschuss 2–3 € je m² und Monat, dafür Mietbindung und Mietobergrenze ca. 6,50–6,80 €/m²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gerechnet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KfW-Kredite stecken in der Basisrechnung: 2.947.500 € (60 % der Finanzierung) bringen den Mischzins auf 3,21 %. Die NBank-Förderung passt nur, wenn die Wohnungen mietgebunden vermietet werden, das senkt die Miete deutlich unter die angesetzten 11,18 €/m².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Ergebnis pro Gesellschafter der GbR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Gesellschafter und Bank</a:t>
            </a:r>
            <a:endParaRPr lang="en-US" sz="1000" dirty="0"/>
          </a:p>
        </p:txBody>
      </p:sp>
      <p:graphicFrame>
        <p:nvGraphicFramePr>
          <p:cNvPr id="27" name="Tabelle Gesellschaf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Person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Person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Personen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Monat vor Steuern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Jahr vor Steuern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−6.641 €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−3.320 €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−1.660 €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Steuerliches Ergebnis pro Jahr (Verlust negativ)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−88.351 €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−44.176 €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−22.088 €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−11.044 €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Steuerwirkung pro Jahr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+30.923 €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+15.462 €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+3.865 €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pro Monat nach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+1.012 €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 Förderoption: Cash pro Monat nach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+6.427 €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+1.607 €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Tilgung pro Jahr (Vermögensaufbau)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49.677 €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24.838 €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0292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Eigenkapital liegt der Cash knapp unter null, die Steuerwirkung des Verlusts (Zinsen und Abschreibung) macht das Ergebnis nach Steuer positiv. Die Tilgung von 49.677 € im Jahr baut zusätzlich Vermögen auf. Die GbR haftet persönlich und gesamtschuldnerisch.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Szenarien: 12 gegen 8 Wohnungen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Gesellschafter und Bank</a:t>
            </a:r>
            <a:endParaRPr lang="en-US" sz="1000" dirty="0"/>
          </a:p>
        </p:txBody>
      </p:sp>
      <p:graphicFrame>
        <p:nvGraphicFramePr>
          <p:cNvPr id="28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WE ohne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WE ohne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WE mit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WE mit EK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4.894.879 €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4.845.506 €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4.844.812 €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4.787.267 €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KfW-Kredite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2.347.500 €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Hausbank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1.947.379 €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2.498.006 €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1.148.312 €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1.568.767 €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der GbR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−1.098 €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+2.774 €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Kapitaldienstdeckung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Person nach Steuer, 8 Pers.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Eigenkapital pro Person bei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93.625 €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108.875 €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Betriebsergebnis Gastro (Betreiber)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12 Wohnungen brauchen die Gesellschafter 749.000 € Eigenkapital für Deckung 1,2, mit 8 Wohnungen 871.000 €. Der Grund ist der höhere KfW-Rahmen (150.000 € je Wohnung zu 2,5 %), er wiegt die Mehrkosten von 15.000 € je zusätzlicher Wohnung auf.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Prüfung: ein 60-m²-Apartment als Airbnb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29" name="Tabelle Airbn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2011680"/>
                <a:gridCol w="2011680"/>
                <a:gridCol w="194767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Apartment 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Werlte amtlich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Emsland-Schnitt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Optimistisch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Auslastung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pro Nacht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Airbnb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Netto langfristige Miete pro Monat (60 m² × 11,18 €)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Möblierung 36.000 € (Kapitaldienst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Mehrertrag gegenüber langfristiger Miete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</a:tbl>
          </a:graphicData>
        </a:graphic>
      </p:graphicFrame>
      <p:sp>
        <p:nvSpPr>
          <p:cNvPr id="6" name="Ergebnis"/>
          <p:cNvSpPr/>
          <p:nvPr/>
        </p:nvSpPr>
        <p:spPr>
          <a:xfrm>
            <a:off x="548640" y="4526280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61772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Airbnb lohnt sich in Werlte nicht. Erst ab ca. 63 % Auslastung wäre es so gut wie die langfristige Miete, in Werlte liegt sie amtlich bei 17 %. Die Wohnung bleibt langfristig vermietet.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Sicherheiten und Beleihung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Beleihungsauslauf 151 % und Deckung 0,97 bei 100 % Fremdfinanzierung. Gegenmaßnahme: Eigenkapital der Gesellschafter (siehe Szenarien), Grundschulden auf weitere Immobilien, Bürgschaft, Pachtvertrag mit Bonitätsnachweis.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 und Pacht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GbR deckt die Raten erst ab ca. 102.000 € Gastro-Umsatz (Umsatzpacht), bei Ausfall der Gastro fehlen ca. 8.607 € pro Monat zusätzlich, bei Auszug des großen Büro-Ankermieters ca. 855 €. Gegenmaßnahme: Mindestpacht, Bürgschaft des Betreibers, erfahrener Betreiber, Mietverträge über 10 Jahre.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 und Förderung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KfW-Zinsen und Rahmen sind Stand Okt. 2026 unsicher, steuerliche Förderungen hängen an Fristen, nach 10 Jahren ist der Folgezins offen. Gegenmaßnahme: Zusage vor Baubeginn,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 und Standard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 und Flachdach müssen bestätigt werden, KfW verlangt Effizienzhaus 40 mit QNG. Gegenmaßnahme: Vorabstimmung, Energieeffizienz-Experte früh einbinden.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Stadt und Bank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4" name="Bedarf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Genehmigung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576 m² Grundfläche, Staffelgeschoss, Flachdach und Höhe schriftlich bestätigen</a:t>
            </a:r>
            <a:endParaRPr lang="en-US" sz="1400" dirty="0"/>
          </a:p>
        </p:txBody>
      </p:sp>
      <p:sp>
        <p:nvSpPr>
          <p:cNvPr id="7" name="Bedarf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Stellplätze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0" name="Bedarf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Stadt: Grundstück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Kaufpreis 230 €/m² mit Baureife, Reservierung bis zur Finanzierungszusage</a:t>
            </a:r>
            <a:endParaRPr lang="en-US" sz="1400" dirty="0"/>
          </a:p>
        </p:txBody>
      </p:sp>
      <p:sp>
        <p:nvSpPr>
          <p:cNvPr id="13" name="Bedarf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Darlehen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von 4,89 Mio. € mit KfW 297/298/299, tilgungsfreier Anlaufzeit von 12 Monaten und Eigenkapital oder Sicherheiten der GbR</a:t>
            </a:r>
            <a:endParaRPr lang="en-US" sz="1400" dirty="0"/>
          </a:p>
        </p:txBody>
      </p:sp>
      <p:sp>
        <p:nvSpPr>
          <p:cNvPr id="16" name="Bedarf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Sicherheiten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über zusätzliche Grundschulden oder Bürgschaft wegen des Beleihungsauslaufs</a:t>
            </a:r>
            <a:endParaRPr lang="en-US" sz="1400" dirty="0"/>
          </a:p>
        </p:txBody>
      </p:sp>
      <p:sp>
        <p:nvSpPr>
          <p:cNvPr id="19" name="Bedarf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Von der Bank: KfW-Antrag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Antrag für 297/298 und 299 vor Baubeginn über die Hausbank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Hausbank: Finanzierung, Anlaufzeit, KfW 297/298/299 und Sicherheiten klären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Bauantrag, KfW-Antrag vor Baubeginn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1.650 m² BGF × 2.200 €, Staffel (498 m²) in Holzbau 400 €/m² günstiger, Terrasse 77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Anfangstilgung, tilgungsfreie Anlaufzeit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KfW 297/298 2,5 %, KfW 299 3,0 %, Hausbank 4,0 % (Annahmen)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Mehrkosten je Wohnung über 8: 15.000 €, Steuersatz der Gesellschafter 35 % (Annahme)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95.635 €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Wohnungen (655 m²) zu 11,18 €/m² Kaltmiete, 2 Büros (165 m²) zu 9,50 und 10,00 €/m² (10 Jahre fest), Gastro-Pacht 10 % vom Umsatz, mindestens 10 €/m²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KfW-Kredite statt Zuschuss, Antrag vor Baubeginn; Mehrkosten Effizienzhaus 40 und QNG 3 %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Jahren, Sicherheiten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95.635 €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5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26.778 €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28.691 €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 die GbR (10 % vom Umsatz)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76.032 €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 (Betreiberfirma)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6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310.000 €. Für die große Gastro (510 m², 190 Plätze) sind 190.000 € angesetzt. Bei 250.000 € Ausbau steigt die Rate um ca. 228 € im Monat.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7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Lage). Büro 9,50–10,00 €/m², Gastro-Pacht 10 €/m²,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Restaurant, Bar und 12 Wohnungen</dc:title>
  <dc:subject>PptxGenJS Presentation</dc:subject>
  <dc:creator>Bessam Hasso</dc:creator>
  <cp:lastModifiedBy>Bessam Hasso</cp:lastModifiedBy>
  <cp:revision>1</cp:revision>
  <dcterms:created xsi:type="dcterms:W3CDTF">2026-10-20T20:28:54Z</dcterms:created>
  <dcterms:modified xsi:type="dcterms:W3CDTF">2026-10-20T20:28:54Z</dcterms:modified>
</cp:coreProperties>
</file>