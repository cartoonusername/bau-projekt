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Stellplätze</c:v>
                </c:pt>
              </c:strCache>
            </c:strRef>
          </c:tx>
          <c:spPr>
            <a:solidFill>
              <a:srgbClr val="8C3B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F24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3B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4A3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Bedarf (Annahme)</c:v>
                  </c:pt>
                  <c:pt idx="1">
                    <c:v>Platz auf dem Grundstück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</c:v>
                </c:pt>
                <c:pt idx="1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F24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Kosten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49A45"/>
              </a:solidFill>
              <a:effectLst/>
            </c:spPr>
          </c:dPt>
          <c:dPt>
            <c:idx val="1"/>
            <c:bubble3D val="0"/>
            <c:spPr>
              <a:solidFill>
                <a:srgbClr val="8C3B32"/>
              </a:solidFill>
              <a:effectLst/>
            </c:spPr>
          </c:dPt>
          <c:dPt>
            <c:idx val="2"/>
            <c:bubble3D val="0"/>
            <c:spPr>
              <a:solidFill>
                <a:srgbClr val="5B6770"/>
              </a:solidFill>
              <a:effectLst/>
            </c:spPr>
          </c:dPt>
          <c:dPt>
            <c:idx val="3"/>
            <c:bubble3D val="0"/>
            <c:spPr>
              <a:solidFill>
                <a:srgbClr val="2F4A3E"/>
              </a:solidFill>
              <a:effectLst/>
            </c:spPr>
          </c:dPt>
          <c:dPt>
            <c:idx val="4"/>
            <c:bubble3D val="0"/>
            <c:spPr>
              <a:solidFill>
                <a:srgbClr val="A8B0B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Grundstück</c:v>
                </c:pt>
                <c:pt idx="1">
                  <c:v>Bau</c:v>
                </c:pt>
                <c:pt idx="2">
                  <c:v>Baunebenkosten und Standard</c:v>
                </c:pt>
                <c:pt idx="3">
                  <c:v>Gastro-Ausbau</c:v>
                </c:pt>
                <c:pt idx="4">
                  <c:v>Finanzierung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236256</c:v>
                </c:pt>
                <c:pt idx="1">
                  <c:v>3465450</c:v>
                </c:pt>
                <c:pt idx="2">
                  <c:v>639375.525</c:v>
                </c:pt>
                <c:pt idx="3">
                  <c:v>274750</c:v>
                </c:pt>
                <c:pt idx="4">
                  <c:v>279047.74409598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42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42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421"/>
                </a:solidFill>
                <a:latin typeface="+mn-lt"/>
              </a:rPr>
              <a:t>Restschuld in € nach Jahren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Restschuld</c:v>
                </c:pt>
              </c:strCache>
            </c:strRef>
          </c:tx>
          <c:spPr>
            <a:solidFill>
              <a:srgbClr val="8C3B32"/>
            </a:solidFill>
            <a:ln w="38100" cap="flat">
              <a:solidFill>
                <a:srgbClr val="8C3B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8C3B32"/>
              </a:solidFill>
              <a:ln w="9525" cap="flat">
                <a:solidFill>
                  <a:srgbClr val="8C3B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Sheet1!$A$2:$A$36</c:f>
              <c:multiLvlStrCache>
                <c:ptCount val="3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</c:lvl>
              </c:multiLvlStrCache>
            </c:multiLvl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4845203</c:v>
                </c:pt>
                <c:pt idx="1">
                  <c:v>4793904</c:v>
                </c:pt>
                <c:pt idx="2">
                  <c:v>4740927</c:v>
                </c:pt>
                <c:pt idx="3">
                  <c:v>4686215</c:v>
                </c:pt>
                <c:pt idx="4">
                  <c:v>4629709</c:v>
                </c:pt>
                <c:pt idx="5">
                  <c:v>4571347</c:v>
                </c:pt>
                <c:pt idx="6">
                  <c:v>4511066</c:v>
                </c:pt>
                <c:pt idx="7">
                  <c:v>4448799</c:v>
                </c:pt>
                <c:pt idx="8">
                  <c:v>4384479</c:v>
                </c:pt>
                <c:pt idx="9">
                  <c:v>4318034</c:v>
                </c:pt>
                <c:pt idx="10">
                  <c:v>4249392</c:v>
                </c:pt>
                <c:pt idx="11">
                  <c:v>4178477</c:v>
                </c:pt>
                <c:pt idx="12">
                  <c:v>4105210</c:v>
                </c:pt>
                <c:pt idx="13">
                  <c:v>4029510</c:v>
                </c:pt>
                <c:pt idx="14">
                  <c:v>3951292</c:v>
                </c:pt>
                <c:pt idx="15">
                  <c:v>3870469</c:v>
                </c:pt>
                <c:pt idx="16">
                  <c:v>3786951</c:v>
                </c:pt>
                <c:pt idx="17">
                  <c:v>3700644</c:v>
                </c:pt>
                <c:pt idx="18">
                  <c:v>3611451</c:v>
                </c:pt>
                <c:pt idx="19">
                  <c:v>3519271</c:v>
                </c:pt>
                <c:pt idx="20">
                  <c:v>3424000</c:v>
                </c:pt>
                <c:pt idx="21">
                  <c:v>3325529</c:v>
                </c:pt>
                <c:pt idx="22">
                  <c:v>3223748</c:v>
                </c:pt>
                <c:pt idx="23">
                  <c:v>3118540</c:v>
                </c:pt>
                <c:pt idx="24">
                  <c:v>3009784</c:v>
                </c:pt>
                <c:pt idx="25">
                  <c:v>2897356</c:v>
                </c:pt>
                <c:pt idx="26">
                  <c:v>2781127</c:v>
                </c:pt>
                <c:pt idx="27">
                  <c:v>2660964</c:v>
                </c:pt>
                <c:pt idx="28">
                  <c:v>2536726</c:v>
                </c:pt>
                <c:pt idx="29">
                  <c:v>2408271</c:v>
                </c:pt>
                <c:pt idx="30">
                  <c:v>2275450</c:v>
                </c:pt>
                <c:pt idx="31">
                  <c:v>2138108</c:v>
                </c:pt>
                <c:pt idx="32">
                  <c:v>1996084</c:v>
                </c:pt>
                <c:pt idx="33">
                  <c:v>1849213</c:v>
                </c:pt>
                <c:pt idx="34">
                  <c:v>1697323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Titelfolie. Das Bild ist eine Referenzstudie.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Zahlen stammen aus dem Rechenmodell Bankunterlagen_Baufeld3.xlsx und sind Planungsannahmen.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Quelle: Konzeptheft Neue Mitte Werlte (Seiten 13, 16 und 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Festsetzungen aus Bebauungsplan Nr. 123 (Entwurf). Zulässigkeit von Staffelgeschoss und Flachdach muss die Stadt schriftlich bestätigen.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Preise sind Annahmen und müssen durch Angebote der Zimmerei und des Bauunternehmens bestätigt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Schnitt schematisch. Hauptbaukörper bis 6,50 m, Staffelgeschoss bis ca. 9,60 m, Attika ca. 9,90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Schematische Skizzen, nicht maßstäblich genau. Aufteilung wird mit dem Architekten verfeinert.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Referenzstudie, rechts unsere Eckansicht als Skizze.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KI-Visualisierung, Planung folgt mit dem Gastro-Fachplaner. Details im Gastro-Konzept.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KI-Visualisierungen auf Basis der Skizzen, keine Planung.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Bedarf nach groben Annahmen (1,5 pro Wohnung, 1 je 10 m² Gastraum bei ca. 370 m², 1 je 30 m² Büro). Die Stellplatzsatzung der Stadt gilt verbindlich.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Miete 11,18 €/m² (950 € für 85 m², Annahme des Bauherrn). Portale nennen für Neubau in Werlte ca. 10,7–11,0 €/m². Nebenkosten werden umgelegt.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Gastro-Flächen aus Plätzen und Richtwerten abgeleitet, Büromieten und Laufzeiten sind Annahmen (keine Büromarktdaten für Werlte gefunden).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KfW zahlt im Neubau keinen Zuschuss, sondern verbilligt den Zins. Beträge und Zinsen laut Ratgebern Oktober 2026, bei Hausbank und KfW bestätigen. Antrag über die Hausbank vor Baubeginn.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Baukosten 2.200 €/m² (Holz-Staffel 400 € günstiger) und 15 % Baunebenkosten sind Annahmen des Bauherrn und müssen durch Angebote von Bauunternehmen und Zimmerei bestätigt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 ohne Eigenkapital. Die Hausbank finanziert den Rest und die Zinsen der Bau- und Anlaufzeit. Tilgungsfreie Anlaufzeit 12 Monate ist mit der Bank zu verhandeln.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Annuität: Rate = Darlehen × (Zins + 1 % Tilgung) / 12. Zinsbindung 10 Jahre, danach gleicher Zins angenommen. Die Rate gilt nach der tilgungsfreien Anlaufzeit.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Monatlicher Plan über 35 Jahre im Excel-Blatt Tilgungsplan. Hier nach Jahren, Anfangstilgung 1 %, gleicher Zins nach der Zinsbindung angenommen.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Gastro wird getrennt geführt. Die GbR ist Eigentümerin und Vermieterin, die Betreiberfirma pachtet die Gastro. Rechtsform und Haftung mit Steuerberater und Anwalt klären.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Pacht = Maximum aus 10 €/m² und 10 % vom Umsatz (Plan: 95.635 € Umsatz). Rücklagen 10 % von Miete, Büro und Pacht. Das Gastro-Betriebsergebnis gehört der Betreiberfirma.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Frühstück und Mittag am Tag, Restaurant und Bar am Abend. Öffnungstage, Gäste und Bon sind Annahmen ohne Marktdaten für Werlte, Ruhetag Montag.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Betreiberfirma: Marge vor Pacht 30,5 % vom Umsatz (Branchen-Richtwert, nicht aus Werlte). Pacht = Maximum aus 10 €/m² und 10 % vom Umsatz. Bei sehr niedrigem Umsatz drücken Fixkosten stärker.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Vereinfachtes Ertragswertverfahren nach ImmoWertV, getrennt nach Nutzung: Liegenschaftszins Wohnen 4,0 %, Büro 6,0 %, Gastro 6,5 %. Der verbindliche Beleihungswert kommt vom Gutachter der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Prognose: Miete, Pacht und Umsatz +1,5 % pro Jahr, Büros +2 %, Kapitaldienst konstant. Belastungstest vereinfacht, Hausbank rechnet mit eigenen Annahmen.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KfW-Zinsen und Rahmen Stand Ratgeber Oktober 2026 (Annahme). Steuerliche Förderung und NBank-Programm sind nicht in der Basisrechnung, Fristen und Voraussetzungen prüfen Steuerberater und NBank.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Gleiche Anteile, Basis ohne Eigenkapital. Steuerwirkung bei 35 % Grenzsteuersatz (Annahme), Verluste der GbR werden mit anderen Einkünften verrechnet (Gewinnerzielungsabsicht prüfen). Förderoption: degressive AfA und Sonder-AfA im Wohnteil.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Restaurant und Bar, Gastro getrennt, Pacht 10 % vom Umsatz, KfW 297/298/299 berücksichtigt. Eigenkapital so bemessen, dass die GbR die Raten mit Faktor 1,2 deckt. Werte aus einem unabhängigen Nachbau des Modells, Basis stimmt auf den Cent mit Excel überein.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Marktdaten Werlte Q4 2026: Auslastung der Beherbergung 17,4 % (Emsland 36,2 %), Angebotspreis ca. 87 € pro Nacht, 89 % der Unterkünfte unter 100 €. Möblierung 600 €/m² im Kredit, Kostenquote 56 % vom Umsatz.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Miete von 11,18 €/m² ist eine Annahme des Bauherrn, Marktdaten für Werlte liegen darunter.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Zeitplan der Stadt aus dem Konzeptheft, Bauantrag und Förderzusagen sind meine Planung.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Zahlen sind Planungsannahmen, keine Zusagen.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Prozentwerte sind Branchen-Richtwerte aus meiner Einschätzung, nicht aus Quellen für Werlte.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Ausgehend vom Zielbudget des Bauherrn (150.000 € für 150 Plätze) hochgerechnet auf 190 Plätze: 1.000 € je Platz. Büros: Vermieter-Ausbau 150 €/m² zusätzlich. Angebote müssen es bestätigen.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gibt keinen amtlichen Mietspiegel für Werlte, die Portale arbeiten mit kleinen Stichproben.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F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411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ußenansicht, modernes Haus mit Klinker und Glas-Erdgescho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MITTE WERLTE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7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Baufeld 3: Restaurant, Bar und 12 Wohnungen</a:t>
            </a:r>
            <a:endParaRPr lang="en-US" sz="3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Businessplan für die Bank und die Gesellschafter: Vermietungs-GbR, Gastro getrennt, KfW-Förderung, Ertragswert, Abzahlungsplan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029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Bessam Hasso, Werlte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Bebauungsplan Nr. 123, 1. Änderung (Entwurf 25.08.2026)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Oktober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Vorhaben auf einen Blick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Kennzahl Gesamtkosten inkl. Finanzierung in Bau- und Anlaufzeit"/>
          <p:cNvSpPr/>
          <p:nvPr/>
        </p:nvSpPr>
        <p:spPr>
          <a:xfrm>
            <a:off x="548640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4,89 Mio. €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Gesamtkosten inkl. Finanzierung in Bau- und Anlaufzeit</a:t>
            </a:r>
            <a:endParaRPr lang="en-US" sz="1400" dirty="0"/>
          </a:p>
        </p:txBody>
      </p:sp>
      <p:sp>
        <p:nvSpPr>
          <p:cNvPr id="8" name="Kennzahl KfW-Kredite 297, 298, 299 (60 % der Finanzierung)"/>
          <p:cNvSpPr/>
          <p:nvPr/>
        </p:nvSpPr>
        <p:spPr>
          <a:xfrm>
            <a:off x="3367278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50158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2,95 Mio. €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3550158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KfW-Kredite 297, 298, 299 (60 % der Finanzierung)</a:t>
            </a:r>
            <a:endParaRPr lang="en-US" sz="1400" dirty="0"/>
          </a:p>
        </p:txBody>
      </p:sp>
      <p:sp>
        <p:nvSpPr>
          <p:cNvPr id="11" name="Kennzahl Kapitaldienst pro Monat (Mischzins 3,21 %, 1 % Tilgung)"/>
          <p:cNvSpPr/>
          <p:nvPr/>
        </p:nvSpPr>
        <p:spPr>
          <a:xfrm>
            <a:off x="6185916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68796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17.189 €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368796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Kapitaldienst pro Monat (Mischzins 3,21 %, 1 % Tilgung)</a:t>
            </a:r>
            <a:endParaRPr lang="en-US" sz="1400" dirty="0"/>
          </a:p>
        </p:txBody>
      </p:sp>
      <p:sp>
        <p:nvSpPr>
          <p:cNvPr id="14" name="Kennzahl Ergebnis der Vermietungs-GbR pro Monat nach Kapitaldienst"/>
          <p:cNvSpPr/>
          <p:nvPr/>
        </p:nvSpPr>
        <p:spPr>
          <a:xfrm>
            <a:off x="9004554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87434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−553 €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9187434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 der Vermietungs-GbR pro Monat nach Kapitaldienst</a:t>
            </a:r>
            <a:endParaRPr lang="en-US" sz="1400" dirty="0"/>
          </a:p>
        </p:txBody>
      </p:sp>
      <p:graphicFrame>
        <p:nvGraphicFramePr>
          <p:cNvPr id="3" name="Tabelle Eckda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Projekt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Grundstück / Grundfläche / BGF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960 m² / 576 m² (32 × 18 m, GRZ-Maximum) / 1.650 m² (EG, 1. OG, Staffel)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Nutzung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Restaurant und Bar im EG (ca. 510 m²), im 1. OG 2 Büro-Ankermieter (100 und 65 m²) und 5 Wohnungen, im Staffelgeschoss in Holzbau 7 Wohnungen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Struktur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Vermietungs-GbR mit den Gesellschaftern ist Eigentümerin, eine eigene Betreiberfirma führt die Gastro und zahlt 10 % vom Umsatz als Pacht (mindestens 10 €/m²)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Förderung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297/298/299 sparen 38.475 € Zinsen im Jahr gegenüber der Hausbank, steuerliche Abschreibungen als Option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Kapitaldienstdeckung (DSCR) der GbR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0,97 ohne Eigenkapital, mit Gastro-Gewinn des Bauherrn 2,11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Ertragswert / Beleihungsauslauf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3,59 Mio. € / 151 % (Darlehen zu Beleihungswert)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Eigenkapital deckt die GbR die Raten knapp nicht, mit Eigenkapital der Gesellschafter oder Sicherheiten wird das Vorhaben finanzierbar, siehe Folien Ergebnis pro Gesellschafter und Szenarien.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Eckgrundstück an der neuen Mitte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sp>
        <p:nvSpPr>
          <p:cNvPr id="5" name="Fakt 1"/>
          <p:cNvSpPr/>
          <p:nvPr/>
        </p:nvSpPr>
        <p:spPr>
          <a:xfrm>
            <a:off x="548640" y="137160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960 m²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Baufeld 3, östlich des Rathauses, südlich der Planstraße</a:t>
            </a:r>
            <a:endParaRPr lang="en-US" sz="1400" dirty="0"/>
          </a:p>
        </p:txBody>
      </p:sp>
      <p:sp>
        <p:nvSpPr>
          <p:cNvPr id="8" name="Fakt 2"/>
          <p:cNvSpPr/>
          <p:nvPr/>
        </p:nvSpPr>
        <p:spPr>
          <a:xfrm>
            <a:off x="548640" y="265176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743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Mischgebiet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46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Gewerbe im EG erwünscht, Stellplätze auf dem Grundstück</a:t>
            </a:r>
            <a:endParaRPr lang="en-US" sz="1400" dirty="0"/>
          </a:p>
        </p:txBody>
      </p:sp>
      <p:sp>
        <p:nvSpPr>
          <p:cNvPr id="11" name="Fakt 3"/>
          <p:cNvSpPr/>
          <p:nvPr/>
        </p:nvSpPr>
        <p:spPr>
          <a:xfrm>
            <a:off x="548640" y="393192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023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Baureife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26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liegt vor, Baubeginn jederzeit möglich</a:t>
            </a:r>
            <a:endParaRPr lang="en-US" sz="1400" dirty="0"/>
          </a:p>
        </p:txBody>
      </p:sp>
      <p:sp>
        <p:nvSpPr>
          <p:cNvPr id="14" name="Zeitleiste"/>
          <p:cNvSpPr/>
          <p:nvPr/>
        </p:nvSpPr>
        <p:spPr>
          <a:xfrm>
            <a:off x="6263640" y="1508760"/>
            <a:ext cx="0" cy="40233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5" name="Punkt 1"/>
          <p:cNvSpPr/>
          <p:nvPr/>
        </p:nvSpPr>
        <p:spPr>
          <a:xfrm>
            <a:off x="6126480" y="141732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2026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Stellplatz alte Grundschule</a:t>
            </a:r>
            <a:endParaRPr lang="en-US" sz="1400" dirty="0"/>
          </a:p>
        </p:txBody>
      </p:sp>
      <p:sp>
        <p:nvSpPr>
          <p:cNvPr id="18" name="Punkt 2"/>
          <p:cNvSpPr/>
          <p:nvPr/>
        </p:nvSpPr>
        <p:spPr>
          <a:xfrm>
            <a:off x="6126480" y="228600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März 2027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 Planstraße (Erschließung)</a:t>
            </a:r>
            <a:endParaRPr lang="en-US" sz="1400" dirty="0"/>
          </a:p>
        </p:txBody>
      </p:sp>
      <p:sp>
        <p:nvSpPr>
          <p:cNvPr id="21" name="Punkt 3"/>
          <p:cNvSpPr/>
          <p:nvPr/>
        </p:nvSpPr>
        <p:spPr>
          <a:xfrm>
            <a:off x="6126480" y="315468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 2027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 Baubeginn</a:t>
            </a:r>
            <a:endParaRPr lang="en-US" sz="1400" dirty="0"/>
          </a:p>
        </p:txBody>
      </p:sp>
      <p:sp>
        <p:nvSpPr>
          <p:cNvPr id="24" name="Punkt 4"/>
          <p:cNvSpPr/>
          <p:nvPr/>
        </p:nvSpPr>
        <p:spPr>
          <a:xfrm>
            <a:off x="6126480" y="402336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Juli 2027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Kreisverkehr Loruper Straße</a:t>
            </a:r>
            <a:endParaRPr lang="en-US" sz="1400" dirty="0"/>
          </a:p>
        </p:txBody>
      </p:sp>
      <p:sp>
        <p:nvSpPr>
          <p:cNvPr id="27" name="Punkt 5"/>
          <p:cNvSpPr/>
          <p:nvPr/>
        </p:nvSpPr>
        <p:spPr>
          <a:xfrm>
            <a:off x="6126480" y="48920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0" y="4846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2028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58368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Marktplatz, Rathaus fertig und unsere Eröffnung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der Bebauungsplan vorgibt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graphicFrame>
        <p:nvGraphicFramePr>
          <p:cNvPr id="5" name="Tabelle B-Pl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422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Festsetzung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Wert im B-Plan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Unser Entwurf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Grundflächenzahl (GRZ)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 → max. 576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 m² Grundfläche (60 %, GRZ-Maximum)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Vollgeschosse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zwei (II im Kreis)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 und 1. OG, dazu Staffelgeschoss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Traufhöhe / Höhe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6,50 m / 12,00 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Hauptbaukörper 6,50 m, gesamt ca. 9,90 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Dachform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laut Konzeptheft Mischgebiet, Details im Plan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Flachdach mit zurückgesetztem Staffelgeschoss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Baufenster (geschätzt)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 Plan geschätzt ca. 400–460 m², Stadt klären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32 × 18 m = 576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Stellplätze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auf dem Grundstück, ausreichende Anzahl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6–8, Rest siehe Stellplatzfolie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Klärungsbedarf"/>
          <p:cNvSpPr/>
          <p:nvPr/>
        </p:nvSpPr>
        <p:spPr>
          <a:xfrm>
            <a:off x="548640" y="4937760"/>
            <a:ext cx="1109167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029200"/>
            <a:ext cx="10634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Schriftlich klären: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Sind 576 m² Grundfläche zulässig (im Plan ist das Baufenster nach meiner Schätzung kleiner)? Zählt das Staffelgeschoss (ca. 498 m² in Holzbau, 86 % der Fläche darunter) als drittes Vollgeschoss? Ist die Flachdach-Lösung zulässig?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Staffelgeschoss in Holzbau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Bank und Stadt</a:t>
            </a:r>
            <a:endParaRPr lang="en-US" sz="1000" dirty="0"/>
          </a:p>
        </p:txBody>
      </p:sp>
      <p:sp>
        <p:nvSpPr>
          <p:cNvPr id="5" name="Kennzahl Staffelgeschoss in Holzbau, nur 0,8 m rundum zurückgesetzt"/>
          <p:cNvSpPr/>
          <p:nvPr/>
        </p:nvSpPr>
        <p:spPr>
          <a:xfrm>
            <a:off x="548640" y="1371600"/>
            <a:ext cx="351434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3148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498 m²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Staffelgeschoss in Holzbau, nur 0,8 m rundum zurückgesetzt</a:t>
            </a:r>
            <a:endParaRPr lang="en-US" sz="1400" dirty="0"/>
          </a:p>
        </p:txBody>
      </p:sp>
      <p:sp>
        <p:nvSpPr>
          <p:cNvPr id="8" name="Kennzahl Ersparnis gegenüber Massivbau (400 € je m², Annahme)"/>
          <p:cNvSpPr/>
          <p:nvPr/>
        </p:nvSpPr>
        <p:spPr>
          <a:xfrm>
            <a:off x="4337304" y="1371600"/>
            <a:ext cx="351434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0184" y="1508760"/>
            <a:ext cx="3148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199.200 €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4520184" y="2240280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Ersparnis gegenüber Massivbau (400 € je m², Annahme)</a:t>
            </a:r>
            <a:endParaRPr lang="en-US" sz="1400" dirty="0"/>
          </a:p>
        </p:txBody>
      </p:sp>
      <p:sp>
        <p:nvSpPr>
          <p:cNvPr id="11" name="Kennzahl schmale Dachterrasse rundum (ca. 0,8 m), nicht Teil der BGF"/>
          <p:cNvSpPr/>
          <p:nvPr/>
        </p:nvSpPr>
        <p:spPr>
          <a:xfrm>
            <a:off x="8125968" y="1371600"/>
            <a:ext cx="351434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08848" y="1508760"/>
            <a:ext cx="3148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 m²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308848" y="2240280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schmale Dachterrasse rundum (ca. 0,8 m), nicht Teil der BGF</a:t>
            </a:r>
            <a:endParaRPr lang="en-US" sz="1400" dirty="0"/>
          </a:p>
        </p:txBody>
      </p:sp>
      <p:sp>
        <p:nvSpPr>
          <p:cNvPr id="14" name="Warum Holz oben"/>
          <p:cNvSpPr/>
          <p:nvPr/>
        </p:nvSpPr>
        <p:spPr>
          <a:xfrm>
            <a:off x="548640" y="3108960"/>
            <a:ext cx="1109167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3291840"/>
            <a:ext cx="10543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und schneller: weniger Last auf dem Klinker-Geschoss, kürzere Bauzeit.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Partner aus dem Bekanntenkreis (Bauunternehmen unten, Zimmerei oben) können Preise und Termine gemeinsam angeben.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Holzbau hilft beim QNG-Nachweis und beim Effizienzhaus-40-Standard (KfW-Voraussetzung).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Brandschutz (Holzbau bis Gebäudeklasse 4, Aufzug und Treppenhaus massiv) und Schallschutz muss der Architekt nachweisen.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Zwei Geschosse plus Staffelgeschoss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Gelände"/>
          <p:cNvSpPr/>
          <p:nvPr/>
        </p:nvSpPr>
        <p:spPr>
          <a:xfrm>
            <a:off x="1280160" y="5852160"/>
            <a:ext cx="5486400" cy="548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Schnitt EG"/>
          <p:cNvSpPr/>
          <p:nvPr/>
        </p:nvSpPr>
        <p:spPr>
          <a:xfrm>
            <a:off x="1554480" y="4892040"/>
            <a:ext cx="4937760" cy="877824"/>
          </a:xfrm>
          <a:prstGeom prst="rect">
            <a:avLst/>
          </a:prstGeom>
          <a:solidFill>
            <a:srgbClr val="F4D58F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chnitt OG"/>
          <p:cNvSpPr/>
          <p:nvPr/>
        </p:nvSpPr>
        <p:spPr>
          <a:xfrm>
            <a:off x="1554480" y="4069080"/>
            <a:ext cx="4937760" cy="822960"/>
          </a:xfrm>
          <a:prstGeom prst="rect">
            <a:avLst/>
          </a:prstGeom>
          <a:solidFill>
            <a:srgbClr val="9A403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chnitt Staffel"/>
          <p:cNvSpPr/>
          <p:nvPr/>
        </p:nvSpPr>
        <p:spPr>
          <a:xfrm>
            <a:off x="1554480" y="3218688"/>
            <a:ext cx="4498848" cy="850392"/>
          </a:xfrm>
          <a:prstGeom prst="rect">
            <a:avLst/>
          </a:prstGeom>
          <a:solidFill>
            <a:srgbClr val="7A5C3A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chnitt Dach"/>
          <p:cNvSpPr/>
          <p:nvPr/>
        </p:nvSpPr>
        <p:spPr>
          <a:xfrm>
            <a:off x="1371600" y="3136392"/>
            <a:ext cx="4864608" cy="82296"/>
          </a:xfrm>
          <a:prstGeom prst="rect">
            <a:avLst/>
          </a:prstGeom>
          <a:solidFill>
            <a:srgbClr val="D6D1C8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Brüstung"/>
          <p:cNvSpPr/>
          <p:nvPr/>
        </p:nvSpPr>
        <p:spPr>
          <a:xfrm>
            <a:off x="6053328" y="3767328"/>
            <a:ext cx="246888" cy="301752"/>
          </a:xfrm>
          <a:prstGeom prst="rect">
            <a:avLst/>
          </a:prstGeom>
          <a:solidFill>
            <a:srgbClr val="CFE0E8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554480" y="4892040"/>
            <a:ext cx="4937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 große Gastro mit Bar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554480" y="4069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OG · 2 Büros, 5 Wohnungen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554480" y="3218688"/>
            <a:ext cx="44988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Staffelgeschoss · 7 Wohnungen</a:t>
            </a:r>
            <a:endParaRPr lang="en-US" sz="1400" dirty="0"/>
          </a:p>
        </p:txBody>
      </p:sp>
      <p:sp>
        <p:nvSpPr>
          <p:cNvPr id="14" name="Marke ca. 9,90 m"/>
          <p:cNvSpPr/>
          <p:nvPr/>
        </p:nvSpPr>
        <p:spPr>
          <a:xfrm>
            <a:off x="1097280" y="3136392"/>
            <a:ext cx="5669280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48640" y="2953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9,90 m</a:t>
            </a:r>
            <a:endParaRPr lang="en-US" sz="1200" dirty="0"/>
          </a:p>
        </p:txBody>
      </p:sp>
      <p:sp>
        <p:nvSpPr>
          <p:cNvPr id="16" name="Marke 6,50 m"/>
          <p:cNvSpPr/>
          <p:nvPr/>
        </p:nvSpPr>
        <p:spPr>
          <a:xfrm>
            <a:off x="1097280" y="4069080"/>
            <a:ext cx="5669280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548640" y="3886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6,50 m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0" y="5943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5943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</a:t>
            </a:r>
            <a:endParaRPr lang="en-US" sz="1200" dirty="0"/>
          </a:p>
        </p:txBody>
      </p:sp>
      <p:graphicFrame>
        <p:nvGraphicFramePr>
          <p:cNvPr id="7" name="Tabelle Fläch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463040"/>
          <a:ext cx="459943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85039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Ebene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Nutzung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BGF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Restaurant und Bar ca. 510 m² mit Séparée und Küche, dazu Treppenhaus, Aufzug, Eingänge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Büro-Ankermieter (100 und 65 m²), 5 Wohnungen à ca. 64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Wohnungen à ca. 48 m², Holzbau, schmale Terrasse rundum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Wohnungen (655 m²), 2 Büros (165 m²)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7040880" y="4937760"/>
            <a:ext cx="4599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BGF = Bruttogrundfläche, alle Geschossflächen zusammen. Das Staffelgeschoss in Holzbau springt rundum nur ca. 0,8 m zurück, so entsteht eine schmale Terrasse von ca. 77 m² um die Wohnungen.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Skizzen der Geschosse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6195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Erdgeschoss</a:t>
            </a:r>
            <a:endParaRPr lang="en-US" sz="1800" dirty="0"/>
          </a:p>
        </p:txBody>
      </p:sp>
      <p:sp>
        <p:nvSpPr>
          <p:cNvPr id="6" name="Baukörper Erdgeschoss"/>
          <p:cNvSpPr/>
          <p:nvPr/>
        </p:nvSpPr>
        <p:spPr>
          <a:xfrm>
            <a:off x="548640" y="2011680"/>
            <a:ext cx="3619561" cy="221888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7" name="Raum Treppe, Aufzug"/>
          <p:cNvSpPr/>
          <p:nvPr/>
        </p:nvSpPr>
        <p:spPr>
          <a:xfrm>
            <a:off x="548640" y="2103120"/>
            <a:ext cx="452445" cy="2036003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03120"/>
            <a:ext cx="452445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Treppe, Aufzug</a:t>
            </a:r>
            <a:endParaRPr lang="en-US" sz="700" dirty="0"/>
          </a:p>
        </p:txBody>
      </p:sp>
      <p:sp>
        <p:nvSpPr>
          <p:cNvPr id="9" name="Raum Fläche"/>
          <p:cNvSpPr/>
          <p:nvPr/>
        </p:nvSpPr>
        <p:spPr>
          <a:xfrm>
            <a:off x="1001085" y="2103120"/>
            <a:ext cx="3167116" cy="2036003"/>
          </a:xfrm>
          <a:prstGeom prst="rect">
            <a:avLst/>
          </a:prstGeom>
          <a:solidFill>
            <a:srgbClr val="F2D4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Raum Gastraum und Lounge ca. 160 Plätze"/>
          <p:cNvSpPr/>
          <p:nvPr/>
        </p:nvSpPr>
        <p:spPr>
          <a:xfrm>
            <a:off x="1283863" y="2385898"/>
            <a:ext cx="2714671" cy="848335"/>
          </a:xfrm>
          <a:prstGeom prst="rect">
            <a:avLst/>
          </a:prstGeom>
          <a:solidFill>
            <a:srgbClr val="E7BE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83863" y="2385898"/>
            <a:ext cx="2714671" cy="848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Gastraum und Lounge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160 Plätze</a:t>
            </a:r>
            <a:endParaRPr lang="en-US" sz="1100" dirty="0"/>
          </a:p>
        </p:txBody>
      </p:sp>
      <p:sp>
        <p:nvSpPr>
          <p:cNvPr id="12" name="Raum Bar"/>
          <p:cNvSpPr/>
          <p:nvPr/>
        </p:nvSpPr>
        <p:spPr>
          <a:xfrm>
            <a:off x="1905975" y="3369966"/>
            <a:ext cx="1696669" cy="180978"/>
          </a:xfrm>
          <a:prstGeom prst="rect">
            <a:avLst/>
          </a:prstGeom>
          <a:solidFill>
            <a:srgbClr val="3A3F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905975" y="3369966"/>
            <a:ext cx="1696669" cy="180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1100" dirty="0"/>
          </a:p>
        </p:txBody>
      </p:sp>
      <p:sp>
        <p:nvSpPr>
          <p:cNvPr id="14" name="Raum Séparée 30 Plätze"/>
          <p:cNvSpPr/>
          <p:nvPr/>
        </p:nvSpPr>
        <p:spPr>
          <a:xfrm>
            <a:off x="1001085" y="3517011"/>
            <a:ext cx="791779" cy="622112"/>
          </a:xfrm>
          <a:prstGeom prst="rect">
            <a:avLst/>
          </a:prstGeom>
          <a:solidFill>
            <a:srgbClr val="8A6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1085" y="3517011"/>
            <a:ext cx="791779" cy="62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Séparée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Plätze</a:t>
            </a:r>
            <a:endParaRPr lang="en-US" sz="1100" dirty="0"/>
          </a:p>
        </p:txBody>
      </p:sp>
      <p:sp>
        <p:nvSpPr>
          <p:cNvPr id="16" name="Raum Küche"/>
          <p:cNvSpPr/>
          <p:nvPr/>
        </p:nvSpPr>
        <p:spPr>
          <a:xfrm>
            <a:off x="1905975" y="3686678"/>
            <a:ext cx="735223" cy="452445"/>
          </a:xfrm>
          <a:prstGeom prst="rect">
            <a:avLst/>
          </a:prstGeom>
          <a:solidFill>
            <a:srgbClr val="7E8A9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905975" y="3686678"/>
            <a:ext cx="735223" cy="452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Küche</a:t>
            </a:r>
            <a:endParaRPr lang="en-US" sz="1100" dirty="0"/>
          </a:p>
        </p:txBody>
      </p:sp>
      <p:sp>
        <p:nvSpPr>
          <p:cNvPr id="18" name="Raum Lager"/>
          <p:cNvSpPr/>
          <p:nvPr/>
        </p:nvSpPr>
        <p:spPr>
          <a:xfrm>
            <a:off x="2641199" y="3686678"/>
            <a:ext cx="565556" cy="452445"/>
          </a:xfrm>
          <a:prstGeom prst="rect">
            <a:avLst/>
          </a:prstGeom>
          <a:solidFill>
            <a:srgbClr val="A6ADB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641199" y="3686678"/>
            <a:ext cx="565556" cy="452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Lager</a:t>
            </a:r>
            <a:endParaRPr lang="en-US" sz="1100" dirty="0"/>
          </a:p>
        </p:txBody>
      </p:sp>
      <p:sp>
        <p:nvSpPr>
          <p:cNvPr id="20" name="Raum WC"/>
          <p:cNvSpPr/>
          <p:nvPr/>
        </p:nvSpPr>
        <p:spPr>
          <a:xfrm>
            <a:off x="3206755" y="3686678"/>
            <a:ext cx="961446" cy="452445"/>
          </a:xfrm>
          <a:prstGeom prst="rect">
            <a:avLst/>
          </a:prstGeom>
          <a:solidFill>
            <a:srgbClr val="A6ADB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206755" y="3686678"/>
            <a:ext cx="961446" cy="452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284696" y="1371600"/>
            <a:ext cx="36195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Obergeschoss</a:t>
            </a:r>
            <a:endParaRPr lang="en-US" sz="1800" dirty="0"/>
          </a:p>
        </p:txBody>
      </p:sp>
      <p:sp>
        <p:nvSpPr>
          <p:cNvPr id="23" name="Baukörper 1. Obergeschoss"/>
          <p:cNvSpPr/>
          <p:nvPr/>
        </p:nvSpPr>
        <p:spPr>
          <a:xfrm>
            <a:off x="4284696" y="2011680"/>
            <a:ext cx="3619561" cy="221888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24" name="Raum Treppe, Aufzug"/>
          <p:cNvSpPr/>
          <p:nvPr/>
        </p:nvSpPr>
        <p:spPr>
          <a:xfrm>
            <a:off x="4284696" y="2103120"/>
            <a:ext cx="452445" cy="2036003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284696" y="2103120"/>
            <a:ext cx="452445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Treppe, Aufzug</a:t>
            </a:r>
            <a:endParaRPr lang="en-US" sz="700" dirty="0"/>
          </a:p>
        </p:txBody>
      </p:sp>
      <p:sp>
        <p:nvSpPr>
          <p:cNvPr id="26" name="Raum Büro 1 100 m²"/>
          <p:cNvSpPr/>
          <p:nvPr/>
        </p:nvSpPr>
        <p:spPr>
          <a:xfrm>
            <a:off x="4737141" y="2103120"/>
            <a:ext cx="701290" cy="2036003"/>
          </a:xfrm>
          <a:prstGeom prst="rect">
            <a:avLst/>
          </a:prstGeom>
          <a:solidFill>
            <a:srgbClr val="3F627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737141" y="2103120"/>
            <a:ext cx="701290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m²</a:t>
            </a:r>
            <a:endParaRPr lang="en-US" sz="1100" dirty="0"/>
          </a:p>
        </p:txBody>
      </p:sp>
      <p:sp>
        <p:nvSpPr>
          <p:cNvPr id="28" name="Raum Büro 2 65 m²"/>
          <p:cNvSpPr/>
          <p:nvPr/>
        </p:nvSpPr>
        <p:spPr>
          <a:xfrm>
            <a:off x="5438431" y="2103120"/>
            <a:ext cx="463756" cy="2036003"/>
          </a:xfrm>
          <a:prstGeom prst="rect">
            <a:avLst/>
          </a:prstGeom>
          <a:solidFill>
            <a:srgbClr val="5B7D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38431" y="2103120"/>
            <a:ext cx="463756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 2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m²</a:t>
            </a:r>
            <a:endParaRPr lang="en-US" sz="700" dirty="0"/>
          </a:p>
        </p:txBody>
      </p:sp>
      <p:sp>
        <p:nvSpPr>
          <p:cNvPr id="30" name="Raum WE 1 64 m²"/>
          <p:cNvSpPr/>
          <p:nvPr/>
        </p:nvSpPr>
        <p:spPr>
          <a:xfrm>
            <a:off x="5902187" y="2103120"/>
            <a:ext cx="400414" cy="2036003"/>
          </a:xfrm>
          <a:prstGeom prst="rect">
            <a:avLst/>
          </a:prstGeom>
          <a:solidFill>
            <a:srgbClr val="9A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902187" y="2103120"/>
            <a:ext cx="400414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1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m²</a:t>
            </a:r>
            <a:endParaRPr lang="en-US" sz="700" dirty="0"/>
          </a:p>
        </p:txBody>
      </p:sp>
      <p:sp>
        <p:nvSpPr>
          <p:cNvPr id="32" name="Raum WE 2 64 m²"/>
          <p:cNvSpPr/>
          <p:nvPr/>
        </p:nvSpPr>
        <p:spPr>
          <a:xfrm>
            <a:off x="6302601" y="2103120"/>
            <a:ext cx="400414" cy="2036003"/>
          </a:xfrm>
          <a:prstGeom prst="rect">
            <a:avLst/>
          </a:prstGeom>
          <a:solidFill>
            <a:srgbClr val="9A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02601" y="2103120"/>
            <a:ext cx="400414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2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m²</a:t>
            </a:r>
            <a:endParaRPr lang="en-US" sz="700" dirty="0"/>
          </a:p>
        </p:txBody>
      </p:sp>
      <p:sp>
        <p:nvSpPr>
          <p:cNvPr id="34" name="Raum WE 3 64 m²"/>
          <p:cNvSpPr/>
          <p:nvPr/>
        </p:nvSpPr>
        <p:spPr>
          <a:xfrm>
            <a:off x="6703015" y="2103120"/>
            <a:ext cx="400414" cy="2036003"/>
          </a:xfrm>
          <a:prstGeom prst="rect">
            <a:avLst/>
          </a:prstGeom>
          <a:solidFill>
            <a:srgbClr val="9A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703015" y="2103120"/>
            <a:ext cx="400414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3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m²</a:t>
            </a:r>
            <a:endParaRPr lang="en-US" sz="700" dirty="0"/>
          </a:p>
        </p:txBody>
      </p:sp>
      <p:sp>
        <p:nvSpPr>
          <p:cNvPr id="36" name="Raum WE 4 64 m²"/>
          <p:cNvSpPr/>
          <p:nvPr/>
        </p:nvSpPr>
        <p:spPr>
          <a:xfrm>
            <a:off x="7103429" y="2103120"/>
            <a:ext cx="400414" cy="2036003"/>
          </a:xfrm>
          <a:prstGeom prst="rect">
            <a:avLst/>
          </a:prstGeom>
          <a:solidFill>
            <a:srgbClr val="9A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103429" y="2103120"/>
            <a:ext cx="400414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4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m²</a:t>
            </a:r>
            <a:endParaRPr lang="en-US" sz="700" dirty="0"/>
          </a:p>
        </p:txBody>
      </p:sp>
      <p:sp>
        <p:nvSpPr>
          <p:cNvPr id="38" name="Raum WE 5 64 m²"/>
          <p:cNvSpPr/>
          <p:nvPr/>
        </p:nvSpPr>
        <p:spPr>
          <a:xfrm>
            <a:off x="7503843" y="2103120"/>
            <a:ext cx="400414" cy="2036003"/>
          </a:xfrm>
          <a:prstGeom prst="rect">
            <a:avLst/>
          </a:prstGeom>
          <a:solidFill>
            <a:srgbClr val="9A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503843" y="2103120"/>
            <a:ext cx="400414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5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m²</a:t>
            </a:r>
            <a:endParaRPr lang="en-US" sz="700" dirty="0"/>
          </a:p>
        </p:txBody>
      </p:sp>
      <p:sp>
        <p:nvSpPr>
          <p:cNvPr id="40" name="Text 37"/>
          <p:cNvSpPr txBox="1"/>
          <p:nvPr/>
        </p:nvSpPr>
        <p:spPr>
          <a:xfrm>
            <a:off x="8020751" y="1371600"/>
            <a:ext cx="36195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Staffel (Holzbau)</a:t>
            </a:r>
            <a:endParaRPr lang="en-US" sz="1800" dirty="0"/>
          </a:p>
        </p:txBody>
      </p:sp>
      <p:sp>
        <p:nvSpPr>
          <p:cNvPr id="41" name="Baukörper Staffel (Holzbau)"/>
          <p:cNvSpPr/>
          <p:nvPr/>
        </p:nvSpPr>
        <p:spPr>
          <a:xfrm>
            <a:off x="8020751" y="2011680"/>
            <a:ext cx="3619561" cy="221888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42" name="Raum Fläche"/>
          <p:cNvSpPr/>
          <p:nvPr/>
        </p:nvSpPr>
        <p:spPr>
          <a:xfrm>
            <a:off x="8020751" y="2103120"/>
            <a:ext cx="3619561" cy="2036003"/>
          </a:xfrm>
          <a:prstGeom prst="rect">
            <a:avLst/>
          </a:prstGeom>
          <a:solidFill>
            <a:srgbClr val="C9C4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Raum Treppe"/>
          <p:cNvSpPr/>
          <p:nvPr/>
        </p:nvSpPr>
        <p:spPr>
          <a:xfrm>
            <a:off x="8111240" y="2193609"/>
            <a:ext cx="384578" cy="1855025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11240" y="2193609"/>
            <a:ext cx="384578" cy="18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Treppe</a:t>
            </a:r>
            <a:endParaRPr lang="en-US" sz="700" dirty="0"/>
          </a:p>
        </p:txBody>
      </p:sp>
      <p:sp>
        <p:nvSpPr>
          <p:cNvPr id="45" name="Raum WE 6 48 m²"/>
          <p:cNvSpPr/>
          <p:nvPr/>
        </p:nvSpPr>
        <p:spPr>
          <a:xfrm>
            <a:off x="8495818" y="2193609"/>
            <a:ext cx="436286" cy="1855025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495818" y="2193609"/>
            <a:ext cx="436286" cy="18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6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m²</a:t>
            </a:r>
            <a:endParaRPr lang="en-US" sz="700" dirty="0"/>
          </a:p>
        </p:txBody>
      </p:sp>
      <p:sp>
        <p:nvSpPr>
          <p:cNvPr id="47" name="Raum WE 7 48 m²"/>
          <p:cNvSpPr/>
          <p:nvPr/>
        </p:nvSpPr>
        <p:spPr>
          <a:xfrm>
            <a:off x="8932105" y="2193609"/>
            <a:ext cx="436286" cy="1855025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932105" y="2193609"/>
            <a:ext cx="436286" cy="18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7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m²</a:t>
            </a:r>
            <a:endParaRPr lang="en-US" sz="700" dirty="0"/>
          </a:p>
        </p:txBody>
      </p:sp>
      <p:sp>
        <p:nvSpPr>
          <p:cNvPr id="49" name="Raum WE 8 48 m²"/>
          <p:cNvSpPr/>
          <p:nvPr/>
        </p:nvSpPr>
        <p:spPr>
          <a:xfrm>
            <a:off x="9368391" y="2193609"/>
            <a:ext cx="436286" cy="1855025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368391" y="2193609"/>
            <a:ext cx="436286" cy="18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8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m²</a:t>
            </a:r>
            <a:endParaRPr lang="en-US" sz="700" dirty="0"/>
          </a:p>
        </p:txBody>
      </p:sp>
      <p:sp>
        <p:nvSpPr>
          <p:cNvPr id="51" name="Raum WE 9 48 m²"/>
          <p:cNvSpPr/>
          <p:nvPr/>
        </p:nvSpPr>
        <p:spPr>
          <a:xfrm>
            <a:off x="9804678" y="2193609"/>
            <a:ext cx="436286" cy="1855025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804678" y="2193609"/>
            <a:ext cx="436286" cy="18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9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m²</a:t>
            </a:r>
            <a:endParaRPr lang="en-US" sz="700" dirty="0"/>
          </a:p>
        </p:txBody>
      </p:sp>
      <p:sp>
        <p:nvSpPr>
          <p:cNvPr id="53" name="Raum WE 10 48 m²"/>
          <p:cNvSpPr/>
          <p:nvPr/>
        </p:nvSpPr>
        <p:spPr>
          <a:xfrm>
            <a:off x="10240964" y="2193609"/>
            <a:ext cx="436286" cy="1855025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0240964" y="2193609"/>
            <a:ext cx="436286" cy="18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10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m²</a:t>
            </a:r>
            <a:endParaRPr lang="en-US" sz="700" dirty="0"/>
          </a:p>
        </p:txBody>
      </p:sp>
      <p:sp>
        <p:nvSpPr>
          <p:cNvPr id="55" name="Raum WE 11 48 m²"/>
          <p:cNvSpPr/>
          <p:nvPr/>
        </p:nvSpPr>
        <p:spPr>
          <a:xfrm>
            <a:off x="10677250" y="2193609"/>
            <a:ext cx="436286" cy="1855025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677250" y="2193609"/>
            <a:ext cx="436286" cy="18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11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m²</a:t>
            </a:r>
            <a:endParaRPr lang="en-US" sz="700" dirty="0"/>
          </a:p>
        </p:txBody>
      </p:sp>
      <p:sp>
        <p:nvSpPr>
          <p:cNvPr id="57" name="Raum WE 12 48 m²"/>
          <p:cNvSpPr/>
          <p:nvPr/>
        </p:nvSpPr>
        <p:spPr>
          <a:xfrm>
            <a:off x="11113537" y="2193609"/>
            <a:ext cx="436286" cy="1855025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1113537" y="2193609"/>
            <a:ext cx="436286" cy="18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12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m²</a:t>
            </a:r>
            <a:endParaRPr lang="en-US" sz="700" dirty="0"/>
          </a:p>
        </p:txBody>
      </p:sp>
      <p:sp>
        <p:nvSpPr>
          <p:cNvPr id="59" name="Hinweis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777240" y="49834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Grundfläche 32 × 18 m = 576 m² (GRZ-Maximum 0,6). Die Gastro nutzt das ganze EG (ca. 510 m²), Treppenhaus und Aufzug liegen am Westende und erschließen Büros und Wohnungen getrennt von der Gastro. Im 1. OG liegen die zwei Büro-Ankermieter und 5 Wohnungen, die Staffel in Holzbau hat ca. 498 m² BGF mit 7 Wohnungen, die beige Fläche ist die schmale Terrasse (ca. 77 m²).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Modern, Klinker, Milchglas und Staffelgeschoss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pic>
        <p:nvPicPr>
          <p:cNvPr id="5" name="Image 0" descr="Visualisierung Außenansic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94960" cy="3008376"/>
          </a:xfrm>
          <a:prstGeom prst="rect">
            <a:avLst/>
          </a:prstGeom>
        </p:spPr>
      </p:pic>
      <p:pic>
        <p:nvPicPr>
          <p:cNvPr id="6" name="Image 1" descr="Eckansicht als Skizze: Flachdach mit Staffelgeschoss, Balkone, vollverglastes Erdgeschos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280160"/>
            <a:ext cx="5394960" cy="337413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4343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KI-Visualisierung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6217920" y="46817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Skizze (Eckansicht)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Klinker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dunkel, Langformat, passend zum Umfeld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333756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Staffelgeschoss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333756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Holzbau, Terrasse rundum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612648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Balkone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12648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bodentiefe Fenster, Milchglas-Brüstungen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891540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Glas-EG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91540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 mit Bar, Terrasse und Vordach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Große Gastro mit Bar, neu und modern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pic>
        <p:nvPicPr>
          <p:cNvPr id="5" name="Image 0" descr="Visualisierung Gastraum mit B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498080" cy="4215384"/>
          </a:xfrm>
          <a:prstGeom prst="rect">
            <a:avLst/>
          </a:prstGeom>
        </p:spPr>
      </p:pic>
      <p:pic>
        <p:nvPicPr>
          <p:cNvPr id="6" name="Image 1" descr="Visualisierung B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280160"/>
            <a:ext cx="3319272" cy="186537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321040" y="338328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190 Plätze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8321040" y="374904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innen (160 im Gastraum, 30 im Séparée), plus ca. 60 auf der Terrasse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8321040" y="425196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8321040" y="461772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Barhocker, Polsterbänke, Backbar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8321040" y="512064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548640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Olivgrün, Cognac-Samt, Bordeaux, Eiche, schwarzer Stahl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Visualisierungen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pic>
        <p:nvPicPr>
          <p:cNvPr id="5" name="Image 0" descr="Visualisierung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514344" cy="2080260"/>
          </a:xfrm>
          <a:prstGeom prst="rect">
            <a:avLst/>
          </a:prstGeom>
        </p:spPr>
      </p:pic>
      <p:pic>
        <p:nvPicPr>
          <p:cNvPr id="6" name="Image 1" descr="Visualisierung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304" y="1325880"/>
            <a:ext cx="3514344" cy="2080260"/>
          </a:xfrm>
          <a:prstGeom prst="rect">
            <a:avLst/>
          </a:prstGeom>
        </p:spPr>
      </p:pic>
      <p:pic>
        <p:nvPicPr>
          <p:cNvPr id="7" name="Image 2" descr="Visualisierung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968" y="1325880"/>
            <a:ext cx="3514344" cy="2080260"/>
          </a:xfrm>
          <a:prstGeom prst="rect">
            <a:avLst/>
          </a:prstGeom>
        </p:spPr>
      </p:pic>
      <p:pic>
        <p:nvPicPr>
          <p:cNvPr id="8" name="Image 3" descr="Visualisierung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80460"/>
            <a:ext cx="3514344" cy="2080260"/>
          </a:xfrm>
          <a:prstGeom prst="rect">
            <a:avLst/>
          </a:prstGeom>
        </p:spPr>
      </p:pic>
      <p:pic>
        <p:nvPicPr>
          <p:cNvPr id="9" name="Image 4" descr="Visualisierung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7304" y="3680460"/>
            <a:ext cx="3514344" cy="2080260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KI-generierte Visualisierungen zur Orientierung, Gestalt und Materialien. Fassadenteilung, Länge (32 m) und Büro-Fenster im 1. OG weichen im Detail von den Skizzen ab, Maße folgen mit dem Architekten.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Stellplätze sind der Knackpunkt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graphicFrame>
        <p:nvGraphicFramePr>
          <p:cNvPr id="5" name="Diagramm Stellplätze" descr=""/>
          <p:cNvGraphicFramePr/>
          <p:nvPr/>
        </p:nvGraphicFramePr>
        <p:xfrm>
          <a:off x="548640" y="137160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Vorschlag für die Stadt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187452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Bedarf ca. 61 Stellplätze, auf dem Grundstück passen bei 576 m² Gebäude nur ca. 6–8.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Restplätze auf der öffentlichen Parkfläche nebenan (im Plan eingezeichnet) per Vereinbarung nutzen, besonders am Abend.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 Ablöse statt Bau, die Höhe muss die Stadt nennen.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Klären, ob der 10 m breite Grünstreifen teils befestigt werden darf.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Flächen und Mieten: Wohnungen, Büros und Gastro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3" name="Tabelle Mie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371600"/>
                <a:gridCol w="1463040"/>
                <a:gridCol w="1645920"/>
                <a:gridCol w="1828800"/>
                <a:gridCol w="176479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Wohnungen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Geschoss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Miete je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Kaltmiete /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Kaltmiete / 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1–5 im 1, OG (5 × 64.2 m²)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321,0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3.588 €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43.052 €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6–12 im Staffelgeschoss (7 × 47,7 m²)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334,0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3.733 €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44.795 €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Wohnen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655,0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7.321 €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87.847 €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(Pacht: 10 % vom Umsatz)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510,0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18,75 €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9.564 €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114.762 €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Büro 1 (Ankermieter)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11.400 €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Büro 2 (Ankermieter)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Rohertrag gesamt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18.484 €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221.809 €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Gewerbeflächen: große Gastro und zwei Ankermieter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4" name="Tabelle Gastro Bedar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3949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Gastro-Flächenbedarf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Gastraum inkl. Lounge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 Plätze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Séparée (Feiern)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Plätze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 und Theken-Zone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Küche mit Spülküche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Lager, Kühlung, Anlieferung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WC (Herren, Damen, barrierefrei)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Eingang, Garderobe, Flure, Technik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gesamt (ca. 190 Plätze)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Tabelle Ankermiet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71600"/>
          <a:ext cx="54223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1005840"/>
                <a:gridCol w="11247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Ankermieter Büro (1. OG)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Miete /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Miete / 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Büro 1: Versicherungsgesellschaft o. ä.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11.400 €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Büro 2: Makler o. ä.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Büro, 10 Jahre fest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9,70 €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Wirkung"/>
          <p:cNvSpPr/>
          <p:nvPr/>
        </p:nvSpPr>
        <p:spPr>
          <a:xfrm>
            <a:off x="6217920" y="3383280"/>
            <a:ext cx="5422392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446520" y="3520440"/>
            <a:ext cx="49651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Ankermieter: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Büros bringen 19.200 € im Jahr über 10 Jahre (Indexmiete, zusammen 0,21 Mio. €) und decken 8 % des Kapitaldienstes. Zusammen mit den Wohnungen decken die langfristigen Mieten 47 %, den Rest tragen Pacht und Gastro-Gewinn.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 Plätze auf 510 m² (2,7 m² je Platz), Pacht 10 % vom Umsatz.</a:t>
            </a:r>
            <a:endParaRPr lang="en-US" sz="125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9834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EG gehört ganz der Gastro, die Büros liegen im 1. OG mit Aufzug und eigenem Eingang (Versicherung, Makler). Die Grundfläche ist auf das Maximum der GRZ (576 m²) vergrößert.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KfW-Kredite 297, 298 und 299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Bank und Stadt</a:t>
            </a:r>
            <a:endParaRPr lang="en-US" sz="1000" dirty="0"/>
          </a:p>
        </p:txBody>
      </p:sp>
      <p:graphicFrame>
        <p:nvGraphicFramePr>
          <p:cNvPr id="15" name="Tabelle KfW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560320"/>
                <a:gridCol w="2651760"/>
                <a:gridCol w="1554480"/>
                <a:gridCol w="13075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Wofür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Rahmen (mit QNG)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 Projekt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Zins (Annahme)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297 Klimafreundlicher Neubau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selbst genutzte Wohnungen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bis 150.000 € je Wohnung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298 Klimafreundlicher Neubau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vermietete Wohnungen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bis 150.000 € je Wohnung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299 Klimafreundlicher Neubau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und Büros (Nichtwohngebäude)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bis 2.000 € je m² Nettogrundfläche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1.147.500 €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Hausbank (Rest)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Restfinanzierung inkl. Bauzeitzinsen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1.947.379 €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Voraussetzungen"/>
          <p:cNvSpPr/>
          <p:nvPr/>
        </p:nvSpPr>
        <p:spPr>
          <a:xfrm>
            <a:off x="548640" y="3794760"/>
            <a:ext cx="1109167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3931920"/>
            <a:ext cx="105430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Voraussetzungen: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Effizienzhaus 40 (Gastro: Effizienzgebäude 40), QNG-Zertifikat für den vollen Rahmen, Heizung ohne Öl, Gas und Biomasse (z. B. Wärmepumpe), Energieeffizienz-Experte, Antrag vor Baubeginn über die Hausbank.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Gemischte Nutzung: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Wohnteil (297/298) und Gastro (299) werden getrennt gefördert. Kreditrahmen insgesamt 2.947.500 €, das sind 60 % des Darlehens. Die KfW-Zinsen schwanken in den Quellen zwischen 0,6 % und 3,05 %. Mehrkosten für den Standard angenommen mit 3 % (119.558 €).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Gesamtkosten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6" name="Tabelle Kos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066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011680"/>
                <a:gridCol w="1234440"/>
                <a:gridCol w="7772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Rechnung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Grundstück inkl. Steuer und Notar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960 m² × 230 € + ca. 7 %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236.256 €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Bau, Massivbau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1.650 m² × 2.200 €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3.630.000 €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Abschlag Holzbau (Staffelgeschoss)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 m² × 400 € günstiger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−199.200 €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Dachterrasse rundum (schmal)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 m² × 450 €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34.650 €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Baunebenkosten (Architekt, Statik, Gebühren)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 vom 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519.818 €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Mehrkosten Effizienzhaus 40 und QNG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3 % auf Bau inkl. Nebenkosten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119.558 €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Ausbau Gastro, Büros und 4 zusätzliche Wohnungen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190.000 €, Büros 150 €/m², je Wohnung über 8: 15.000 €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274.750 €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Finanzierungskosten (Bauzeit, Bereitstellung, Anlaufzeit)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 Monate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279.048 €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4.894.879 €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Diagramm Kosten" descr=""/>
          <p:cNvGraphicFramePr/>
          <p:nvPr/>
        </p:nvGraphicFramePr>
        <p:xfrm>
          <a:off x="8138160" y="1280160"/>
          <a:ext cx="3657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sind ca. 2.967 € pro m² BGF.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Finanzierungsplan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7" name="Tabelle Herkunf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371600"/>
                <a:gridCol w="91440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Mittelherkunft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297 (selbst genutzte Wohnungen)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298 (vermietete Wohnungen)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299 (Nichtwohngebäude: Gastro und Büros)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1.147.500 €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Hausbank-Darlehen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1.947.379 €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Eigenkapital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Finanzierung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4.894.879 €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Finanzierungskosten"/>
          <p:cNvSpPr/>
          <p:nvPr/>
        </p:nvSpPr>
        <p:spPr>
          <a:xfrm>
            <a:off x="7772400" y="1371600"/>
            <a:ext cx="386791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001000" y="1554480"/>
            <a:ext cx="341071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Mischzins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3,21 % über alle Darlehen.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Bau- und Anlaufzeit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Monate Bau und 12 Monate Anlaufzeit kosten 279.048 € an Zinsen und Bereitstellungsgebühr, finanziert von der Hausbank.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17.189 € pro Monat (Zins plus 1 % Anfangstilgung).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5720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Kosten von 4.894.879 € sind komplett durch Fremdkapital gedeckt.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Zinsberechnung und Rate je Darlehen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8" name="Tabelle Zins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1097280"/>
                <a:gridCol w="1097280"/>
                <a:gridCol w="1828800"/>
                <a:gridCol w="185623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Darlehen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 bei Rate-Start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Tilgung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/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/ 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Wohnen (297 und 298)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Gastro (299)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1.147.500 €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45.900 €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Hausbank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1.947.379 €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8.114 €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97.369 €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4.894.879 €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3,21 %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17.189 €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206.269 €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2976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ersten Jahr nach der Anlaufzeit zahlst du 156.592 € Zinsen und 49.677 € Tilgung.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Zinsänderung nach 10 Jahren: +1 Prozentpunkt auf die Restschuld kostet ca. 3.598 € pro Monat mehr.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Abzahlungsplan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5" name="Diagramm Restschuld" descr=""/>
          <p:cNvGraphicFramePr/>
          <p:nvPr/>
        </p:nvGraphicFramePr>
        <p:xfrm>
          <a:off x="548640" y="1280160"/>
          <a:ext cx="62179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9" name="Tabelle Abzahlungspl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280160"/>
          <a:ext cx="46908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1005840"/>
                <a:gridCol w="112471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Zinsen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Tilgung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Restschuld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156.592 €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49.677 €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4.845.203 €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154.970 €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51.299 €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4.793.904 €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153.292 €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52.977 €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4.740.927 €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149.763 €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56.506 €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4.629.709 €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(Ende Zinsbindung)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139.824 €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66.444 €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4.318.034 €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128.051 €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78.218 €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3.951.292 €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114.089 €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92.180 €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3.519.271 €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97.513 €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108.756 €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3.009.784 €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77.814 €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128.455 €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2.408.271 €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54.379 €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151.890 €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1.697.323 €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10 Jahren Zinsbindung beträgt die Restschuld 4.318.034 €. Die Anschlussfinanzierung muss eingeplant werden.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Struktur: Vermietungs-GbR und Betreiberfirma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Bank und Gesellschafter</a:t>
            </a:r>
            <a:endParaRPr lang="en-US" sz="1000" dirty="0"/>
          </a:p>
        </p:txBody>
      </p:sp>
      <p:sp>
        <p:nvSpPr>
          <p:cNvPr id="5" name="Box Vermietungs-GbR (Gesellschafter)"/>
          <p:cNvSpPr/>
          <p:nvPr/>
        </p:nvSpPr>
        <p:spPr>
          <a:xfrm>
            <a:off x="548640" y="1463040"/>
            <a:ext cx="5120640" cy="3291840"/>
          </a:xfrm>
          <a:prstGeom prst="roundRect">
            <a:avLst>
              <a:gd name="adj" fmla="val 222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Vermietungs-GbR (Gesellschafter)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Eigentümerin des Gebäudes, nimmt die Darlehen auf (KfW und Hausbank)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Einnahmen: Mieten Wohnen (12 Wohnungen), Büros (2 Ankermieter), Pacht der Gastro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 nach Kapitaldienst: −553 € pro Monat ohne Eigenkapital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Gesellschafter teilen Ergebnis, Steuer und Haftung</a:t>
            </a:r>
            <a:endParaRPr lang="en-US" sz="1300" dirty="0"/>
          </a:p>
        </p:txBody>
      </p:sp>
      <p:sp>
        <p:nvSpPr>
          <p:cNvPr id="8" name="Box Betreiberfirma Gastro (Bauherr)"/>
          <p:cNvSpPr/>
          <p:nvPr/>
        </p:nvSpPr>
        <p:spPr>
          <a:xfrm>
            <a:off x="6519672" y="1463040"/>
            <a:ext cx="5120640" cy="3291840"/>
          </a:xfrm>
          <a:prstGeom prst="roundRect">
            <a:avLst>
              <a:gd name="adj" fmla="val 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02552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Betreiberfirma Gastro (Bauherr)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702552" y="214884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Pachtet Restaurant und Bar (510 m²) von der GbR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Pacht: 10 % vom Umsatz, mindestens 10 €/m², bei Plan 9.564 € pro Monat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Betriebsergebnis nach Pacht: +19.605 € pro Monat, ohne Lohn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 gehört nicht der GbR</a:t>
            </a:r>
            <a:endParaRPr lang="en-US" sz="1300" dirty="0"/>
          </a:p>
        </p:txBody>
      </p:sp>
      <p:sp>
        <p:nvSpPr>
          <p:cNvPr id="11" name="Pfeil Pacht"/>
          <p:cNvSpPr/>
          <p:nvPr/>
        </p:nvSpPr>
        <p:spPr>
          <a:xfrm>
            <a:off x="5760720" y="3108960"/>
            <a:ext cx="667512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5760720" y="2743200"/>
            <a:ext cx="667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Pacht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074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die Bank ist die Pacht der Gastro Teil des Ertrags der GbR. Die Kapitaldienstdeckung wird deshalb ohne den Gastro-Gewinn des Bauherrn gerechnet.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Ertrag und Kapitaldienst der GbR pro Monat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21" name="Tabelle Cashflow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9494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554480"/>
                <a:gridCol w="155448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Kaltmiete Wohnen (12 Wohnungen)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+7.321 €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+87.847 €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Büromieten (2 Ankermieter, 10 Jahre fest)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+1.600 €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Pacht Gastro (10 % vom Umsatz)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+9.564 €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+114.762 €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Rücklagen (10 % von Miete, Büro, Pacht)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−1.848 €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−22.181 €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Nettoertrag Immobilie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+16.636 €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+199.628 €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Kapitaldienst (Zinsen und Tilgung)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−17.189 €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−206.269 €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der GbR nach Kapitaldienst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−553 €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−6.641 €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Betriebsergebnis Gastro (Betreiberfirma)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+19.605 €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+235.262 €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 Bauherr (zur Information)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+19.052 €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+228.621 €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6" name="Kennzahlen"/>
          <p:cNvSpPr/>
          <p:nvPr/>
        </p:nvSpPr>
        <p:spPr>
          <a:xfrm>
            <a:off x="7863840" y="1371600"/>
            <a:ext cx="3776472" cy="4114800"/>
          </a:xfrm>
          <a:prstGeom prst="roundRect">
            <a:avLst>
              <a:gd name="adj" fmla="val 19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092440" y="1554480"/>
            <a:ext cx="331927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Kapitaldienstdeckung (DSCR)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GbR 0,97, nur Wohnen und Büro 0,47, mit Gastro-Gewinn des Bauherrn 2,11. Banken verlangen meist mindestens 1,2.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Zinsdeckung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1,27.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Anfangsrendite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4,08 % auf die Gesamtkosten (Nettoertrag Immobilie).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GbR deckt die Raten ohne Eigenkapital zu 97 %. Ab ca. 101.800 € Gastro-Umsatz (Umsatzpacht) wäre sie bei 100 %.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Gastro-Umsatz: Hauptfokus Abend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22" name="Tabelle Tagestei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640080"/>
                <a:gridCol w="914400"/>
                <a:gridCol w="731520"/>
                <a:gridCol w="1097280"/>
                <a:gridCol w="9144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Tagesteil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Gäste/Tag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Ø Bon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Umsatz/Monat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Frühstück werktags (Di–Fr 08:00–11:00)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4.675 €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Brunch am Wochenende (Sa, So 09:00–14:00)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Mittagstisch (Di–Fr 11:30–14:30)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Abendessen Restaurant (Di–So 17:30–22:00)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45.760 €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 Di–Do (ab 21:00)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4.680 €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 Fr, Sa (bis 01:00) (Cocktails, Wein, Bier, Musik)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13.860 €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Feiern, Live-Abende, Séparée (nach Absprache, 4 pro Monat)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Gastro-Umsatz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95.635 €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Einordnung"/>
          <p:cNvSpPr/>
          <p:nvPr/>
        </p:nvSpPr>
        <p:spPr>
          <a:xfrm>
            <a:off x="8686800" y="1371600"/>
            <a:ext cx="2953512" cy="4297680"/>
          </a:xfrm>
          <a:prstGeom prst="roundRect">
            <a:avLst>
              <a:gd name="adj" fmla="val 24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869680" y="1554480"/>
            <a:ext cx="258775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Abend im Fokus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75 % des Umsatzes entstehen am Abend (Restaurant, Bar, Feiern), 25 % am Tag.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Plausibel?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6.000 € je Platz und Jahr, Branchen-Median Österreich ca. 12.000 €. Das Haus trägt sich ab 101.800 € Umsatz.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viel Umsatz braucht die Gastro?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23" name="Tabelle Gastro Umsat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Umsatz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Gewinn vor Pacht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Gewinn nach Pacht (Betreiber)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+10.150 €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19.825 €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+13.325 €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24.400 €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+16.400 €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95.635 €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29.169 €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+19.605 €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33.550 €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+22.550 €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6" name="Break-even"/>
          <p:cNvSpPr/>
          <p:nvPr/>
        </p:nvSpPr>
        <p:spPr>
          <a:xfrm>
            <a:off x="7863840" y="1371600"/>
            <a:ext cx="3776472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092440" y="1554480"/>
            <a:ext cx="331927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Betrieb allein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ca. 16.700 € Umsatz deckt die Betreiberfirma die Mindestpacht.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Vermietungs-GbR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ca. 101.800 € Umsatz (Umsatzpacht) deckt die GbR alle Raten.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937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Umsatz von 95.635 € entspricht ca. 6.000 € je Sitzplatz und Jahr (190 Plätze), der Branchen-Median in Österreich liegt bei ca. 12.000 €.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Ertragswert und Beleihung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24" name="Tabelle Ertragswe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Ertragswert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Rohertrag pro Jahr (Mieten und Pacht)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221.809 €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Bewirtschaftungskosten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−28.330 €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Reinertrag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193.479 €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Bodenwert (960 m² × 230 €)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220.800 €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Gebäudeertragswert (mittl. Vervielfältiger 18,5)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3.370.838 €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Ertragswert gesamt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3.591.638 €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davon Wohnen / Büro / Gastro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1,77 / 0,27 / 1,55 Mio.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7" name="Tabelle Beleihu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71600"/>
          <a:ext cx="523951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6733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Beleihung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Sachwert (Boden + Herstellungskosten)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4.325.626 €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Beleihungswert (niedrigerer Wert, −10 %)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3.232.474 €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Gesamtkosten und Darlehen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4.894.879 €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Beleihungsauslauf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Ertragswert minus Gesamtkosten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−1.303.241 €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 über 80 % Auslauf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2.308.900 €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0749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Einordnung: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Mieten und die Pacht tragen einen Wert von 3,59 Mio. €, die Kosten liegen bei 4,89 Mio. €. Eine Bank beleiht üblicherweise nur bis ca. 80 % des Beleihungswerts. Für die Finanzierung braucht es deshalb zusätzliche Sicherheiten (Grundschulden auf weitere Immobilien, Bürgschaft) oder Eigenkapital in Höhe von ca. 2,31 Mio. €.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Prognose und Belastungstest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25" name="Tabelle Prognos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545336"/>
                <a:gridCol w="1545336"/>
                <a:gridCol w="1545336"/>
                <a:gridCol w="1545336"/>
                <a:gridCol w="1527048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Nettoertrag Immobilie (GbR)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199.628 €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205.838 €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212.242 €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218.847 €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229.146 €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Kapitaldienst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−206.269 €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−206.269 €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−206.269 €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−206.269 €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−206.269 €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der GbR nach Kapitaldienst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−553 €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+1.048 €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+1.906 €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DSCR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Restschuld Jahresende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4.845.203 €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4.740.927 €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4.629.709 €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4.511.066 €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4.318.034 €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9" name="Tabelle Belastungste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91672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1737360"/>
                <a:gridCol w="1371600"/>
                <a:gridCol w="1947672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Belastungstest (pro Monat)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DSCR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zum Plan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−553 €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Anschlusszins nach 10 Jahren +1 Prozentpunkt (auf Restschuld)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−4.152 €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−3.598 €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Mieten Wohnen −10 %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−1.212 €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−659 €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Gastro-Umsatz −20 % (Umsatzpacht sinkt)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−2.275 €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−1.721 €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Gastro-Umsatz −40 % (Umsatzpacht sinkt, Mindestpacht)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−3.996 €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−3.443 €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Baukosten +10 % (Kredit steigt entsprechend)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−1.953 €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−1.399 €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Größerer Büro-Ankermieter zieht aus (Leerstand)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−1.408 €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−855 €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Beide Büros leer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−1.993 €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−1.440 €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fällt ganz aus (keine Pacht)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−9.161 €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−8.607 €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Förderungen: KfW-Kredite und steuerliche Abschreibung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Bank und Gesellschafter</a:t>
            </a:r>
            <a:endParaRPr lang="en-US" sz="1000" dirty="0"/>
          </a:p>
        </p:txBody>
      </p:sp>
      <p:graphicFrame>
        <p:nvGraphicFramePr>
          <p:cNvPr id="26" name="Tabelle Förderung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029200"/>
                <a:gridCol w="295351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Förderung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Inhalt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Wirkung im Projekt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298 (vermietete Wohnungen)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bis 150.000 € je Wohnung, Zins 2,5 % statt 4 %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1.800.000 €, spart 27.000 € im 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299 (Gastro und Büros)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bis 2.000 € je m² Nettogrundfläche, Zins 3,0 %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1.147.500 €, spart 11.475 € im 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Zinsvorteil KfW gesamt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gegenüber reiner Hausbank-Finanzierung zu 4,0 %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38.475 € pro 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Degressive AfA (Option)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 vom Restwert im Wohnteil statt 3 % linear, § 7 Abs. 5a EStG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Abschreibung 282.367 € statt 131.387 €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Sonder-AfA § 7b (Option)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zusätzlich 5 % in 4 Jahren, Baukostengrenze 5.200 €/m², 10 Jahre Vermietung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 Wohnteil, in der Zahl oben enthalten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NBank Mietwohnraumförderung (Option)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zinsloses Darlehen, Zuschuss 2–3 € je m² und Monat, dafür Mietbindung und Mietobergrenze ca. 6,50–6,80 €/m²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nicht gerechnet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349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KfW-Kredite stecken in der Basisrechnung: 2.947.500 € (60 % der Finanzierung) bringen den Mischzins auf 3,21 %. Die NBank-Förderung passt nur, wenn die Wohnungen mietgebunden vermietet werden, das senkt die Miete deutlich unter die angesetzten 11,18 €/m².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Ergebnis pro Gesellschafter der GbR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Gesellschafter und Bank</a:t>
            </a:r>
            <a:endParaRPr lang="en-US" sz="1000" dirty="0"/>
          </a:p>
        </p:txBody>
      </p:sp>
      <p:graphicFrame>
        <p:nvGraphicFramePr>
          <p:cNvPr id="27" name="Tabelle Gesellschaft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4142232"/>
                <a:gridCol w="1737360"/>
                <a:gridCol w="173736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Person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Person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Personen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Personen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Personen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pro Monat vor Steuern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−553 €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−277 €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−138 €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pro Jahr vor Steuern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−6.641 €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−3.320 €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−1.660 €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−830 €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Steuerliches Ergebnis pro Jahr (Verlust negativ)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−88.351 €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−44.176 €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−22.088 €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−11.044 €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Steuerwirkung pro 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+30.923 €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+15.462 €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+7.731 €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+3.865 €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pro Monat nach Steuer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+2.024 €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+1.012 €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 Förderoption: Cash pro Monat nach Steuer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+6.427 €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+3.214 €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+1.607 €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Tilgung pro Jahr (Vermögensaufbau)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49.677 €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24.838 €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12.419 €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6.210 €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029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Eigenkapital liegt der Cash knapp unter null, die Steuerwirkung des Verlusts (Zinsen und Abschreibung) macht das Ergebnis nach Steuer positiv. Die Tilgung von 49.677 € im Jahr baut zusätzlich Vermögen auf. Die GbR haftet persönlich und gesamtschuldnerisch.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Szenarien: 12 gegen 8 Wohnungen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Gesellschafter und Bank</a:t>
            </a:r>
            <a:endParaRPr lang="en-US" sz="1000" dirty="0"/>
          </a:p>
        </p:txBody>
      </p:sp>
      <p:graphicFrame>
        <p:nvGraphicFramePr>
          <p:cNvPr id="28" name="Tabelle Szenari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776472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Kennzahl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WE ohne EK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WE ohne EK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WE mit EK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WE mit EK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4.894.879 €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4.845.506 €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4.844.812 €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4.787.267 €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KfW-Kredite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2.947.500 €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2.347.500 €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2.947.500 €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2.347.500 €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Hausbank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1.947.379 €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2.498.006 €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1.148.312 €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1.568.767 €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Eigenkapital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749.000 €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871.000 €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Kapitaldienst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17.189 €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17.733 €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13.860 €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13.862 €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der GbR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−553 €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−1.098 €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+2.776 €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+2.774 €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Kapitaldienstdeckung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Person nach Steuer, 8 Pers.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Eigenkapital pro Person bei 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93.625 €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108.875 €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Betriebsergebnis Gastro (Betreiber)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+19.605 €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+19.605 €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+19.605 €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+19.605 €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7607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12 Wohnungen brauchen die Gesellschafter 749.000 € Eigenkapital für Deckung 1,2, mit 8 Wohnungen 871.000 €. Der Grund ist der höhere KfW-Rahmen (150.000 € je Wohnung zu 2,5 %), er wiegt die Mehrkosten von 15.000 € je zusätzlicher Wohnung auf.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Prüfung: ein 60-m²-Apartment als Airbnb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29" name="Tabelle Airbn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011680"/>
                <a:gridCol w="2011680"/>
                <a:gridCol w="19476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Apartment 60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Werlte amtlich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Emsland-Schnitt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Optimistisch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Auslastung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17,4 %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36,2 %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 pro Nacht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Netto Airbnb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Netto langfristige Miete pro Monat (60 m² × 11,18 €)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Möblierung 36.000 € (Kapitaldienst pro Monat)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Mehrertrag gegenüber langfristiger Miete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−544 €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</a:tbl>
          </a:graphicData>
        </a:graphic>
      </p:graphicFrame>
      <p:sp>
        <p:nvSpPr>
          <p:cNvPr id="6" name="Ergebnis"/>
          <p:cNvSpPr/>
          <p:nvPr/>
        </p:nvSpPr>
        <p:spPr>
          <a:xfrm>
            <a:off x="548640" y="4526280"/>
            <a:ext cx="1109167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461772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Airbnb lohnt sich in Werlte nicht. Erst ab ca. 63 % Auslastung wäre es so gut wie die langfristige Miete, in Werlte liegt sie amtlich bei 17 %. Die Wohnung bleibt langfristig vermietet.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Risiken und was wir dagegen tun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sp>
        <p:nvSpPr>
          <p:cNvPr id="5" name="Risiko 1"/>
          <p:cNvSpPr/>
          <p:nvPr/>
        </p:nvSpPr>
        <p:spPr>
          <a:xfrm>
            <a:off x="548640" y="1371600"/>
            <a:ext cx="536295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Sicherheiten und Beleihung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11680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Beleihungsauslauf 151 % und Deckung 0,97 bei 100 % Fremdfinanzierung. Gegenmaßnahme: Eigenkapital der Gesellschafter (siehe Szenarien), Grundschulden auf weitere Immobilien, Bürgschaft, Pachtvertrag mit Bonitätsnachweis.</a:t>
            </a:r>
            <a:endParaRPr lang="en-US" sz="1400" dirty="0"/>
          </a:p>
        </p:txBody>
      </p:sp>
      <p:sp>
        <p:nvSpPr>
          <p:cNvPr id="8" name="Risiko 2"/>
          <p:cNvSpPr/>
          <p:nvPr/>
        </p:nvSpPr>
        <p:spPr>
          <a:xfrm>
            <a:off x="6277356" y="1371600"/>
            <a:ext cx="536295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05956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Gastro-Umsatz und Pacht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505956" y="2011680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GbR deckt die Raten erst ab ca. 102.000 € Gastro-Umsatz (Umsatzpacht), bei Ausfall der Gastro fehlen ca. 8.607 € pro Monat zusätzlich, bei Auszug des großen Büro-Ankermieters ca. 855 €. Gegenmaßnahme: Mindestpacht, Bürgschaft des Betreibers, erfahrener Betreiber, Mietverträge über 10 Jahre.</a:t>
            </a:r>
            <a:endParaRPr lang="en-US" sz="1400" dirty="0"/>
          </a:p>
        </p:txBody>
      </p:sp>
      <p:sp>
        <p:nvSpPr>
          <p:cNvPr id="11" name="Risiko 3"/>
          <p:cNvSpPr/>
          <p:nvPr/>
        </p:nvSpPr>
        <p:spPr>
          <a:xfrm>
            <a:off x="548640" y="3703320"/>
            <a:ext cx="536295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8404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Zins und Förderung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343400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KfW-Zinsen und Rahmen sind Stand Okt. 2026 unsicher, steuerliche Förderungen hängen an Fristen, nach 10 Jahren ist der Folgezins offen. Gegenmaßnahme: Zusage vor Baubeginn, Forward-Darlehen, Tilgungsaussetzung.</a:t>
            </a:r>
            <a:endParaRPr lang="en-US" sz="1400" dirty="0"/>
          </a:p>
        </p:txBody>
      </p:sp>
      <p:sp>
        <p:nvSpPr>
          <p:cNvPr id="14" name="Risiko 4"/>
          <p:cNvSpPr/>
          <p:nvPr/>
        </p:nvSpPr>
        <p:spPr>
          <a:xfrm>
            <a:off x="6277356" y="3703320"/>
            <a:ext cx="536295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05956" y="38404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Genehmigung und Standard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505956" y="4343400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576 m² Grundfläche, Staffelgeschoss und Flachdach müssen bestätigt werden, KfW verlangt Effizienzhaus 40 mit QNG. Gegenmaßnahme: Vorabstimmung, Energieeffizienz-Experte früh einbinden.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ich von Stadt und Bank brauche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4" name="Bedarf 1"/>
          <p:cNvSpPr/>
          <p:nvPr/>
        </p:nvSpPr>
        <p:spPr>
          <a:xfrm>
            <a:off x="548640" y="137160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der Stadt: Genehmigung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576 m² Grundfläche, Staffelgeschoss, Flachdach und Höhe schriftlich bestätigen</a:t>
            </a:r>
            <a:endParaRPr lang="en-US" sz="1400" dirty="0"/>
          </a:p>
        </p:txBody>
      </p:sp>
      <p:sp>
        <p:nvSpPr>
          <p:cNvPr id="7" name="Bedarf 2"/>
          <p:cNvSpPr/>
          <p:nvPr/>
        </p:nvSpPr>
        <p:spPr>
          <a:xfrm>
            <a:off x="6277356" y="137160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05956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der Stadt: Stellplätze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05956" y="196596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Mitnutzung der öffentlichen Parkfläche oder faire Ablöse</a:t>
            </a:r>
            <a:endParaRPr lang="en-US" sz="1400" dirty="0"/>
          </a:p>
        </p:txBody>
      </p:sp>
      <p:sp>
        <p:nvSpPr>
          <p:cNvPr id="10" name="Bedarf 3"/>
          <p:cNvSpPr/>
          <p:nvPr/>
        </p:nvSpPr>
        <p:spPr>
          <a:xfrm>
            <a:off x="548640" y="288036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01752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der Stadt: Grundstück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7472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Kaufpreis 230 €/m² mit Baureife, Reservierung bis zur Finanzierungszusage</a:t>
            </a:r>
            <a:endParaRPr lang="en-US" sz="1400" dirty="0"/>
          </a:p>
        </p:txBody>
      </p:sp>
      <p:sp>
        <p:nvSpPr>
          <p:cNvPr id="13" name="Bedarf 4"/>
          <p:cNvSpPr/>
          <p:nvPr/>
        </p:nvSpPr>
        <p:spPr>
          <a:xfrm>
            <a:off x="6277356" y="288036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05956" y="301752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der Bank: Darlehen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05956" y="347472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Finanzierung von 4,89 Mio. € mit KfW 297/298/299, tilgungsfreier Anlaufzeit von 12 Monaten und Eigenkapital oder Sicherheiten der GbR</a:t>
            </a:r>
            <a:endParaRPr lang="en-US" sz="1400" dirty="0"/>
          </a:p>
        </p:txBody>
      </p:sp>
      <p:sp>
        <p:nvSpPr>
          <p:cNvPr id="16" name="Bedarf 5"/>
          <p:cNvSpPr/>
          <p:nvPr/>
        </p:nvSpPr>
        <p:spPr>
          <a:xfrm>
            <a:off x="548640" y="438912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5262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der Bank: Sicherheiten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98348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Gespräch über zusätzliche Grundschulden oder Bürgschaft wegen des Beleihungsauslaufs</a:t>
            </a:r>
            <a:endParaRPr lang="en-US" sz="1400" dirty="0"/>
          </a:p>
        </p:txBody>
      </p:sp>
      <p:sp>
        <p:nvSpPr>
          <p:cNvPr id="19" name="Bedarf 6"/>
          <p:cNvSpPr/>
          <p:nvPr/>
        </p:nvSpPr>
        <p:spPr>
          <a:xfrm>
            <a:off x="6277356" y="438912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05956" y="45262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der Bank: KfW-Antrag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505956" y="498348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Antrag für 297/298 und 299 vor Baubeginn über die Hausbank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Nächste Schritte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Schritt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389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 2026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200400" y="13898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Gespräch mit der Stadt: Preis, Förderung, Stellplätze</a:t>
            </a:r>
            <a:endParaRPr lang="en-US" sz="1600" dirty="0"/>
          </a:p>
        </p:txBody>
      </p:sp>
      <p:sp>
        <p:nvSpPr>
          <p:cNvPr id="9" name="Schritt 2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167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2026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200400" y="2167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Architekt, Baufenster, Höhen und Geschosse schriftlich klären</a:t>
            </a:r>
            <a:endParaRPr lang="en-US" sz="1600" dirty="0"/>
          </a:p>
        </p:txBody>
      </p:sp>
      <p:sp>
        <p:nvSpPr>
          <p:cNvPr id="13" name="Schritt 3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 2026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200400" y="2944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Hausbank: Finanzierung, Anlaufzeit, KfW 297/298/299 und Sicherheiten klären</a:t>
            </a:r>
            <a:endParaRPr lang="en-US" sz="1600" dirty="0"/>
          </a:p>
        </p:txBody>
      </p:sp>
      <p:sp>
        <p:nvSpPr>
          <p:cNvPr id="17" name="Schritt 4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721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200400" y="3721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Städtebaulicher Vertrag, Bauantrag, KfW-Antrag vor Baubeginn</a:t>
            </a:r>
            <a:endParaRPr lang="en-US" sz="1600" dirty="0"/>
          </a:p>
        </p:txBody>
      </p:sp>
      <p:sp>
        <p:nvSpPr>
          <p:cNvPr id="21" name="Schritt 5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4498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 2027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3200400" y="4498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Baubeginn, 15 Monate Bauzeit</a:t>
            </a:r>
            <a:endParaRPr lang="en-US" sz="1600" dirty="0"/>
          </a:p>
        </p:txBody>
      </p:sp>
      <p:sp>
        <p:nvSpPr>
          <p:cNvPr id="25" name="Schritt 6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325880" y="5276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2028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3200400" y="52760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Eröffnung zusammen mit der neuen Mitte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1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Anhang</a:t>
            </a:r>
            <a:endParaRPr lang="en-US" sz="4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49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Annahmen, Gastro-Kosten, Gastro-Ausbau, Mietdaten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Rechenannahmen und offene Punkte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Grundstück 960 m² × 230 € plus ca. 7 % (5 % Grunderwerbsteuer, ca. 2 % Notar)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 1.650 m² BGF × 2.200 €, Staffel (498 m²) in Holzbau 400 €/m² günstiger, Terrasse 77 m² × 450 €, Baunebenkosten 15 %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Fremdfinanzierung, 1 % Anfangstilgung, tilgungsfreie Anlaufzeit 12 Monate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Bauzeit 15 Monate, Bereitstellungszins 3 % p. a. ab Monat 7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Zins KfW 297/298 2,5 %, KfW 299 3,0 %, Hausbank 4,0 % (Annahmen)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Mehrkosten je Wohnung über 8: 15.000 €, Steuersatz der Gesellschafter 35 % (Annahme)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323076" y="137160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Gastro-Umsatz 95.635 € netto, Marge vor Pacht 30,5 %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Wohnungen (655 m²) zu 11,18 €/m² Kaltmiete, 2 Büros (165 m²) zu 9,50 und 10,00 €/m² (10 Jahre fest), Gastro-Pacht 10 % vom Umsatz, mindestens 10 €/m²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Lohn des Bauherrn wird vorerst nicht gerechnet, Rücklagen 10 % der Miete und Pacht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KfW-Kredite statt Zuschuss, Antrag vor Baubeginn; Mehrkosten Effizienzhaus 40 und QNG 3 %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Nebenkosten (Grundsteuer, Versicherung, Betriebskosten) werden auf die Mieter umgelegt, die Hausverwaltung deckt die Rücklage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Offen: Baufenster, Staffelgeschoss, Höhen, Stellplatzsatzung, Zins nach 10 Jahren, Sicherheiten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Gastro: Kosten pro Monat bei 95.635 € Umsatz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35" name="Tabelle Gastro-Kos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2286000"/>
                <a:gridCol w="2404872"/>
              </a:tblGrid>
              <a:tr h="3703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Richtwert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Wareneinsatz (Einkauf Essen und Getränke)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28 %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26.778 €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 (ohne Chef-Lohn)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30 %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28.691 €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Pacht an die GbR (10 % vom Umsatz)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9.564 €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Energie, Wasser, Müll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3 %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Reinigung, Wäsche, Verbrauchsmaterial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2 %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1.913 €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Werbung und Marketing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1,5 %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Reparaturen, Wartung, Kassensystem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1,5 %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Sonstiges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1,5 %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Versicherungen, GEMA, Gebühren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Steuerberater, Buchhaltung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76.032 €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Gewinn nach Pacht, vor Lohn (Betreiberfirma)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19.603 €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Gastro-Ausbau nach Posten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36" name="Tabelle Gastro-Ausb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3152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Küche (Herd, Kühlräume, Edelstahl, Spülküche)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Lüftung und Abluft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Theke und Bar (Zapfanlage, Kühlung, Backbar)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Möbel (ca. 190 Plätze, Lounge, Séparée)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Beleuchtung und Deko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Wand, Boden, Decke, Akustik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Gäste-WC Ausstattung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Kasse, Technik, Musik, WLAN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Terrasse (Holzdeck, Möbel, Heizstrahler, 60 Plätze)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Planung und Genehmigung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Eröffnung, Marketing, Warenerstbestückung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Puffer 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(im Modell: 190.000 €)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190.050 €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Hinweis Ausbau"/>
          <p:cNvSpPr/>
          <p:nvPr/>
        </p:nvSpPr>
        <p:spPr>
          <a:xfrm>
            <a:off x="8229600" y="1234440"/>
            <a:ext cx="341071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458200" y="1417320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Baunebenkosten von 15 % fallen auf Möbel und Geräte nicht an, die Planung steckt als eigener Posten drin. Eine erste Schätzung für einen aufwendigeren Ausbau lag bei ca. 310.000 €. Für die große Gastro (510 m², 190 Plätze) sind 190.000 € angesetzt. Bei 250.000 € Ausbau steigt die Rate um ca. 228 € im Monat.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Mietdaten für Werlte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37" name="Tabelle Mie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Quelle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Wert für Werlte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ImmoScout24 (Wohnungen, Durchschnitt)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7,78 €/m²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miete-aktuell.de (Kaltmiete 2026)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8,13 €/m²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mietpreise.info (14 Inserate, Spanne 6,09–14,48 €)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9,58 €/m²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mietpreise.info (Neubau)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10,73–11,02 €/m²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Landkreis Emsland (ImmoScout24, Q2 2026)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8,10 €/m²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Annahme Miete"/>
          <p:cNvSpPr/>
          <p:nvPr/>
        </p:nvSpPr>
        <p:spPr>
          <a:xfrm>
            <a:off x="8778240" y="1371600"/>
            <a:ext cx="2862072" cy="3291840"/>
          </a:xfrm>
          <a:prstGeom prst="roundRect">
            <a:avLst>
              <a:gd name="adj" fmla="val 2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006840" y="1554480"/>
            <a:ext cx="2404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Modell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Wohnungen 11,18 €/m² Kaltmiete (950 € für 85 m², Bauherr, zentrale Lage). Büro 9,50–10,00 €/m², Gastro-Pacht 10 €/m², ohne Marktdaten.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9377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Quellen: mietpreise.info/mietspiegel/werlte, miete-aktuell.de, immobilienscout24.de (Kreis Emsland), Abruf Oktober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e Mitte Werlte">
  <a:themeElements>
    <a:clrScheme name="Neue Mitte Werlte">
      <a:dk1>
        <a:srgbClr val="1F2421"/>
      </a:dk1>
      <a:lt1>
        <a:srgbClr val="FFFFFF"/>
      </a:lt1>
      <a:dk2>
        <a:srgbClr val="2F4A3E"/>
      </a:dk2>
      <a:lt2>
        <a:srgbClr val="F1F0EE"/>
      </a:lt2>
      <a:accent1>
        <a:srgbClr val="8C3B32"/>
      </a:accent1>
      <a:accent2>
        <a:srgbClr val="2F4A3E"/>
      </a:accent2>
      <a:accent3>
        <a:srgbClr val="C49A45"/>
      </a:accent3>
      <a:accent4>
        <a:srgbClr val="5B6770"/>
      </a:accent4>
      <a:accent5>
        <a:srgbClr val="2E7D5B"/>
      </a:accent5>
      <a:accent6>
        <a:srgbClr val="B3261E"/>
      </a:accent6>
      <a:hlink>
        <a:srgbClr val="8C3B32"/>
      </a:hlink>
      <a:folHlink>
        <a:srgbClr val="5B6770"/>
      </a:folHlink>
    </a:clrScheme>
    <a:fontScheme name="Neue Mitte Werlt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Neue Mitte Werlte – Baufeld 3: Restaurant, Bar und 12 Wohnungen</dc:title>
  <dc:subject>PptxGenJS Presentation</dc:subject>
  <dc:creator>Bessam Hasso</dc:creator>
  <cp:lastModifiedBy>Bessam Hasso</cp:lastModifiedBy>
  <cp:revision>1</cp:revision>
  <dcterms:created xsi:type="dcterms:W3CDTF">2026-10-20T09:19:36Z</dcterms:created>
  <dcterms:modified xsi:type="dcterms:W3CDTF">2026-10-20T09:19:36Z</dcterms:modified>
</cp:coreProperties>
</file>