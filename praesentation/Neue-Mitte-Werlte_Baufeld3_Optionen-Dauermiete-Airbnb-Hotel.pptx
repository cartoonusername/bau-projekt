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B: 540 m² Grundfläche, 1.540 m² BGF. Die Gastro (460 m²) im ganzen EG ist in allen Optionen gleich. 3,3 % Zins, 1 % Tilgung, ohne Förderung, ohne Lohn des Bauherrn.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Ausführliche Rechnung steht in der Hauptpräsentation (8 Wohnungen, Gastro im EG).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ferienhausmiete.de, ferienwohnungen.de (Werlte, Abruf Oktober 2026), Emsland Touristik Geschäftsbericht 2016/2017.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Anteile am Umsatz sind Annahmen. Plattformgebühr laut Portalen je nach Modell ca. 3 % (geteilte Provision) oder 14 bis 16 % (nur Gastgeber).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45 % Auslastung. Faktor auf unsere Annahme von 100 € und 125 € pro Nacht.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Alles Annahmen, es gibt keine belastbaren Hoteldaten für Werlte. Kostenanteile und Pachtquote müssen mit einem Hotelbetreiber oder DEHOGA-Zahlen geprüft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Ergebnis des ganzen Hauses pro Monat: Gastro plus Hotel minus Rate (17.282 €). Gleichauf mit der Dauermiete ab ca. 51 % Auslastung (Eigenbetrieb).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Einheit mit eigenem Kredit ohne Eigenkapital, 3,3 % Zins, 1 % Tilgung. Preis für +250 € im Monat: nur Zinsen. Airbnb bei 45 %, Hotel bei 52 % Auslastung, Hotel als Pachtanlage (Betreiber zahlt 22 % vom Umsatz).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Bitte mit Bauamt und Brandschutz klären, die Hinweise sind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Drei Nutzungsoptionen im Vergleich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Dauermiete, Airbnb-Apartments oder Hotel über der Gastro (540 m² Grundfläche)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drei Optionen auf einen Blick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3" name="Tabelle Option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554480"/>
                <a:gridCol w="1554480"/>
                <a:gridCol w="1920240"/>
                <a:gridCol w="10332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Einheiten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Zusatzkosten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Aufwand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Airbnb-Apartments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Apartments (45 % Auslastung)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+2.674 €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3a. Hotel, Eigenbetrieb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Zimmer (52 % Auslastung)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17.282 €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sehr hoch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3b. Hotel, verpachtet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Zimmer (22 %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17.282 €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+3.804 €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gering, Betreiber nötig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4805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Dauermiete ist die beste Option: das Hotel bringt bei gutem Betrieb nur ähnlich viel, bei viel mehr Aufwand.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erreicht die Dauermiete erst ab ca. 76 % Auslastung, das Hotel (Eigenbetrieb) ab ca. 51 %, beides mit viel mehr Arbeit, Zusatzkredit und Risiko. Verpachtet liegt das Hotel 2.547 € im Monat unter der Dauermiete.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1: Dauermiete (Basis)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Wohnungen: 5 × 83 m² (1. OG), 3 × 103 m² (Penthouse)"/>
          <p:cNvSpPr/>
          <p:nvPr/>
        </p:nvSpPr>
        <p:spPr>
          <a:xfrm>
            <a:off x="548640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Wohnungen: 5 × 83 m² (1. OG), 3 × 103 m² (Penthouse)</a:t>
            </a:r>
            <a:endParaRPr lang="en-US" sz="1300" dirty="0"/>
          </a:p>
        </p:txBody>
      </p:sp>
      <p:sp>
        <p:nvSpPr>
          <p:cNvPr id="8" name="Kennzahl Kaltmiete pro Monat (11,18 €/m²)"/>
          <p:cNvSpPr/>
          <p:nvPr/>
        </p:nvSpPr>
        <p:spPr>
          <a:xfrm>
            <a:off x="3378708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1588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8.103 €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1588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Kaltmiete pro Monat (11,18 €/m²)</a:t>
            </a:r>
            <a:endParaRPr lang="en-US" sz="1300" dirty="0"/>
          </a:p>
        </p:txBody>
      </p:sp>
      <p:sp>
        <p:nvSpPr>
          <p:cNvPr id="11" name="Kennzahl Rate pro Monat bei einem Kredit"/>
          <p:cNvSpPr/>
          <p:nvPr/>
        </p:nvSpPr>
        <p:spPr>
          <a:xfrm>
            <a:off x="6208776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1656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15.639 €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391656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pro Monat bei einem Kredit</a:t>
            </a:r>
            <a:endParaRPr lang="en-US" sz="1300" dirty="0"/>
          </a:p>
        </p:txBody>
      </p:sp>
      <p:sp>
        <p:nvSpPr>
          <p:cNvPr id="14" name="Kennzahl Ergebnis Haus pro Monat"/>
          <p:cNvSpPr/>
          <p:nvPr/>
        </p:nvSpPr>
        <p:spPr>
          <a:xfrm>
            <a:off x="9038844" y="1371600"/>
            <a:ext cx="260146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21724" y="1508760"/>
            <a:ext cx="22357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+6.351 €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221724" y="2240280"/>
            <a:ext cx="22357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Haus pro Monat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200400"/>
            <a:ext cx="11091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die Basis stark 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langfristiger Mieter zahlt jeden Monat gleich, es gibt keine Auslastungsschwankung und keine Möblierung im Kredit.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lassen sich einzeln an Verwandte verkaufen (eigener Kredit je Wohnung), siehe Verkaufsfolie.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werden auf die Mieter umgelegt, Rücklage 10 % deckt Verwaltung und Instandhaltung.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2: Airbnb-Apartments, Konzept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5" name="Tabelle Markt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57200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Aussagekraft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Ferienwohnung Werlte, 3 bis 6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 ca. 70 bis 80 €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Einzelangebote, günstigste Preise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Saisonspanne laut Portalen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119 bis 205 €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widersprüchlich, nicht belegt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 Emsland (Papenburg, Lingen)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37 % (2016/2017)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10 Jahre alt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Angebot in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über 60 Unterkünfte auf Portalen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Konkurrenz vorhanden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Unsere 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100 € (5 × 83 m², 4 Gäste), 125 € (3 × 103 m², 6 Gäste), 45 %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vorsichtig, mit Daten prüfen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Apartments mit ca. 725 m² Wohnfläche, Möblierung 600 € je m² = 435.000 € mehr im Kredit. Belastbare Zahlen liefern das Landesamt für Statistik Niedersachsen, Emsland Touristik und Datenanbieter wie AirDNA, die sollten wir vor einer Entscheidung abfragen.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2: Airbnb, Kosten und Ergebnis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6" name="Tabelle Kosten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389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Plattformgebühr (Airbnb, Booking)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 und Wäsche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Strom, Wasser, Heizung, Internet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Versicherung, Software, Steuerberater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 für Reparaturen und Ersatz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vom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elle Auslastung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71600"/>
          <a:ext cx="6428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490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Apartments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gg.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+1.503 €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−4.849 €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+2.674 €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−3.678 €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6.441 €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+3.845 €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+5.016 €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+6.187 €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9.954 €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+7.358 €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mit Möblierung 17.294 € statt 15.639 €. Dein Aufwand (Gäste, Schlüssel, Preise) ist nicht bezahlt, eine Verwaltungsfirma kostet zusätzlich ca. 15 bis 25 % vom Umsatz. Gleichauf mit der Dauermiete ab ca. 76 % Auslastung.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2: Airbnb, Ergebnis je Preis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7" name="Tabelle Preis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 m², 4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 m², 6 Gäste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Haus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−4.732 €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+2.674 €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−3.678 €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+3.728 €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−2.624 €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+4.782 €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−1.570 €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4805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Vorteil von Airbnb liegt nur in Zeiten und Orten mit hoher Nachfrage, etwa Messen oder Monteure unter der Woche. Zahlen dafür fehlen für Werlte.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3: Hotel, Annahmen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8" name="Tabelle Annahmen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Zimmer (ca. 14 im 1. OG, ca. 10 in der Staffel)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pro Zimmer und Nacht inkl. Frühstück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Frühstück und Wareneinsatz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 und Wäsche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Vertrieb und Provisionen (Booking u. a.)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Verwaltung, Versicherung, 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vom Umsatz (vor Rate)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"/>
          <p:cNvSpPr/>
          <p:nvPr/>
        </p:nvSpPr>
        <p:spPr>
          <a:xfrm>
            <a:off x="7863840" y="137160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Zusatzkosten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Zimmerausstattung 18.000 € je Zimmer = 432.000 € mehr im Kredit.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Frühstück und Synergie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Frühstück läuft über die Gastro im EG. Das zusätzliche Gastro-Geschäft ist nicht eingerechnet.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Verpachtung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Betreiber zahlt etwa 22 % vom Umsatz als Pacht (Annahme).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3: Hotel, Ergebnis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</a:t>
            </a:r>
            <a:endParaRPr lang="en-US" sz="1000" dirty="0"/>
          </a:p>
        </p:txBody>
      </p:sp>
      <p:graphicFrame>
        <p:nvGraphicFramePr>
          <p:cNvPr id="9" name="Tabelle Auslastung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920240"/>
                <a:gridCol w="2011680"/>
                <a:gridCol w="1737360"/>
                <a:gridCol w="1856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Auslastung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Hotel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 nach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Haus: Eigenbetrieb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(22 %)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Haus: verpachtet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+4.365 €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+2.330 €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+6.103 €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+3.559 €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37.230 €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+7.840 €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+4.787 €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+9.577 €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+6.016 €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Dauermiete (Vergleich)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elle Preis Hot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0312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Zimmer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 (52 %, Eigenbetrieb)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gegenüber Dauermiete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28.470 €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+5.387 €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+7.513 €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+1.162 €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39.858 €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+8.576 €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 an die Verwandten: Optionen im Vergleich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Verwandte und Bank</a:t>
            </a:r>
            <a:endParaRPr lang="en-US" sz="1000" dirty="0"/>
          </a:p>
        </p:txBody>
      </p:sp>
      <p:graphicFrame>
        <p:nvGraphicFramePr>
          <p:cNvPr id="10" name="Tabelle Verkauf Option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822960"/>
                <a:gridCol w="1371600"/>
                <a:gridCol w="1371600"/>
                <a:gridCol w="1188720"/>
                <a:gridCol w="146304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für 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 je 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Miete: Wohnung 83 m² (1. OG)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200.194 €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Miete: Penthouse 103 m² (Staffel)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Airbnb: Apartment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339.609 €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120.568 €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219.040 €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Airbnb: Apartment 103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172.103 €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243.240 €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Hotel: Hotelzimmer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122.545 €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117.002 €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8920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bei Dauermiete liegt der Preis für +250 € nahe an den Selbstkosten, die Differenz von 697.503 € trägst du (Dein Ergebnis dann +7.125 € pro Monat). Bei Airbnb wären es 1.824.923 € und beim Hotel 2.808.039 €.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Möblierte Apartments und Hotelzimmer sind als Anlage für Verwandte deutlich schlechter geeignet, und eine Bank finanziert eine so hohe Differenz kaum.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Recht und Risiken je Option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onderbau Beherbergung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Sonderbau Beherbergung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mehr als 12 Gästebetten gelten meist Sonderbau-Regeln (Brandschutz, Fluchtwege). Airbnb (ca. 38 Betten) und Hotel (24 Zimmer) betrifft das auch für das Holz-Staffelgeschoss, Dauermiete nicht.</a:t>
            </a:r>
            <a:endParaRPr lang="en-US" sz="1300" dirty="0"/>
          </a:p>
        </p:txBody>
      </p:sp>
      <p:sp>
        <p:nvSpPr>
          <p:cNvPr id="8" name="Nutzung im B-Plan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Nutzung im B-Plan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965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Mischgebiet sind Wohnen, Beherbergung und Gastro meist zulässig, die Stadt muss es für Baufeld 3 und die 540 m² Grundfläche bestätigen.</a:t>
            </a:r>
            <a:endParaRPr lang="en-US" sz="1300" dirty="0"/>
          </a:p>
        </p:txBody>
      </p:sp>
      <p:sp>
        <p:nvSpPr>
          <p:cNvPr id="11" name="Stellplätze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Hotelgäste und Gastro brauchen deutlich mehr Plätze als Wohnungen (ca. 0,5 bis 1 je Zimmer). Auf dem Grundstück passen nur ca. 8–10.</a:t>
            </a:r>
            <a:endParaRPr lang="en-US" sz="1300" dirty="0"/>
          </a:p>
        </p:txBody>
      </p:sp>
      <p:sp>
        <p:nvSpPr>
          <p:cNvPr id="14" name="Betrieb und Markt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Betrieb und Markt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160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und Hotel sind ein zweiter Betrieb mit Personal oder Aufwand. Für Werlte fehlen belastbare Zahlen zu Preis und Auslastung.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Empfehlung und nächste Schritte</a:t>
            </a:r>
            <a:endParaRPr lang="en-US" sz="27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Empfehlung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Dauermiete (+6.351 € pro Monat) ist die beste Option: Airbnb (+2.674 €) liegt klar darunter, das Hotel (+6.450 € bei 52 % Auslastung, Eigenbetrieb) nur gleichauf, dafür mit viel mehr Aufwand, Zusatzkredit und Brandschutzauflagen.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Preise und Auslastung für Werlte holen (LSN, Emsland Touristik, AirDNA) und Hotelbetreiber befragen.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 durch Betriebe und Monteure in der Umgebung prüfen.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Brandschutz, Sonderbau und Stellplätze mit dem Bauamt klären.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Nutzungsoptionen im Vergleich</dc:title>
  <dc:subject>PptxGenJS Presentation</dc:subject>
  <dc:creator>Bessam Hasso</dc:creator>
  <cp:lastModifiedBy>Bessam Hasso</cp:lastModifiedBy>
  <cp:revision>1</cp:revision>
  <dcterms:created xsi:type="dcterms:W3CDTF">2026-10-16T08:57:30Z</dcterms:created>
  <dcterms:modified xsi:type="dcterms:W3CDTF">2026-10-16T08:57:30Z</dcterms:modified>
</cp:coreProperties>
</file>