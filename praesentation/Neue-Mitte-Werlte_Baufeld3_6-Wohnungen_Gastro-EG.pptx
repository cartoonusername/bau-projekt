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1986500</c:v>
                </c:pt>
                <c:pt idx="2">
                  <c:v>297975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9180</c:v>
                </c:pt>
                <c:pt idx="1">
                  <c:v>11770</c:v>
                </c:pt>
                <c:pt idx="2">
                  <c:v>-10172</c:v>
                </c:pt>
                <c:pt idx="3">
                  <c:v>-918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9860</c:v>
                </c:pt>
                <c:pt idx="1">
                  <c:v>10369</c:v>
                </c:pt>
                <c:pt idx="2">
                  <c:v>10877</c:v>
                </c:pt>
                <c:pt idx="3">
                  <c:v>11386</c:v>
                </c:pt>
                <c:pt idx="4">
                  <c:v>11895</c:v>
                </c:pt>
                <c:pt idx="5">
                  <c:v>12403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8068</c:v>
                </c:pt>
                <c:pt idx="1">
                  <c:v>8666</c:v>
                </c:pt>
                <c:pt idx="2">
                  <c:v>9264</c:v>
                </c:pt>
                <c:pt idx="3">
                  <c:v>9862</c:v>
                </c:pt>
                <c:pt idx="4">
                  <c:v>10460</c:v>
                </c:pt>
                <c:pt idx="5">
                  <c:v>11059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6 Wohnungen zu je 950 € Kaltmiete (Annahme des Bauherrn).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950 €,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6 Wohnungen, jede mit eigenem Kredit ohne Eigenkapital, Miete 950 €, 50.000 € Gastro-Umsatz. Förderung, Preise und tilgungsfreie Jahre sind Ziele,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950 € je Wohnung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mit Ausnahme der Stadt: Baufenster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Bildmontage aus der KI-Visualisierung: das mittlere Geschoss wurde verdoppelt. Höhe ca. 13 m, der B-Plan erlaubt 12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2,67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 und eine Gastro von ca. 290 m² im ganzen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und eine Gastro von ca. 290 m² im ganzen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10.172 €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17.700 €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 Grundfläche (35 %)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27 × 15–17 m = 400–460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24 × 14,2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10–13,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das Staffelgeschoss (ca. 250 m² in Holzbau, das sind 74 % der Fläche darunter) als drittes Vollgeschoss? Ab etwa 2/3 der Fläche darunter wird es meist dazugezählt.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2.442.284 €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59.500 € teurer, die Kosten lägen bei 2.739.156 €.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rundum um ca. 1,3 m zurück: Terrasse ca. 90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554480" y="5852160"/>
            <a:ext cx="4963363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645920" y="2774290"/>
            <a:ext cx="4500677" cy="93269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5963717" y="3489350"/>
            <a:ext cx="279806" cy="341986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828800" y="4764024"/>
            <a:ext cx="4414723" cy="994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831336"/>
            <a:ext cx="441472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3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828800" y="2867558"/>
            <a:ext cx="4134917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371600" y="2774290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59141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371600" y="3831336"/>
            <a:ext cx="5146243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786323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Wohnungen à ca. 56 m², Holzbau,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Wohnungen, ca. 423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um ca. 1,3 m zurück, so entsteht eine Terrasse von ca. 90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Fläche"/>
          <p:cNvSpPr/>
          <p:nvPr/>
        </p:nvSpPr>
        <p:spPr>
          <a:xfrm>
            <a:off x="1091794" y="2103120"/>
            <a:ext cx="3077870" cy="2142439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Bar"/>
          <p:cNvSpPr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52144" y="2163470"/>
            <a:ext cx="633679" cy="271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2" name="Raum Küche"/>
          <p:cNvSpPr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19502" y="2103120"/>
            <a:ext cx="1207008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4" name="Raum WC"/>
          <p:cNvSpPr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15998" y="2103120"/>
            <a:ext cx="603504" cy="63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6" name="Raum Gastraum, ca. 100 Plätze"/>
          <p:cNvSpPr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53896" y="3083814"/>
            <a:ext cx="211226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19" name="Baukörper 1. Obergeschoss"/>
          <p:cNvSpPr/>
          <p:nvPr/>
        </p:nvSpPr>
        <p:spPr>
          <a:xfrm>
            <a:off x="4283964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0" name="Raum Treppe, Aufzug"/>
          <p:cNvSpPr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3964" y="2103120"/>
            <a:ext cx="543154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2" name="Raum WE 1 · 85 m²"/>
          <p:cNvSpPr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27118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 · 85 m²</a:t>
            </a:r>
            <a:endParaRPr lang="en-US" sz="1100" dirty="0"/>
          </a:p>
        </p:txBody>
      </p:sp>
      <p:sp>
        <p:nvSpPr>
          <p:cNvPr id="24" name="Raum WE 2 · 85 m²"/>
          <p:cNvSpPr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853074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 · 85 m²</a:t>
            </a:r>
            <a:endParaRPr lang="en-US" sz="1100" dirty="0"/>
          </a:p>
        </p:txBody>
      </p:sp>
      <p:sp>
        <p:nvSpPr>
          <p:cNvPr id="26" name="Raum WE 3 · 85 m²"/>
          <p:cNvSpPr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79031" y="2103120"/>
            <a:ext cx="1025957" cy="2142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 · 85 m²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29" name="Baukörper Staffel (Holzbau)"/>
          <p:cNvSpPr/>
          <p:nvPr/>
        </p:nvSpPr>
        <p:spPr>
          <a:xfrm>
            <a:off x="8019288" y="2011680"/>
            <a:ext cx="3621024" cy="232531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Raum Fläche"/>
          <p:cNvSpPr/>
          <p:nvPr/>
        </p:nvSpPr>
        <p:spPr>
          <a:xfrm>
            <a:off x="8019288" y="2103120"/>
            <a:ext cx="3621024" cy="2142439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Raum Treppe"/>
          <p:cNvSpPr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15427" y="2299259"/>
            <a:ext cx="543154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3" name="Raum WE 4 · 56 m²"/>
          <p:cNvSpPr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758580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 · 56 m²</a:t>
            </a:r>
            <a:endParaRPr lang="en-US" sz="1100" dirty="0"/>
          </a:p>
        </p:txBody>
      </p:sp>
      <p:sp>
        <p:nvSpPr>
          <p:cNvPr id="35" name="Raum WE 5 · 56 m²"/>
          <p:cNvSpPr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53275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 · 56 m²</a:t>
            </a:r>
            <a:endParaRPr lang="en-US" sz="1100" dirty="0"/>
          </a:p>
        </p:txBody>
      </p:sp>
      <p:sp>
        <p:nvSpPr>
          <p:cNvPr id="37" name="Raum WE 6 · 56 m²"/>
          <p:cNvSpPr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549479" y="2299259"/>
            <a:ext cx="894695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 · 56 m²</a:t>
            </a:r>
            <a:endParaRPr lang="en-US" sz="1100" dirty="0"/>
          </a:p>
        </p:txBody>
      </p:sp>
      <p:sp>
        <p:nvSpPr>
          <p:cNvPr id="3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24 × 14,2 m = 340 m², das passt in das geschätzte Baufenster. Treppenhaus und Aufzug liegen am Westende und erschließen die Wohnungen getrennt von der Gastro. Die Staffel in Holzbau hat ca. 250 m² BGF, die beige Fläche ist die Terrasse (ca. 90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 mit Glasbrüstung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29 Stellplätze, auf dem Grundstück passen ca. 10–13.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2.872 €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92.022 €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2.838.644 €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2.871.450 €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Wohnungen: je 950 € Kaltmiete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3.100 €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2.403.658 €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+9.264 €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2.270.121 €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2.136.585 €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2.003.048 €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509 €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+10.877 €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+12.402 €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+10.370 €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+13.420 €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+14.945 €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23.549 €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+5.018 €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Verwaltung, Versicherung, Grundsteuer (ca. 300–500 € im Monat) sind noch nicht enthalten.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209.195 €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1.096.573 €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211.211 €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14.000 €. Die Wohnungen tragen sich bei 11,18 €/m² Miete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Staffel-Wohnung (56 m²) kostet bei 950 € Miete 17 €/m², bei Marktmiete (11,18 €/m²) wären es 626 € und das Ergebnis −233 €.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rentiert es sich für jede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Rentiert für al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280160"/>
                <a:gridCol w="137160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Selbstkostenpreis, 1 % Tilgung (heute)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+12.720 €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Dasselbe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+12.148 €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Alternative: ohne Förderung, Tilgung 0 %, Baukosten 2.000 €/m²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+12.273 €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Was das bedeutet"/>
          <p:cNvSpPr/>
          <p:nvPr/>
        </p:nvSpPr>
        <p:spPr>
          <a:xfrm>
            <a:off x="8686800" y="1280160"/>
            <a:ext cx="2953512" cy="448056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1463040"/>
            <a:ext cx="249631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für alle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15 % und tilgungsfreie Jahre reichen bei 3,3 % Zins für ein Plus bei jeder Partei. Bei 4,0 % Zins fehlt dem OG trotz 2.000 €/m² noch ein kleines Stück, dann braucht es mehr Förderung oder noch günstigere Preise.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beachten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Tilgung sinkt die Schuld nicht, der Kredit muss später abgelöst oder verlängert werden.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12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Wenn du die Lücke der drei OG-Wohnungen (1.040 € im Monat) selbst trägst, bleiben dir 10.033 € aus der Gastro.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950 € je Wohnung (ca. 12–15 €/m²) liegt über den Portalwerten für Neubau in Werlte (ca. 11 €/m²).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18.000 € Umsatz, bei 4 % Zins ca. 24.000 €.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und Flachdach müssen von der Stadt bestätigt werden. Gegenmaßnahme: Vorabstimmung, Plan B mit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+1.017 €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+1.256 €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Variante B, Variante mit vier Ebenen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930 m² BGF × 2.200 €, Staffel in Holzbau 400 €/m² günstiger, Terrasse 90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je 950 € Kaltmiete,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enthalten: Hausverwaltung, Versicherung, Grundsteuer (ca. 300–500 €/Monat)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6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7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Wohnungen zu 950 € Kaltmiete (Bauherr, zentrale Lage), das sind bei ca. 75 m² etwa 12,70 €/m².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Varianten B und C: 540 m² Grundfläche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 m² / ca. 8–9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4.050.156 €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5.416.356 €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+8.257 €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22.929 €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26.281 €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+5.542 €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3.712 € / 3.736 €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3.497 € / 3.089 €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3.443 € / 3.034 €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104.313 €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81.422 €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420 m² in Holzbau mit 120 m²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Variante: Mittelgeschoss doppelt, vier Ebenen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pic>
        <p:nvPicPr>
          <p:cNvPr id="5" name="Image 0" descr="Bildmontage: Gebäude mit doppeltem Mittelgeschoss, vier Ebene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6400800" cy="40782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Bildmontage, keine neue Planung</a:t>
            </a:r>
            <a:endParaRPr lang="en-US" sz="1200" dirty="0"/>
          </a:p>
        </p:txBody>
      </p:sp>
      <p:graphicFrame>
        <p:nvGraphicFramePr>
          <p:cNvPr id="30" name="Tabelle Vergleich 3 und 4 Ebe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3716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216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Ebenen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2.670.731 €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3.530.931 €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+11.386 €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+11.170 €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Break-even-Umsatz,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7223760" y="548640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zweite Mittelgeschoss bringt 3 weitere Wohnungen zu 950 €, kostet aber ca. 0,86 Mio. € mehr. Die Höhe von ca. 13 m braucht eine Ausnahme von der Stadt (B-Plan: 12 m).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Wohnungen</dc:title>
  <dc:subject>PptxGenJS Presentation</dc:subject>
  <dc:creator>Bessam Hasso</dc:creator>
  <cp:lastModifiedBy>Bessam Hasso</cp:lastModifiedBy>
  <cp:revision>1</cp:revision>
  <dcterms:created xsi:type="dcterms:W3CDTF">2026-10-15T11:53:53Z</dcterms:created>
  <dcterms:modified xsi:type="dcterms:W3CDTF">2026-10-15T11:53:53Z</dcterms:modified>
</cp:coreProperties>
</file>