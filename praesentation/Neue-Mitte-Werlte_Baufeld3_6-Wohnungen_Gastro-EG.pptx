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2451500</c:v>
                </c:pt>
                <c:pt idx="2">
                  <c:v>367725</c:v>
                </c:pt>
                <c:pt idx="3">
                  <c:v>310000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-12814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1218</c:v>
                </c:pt>
                <c:pt idx="1">
                  <c:v>1858</c:v>
                </c:pt>
                <c:pt idx="2">
                  <c:v>2499</c:v>
                </c:pt>
                <c:pt idx="3">
                  <c:v>3140</c:v>
                </c:pt>
                <c:pt idx="4">
                  <c:v>3780</c:v>
                </c:pt>
                <c:pt idx="5">
                  <c:v>4421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-1039</c:v>
                </c:pt>
                <c:pt idx="1">
                  <c:v>-286</c:v>
                </c:pt>
                <c:pt idx="2">
                  <c:v>468</c:v>
                </c:pt>
                <c:pt idx="3">
                  <c:v>1221</c:v>
                </c:pt>
                <c:pt idx="4">
                  <c:v>1975</c:v>
                </c:pt>
                <c:pt idx="5">
                  <c:v>2728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2.700 €/m² (Holz-Staffel 400 € günstiger) und 15 % Baunebenkosten sind Annahmen und müssen durch Architekt und Angebote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eigene Schätzungen, ein Gastro-Fachplaner und Angebote von Küchen- und Lüftungsbauern müssen sie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Baufeld 3: Große Gastro und 6 Wohnungen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Vorhaben auf einen Blick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3,37 Mio. €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12.814 €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+1.218 €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+1.858 €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+2.499 €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+3.780 €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+4.421 €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ohne Förderung im Plus, aber knapp.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ohne Förderung ca. 46.000 €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Eckgrundstück an der neuen Mitte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960 m²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Mischgebiet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Baureife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der Bebauungsplan vorgibt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Festsetzung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im B-Plan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Unser Entwurf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Grundflächenzahl (GRZ)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0,6 → max. 576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 Grundfläche (35 %)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Vollgeschosse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zwei (II im Kreis)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 und 1. OG, dazu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Traufhöhe / Höhe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6,50 m / 12,00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Hauptbaukörper 6,50 m, gesamt ca. 9,90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Dachform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laut Konzeptheft Mischgebiet, Details im 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Flachdach mit zurückgesetztem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Baufenster (geschätzt)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27 × 15–17 m = 400–460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24 × 14,2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Stellplätze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auf dem Grundstück, ausreichende Anzahl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10–13, Rest siehe Stellplatzfolie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Staffelgeschoss in Holzbau mit Terrasse rundum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Bauunternehmer-Preisnachlass auf den 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(Plan)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Ergebnis/Monat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keiner (Annahme in der Rechnung)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5 % (Bekanntenpreis, noch offen)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3.224.520 €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12.278 €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+1.754 €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10 % (Bekanntenpreis, noch offen)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3.083.559 €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11.742 €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+2.290 €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bei 50.000 € Gastro-Umsatz und 3,3 % Zins. Ohne Holzbau und Terrasse wäre der Bau 59.500 € teurer, die Kosten lägen bei 3.433.906 €.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Geschosse plus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Ebene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Nutzung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 ca. 290 m² mit Bar, Treppenhaus, Aufzug, Technik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 OG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85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Staffel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56 m², Holzbau, Terrasse rundum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6 Wohnungen, ca. 423 m² Wohnfläche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930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Skizzen der Geschosse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Modern, Klinker, Glas und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Klinker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Balkone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Glas-EG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Große Gastro mit Bar, neu und modern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Referenz für Stimmung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77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100 Plätze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634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Barhocker, Polsterbänke, beleuchtete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3492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Visualisierungen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08676" cy="3353379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25880"/>
            <a:ext cx="5408676" cy="335337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 sind der Knackpunkt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Vorschlag für die Stadt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Gesamtkosten ohne Förderung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Rechnung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Grundstück inkl. Steuer, Notar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230 € + ca. 7 %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236.256 €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Bau, Massivbau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930 m² ×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2.511.000 €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Abschlag Holzbau (Staffelgeschoss)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250 m² × 400 € günstiger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− 100.000 €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Dachterrasse rundum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 m² × 450 €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40.500 €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Baunebenkosten (Architekt, Statik, Gebühren)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15 % vom 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367.725 €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Gastro-Ausbau (Küche, Bar, Möbel, Technik)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Posten im Anhang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310.000 €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sind ca. 3.619 €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Finanzierung zu 100 % ohne Eigenkapital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in der Bauzeit (15 Monate)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71.243 €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86.594 €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Bereitstellungszinsen (3 % p. a. ab Monat 7)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23.469 €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23.469 €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im Aufschub-Jahr (keine Rate)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115.929 €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141.599 €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Kredit bei Start der Rate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3.576.123 €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3.617.143 €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Rate pro Monat (1 %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15.071 €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Zinsen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9.834 €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12.057 €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Tilgung (Rückzahlung der Schuld)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2.980 €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3.014 €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pro Monat übrig bleibt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 Monat, Plan, ohne Förderung,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 Wohnungen: je 950 € Kaltmiete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+5.700 €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Gastro-Pacht: 290 m² × 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Gastro-Gewinn nach Pacht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(Zinsen und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Dein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Rücklagen (10 % der Miete und Pacht)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−918 €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Ergebnis pro Monat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Förderung entscheidet über das Ergebnis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15.071 €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−1.039 €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3.197.207 €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12.174 €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+1.858 €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14.318 €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3.028.933 €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11.533 €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+2.499 €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13.564 €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+468 €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2.860.659 €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10.892 €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12.811 €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2.692.385 €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10.252 €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+3.780 €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12.057 €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+1.975 €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2.524.111 €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9.611 €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+4.421 €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11.304 €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+2.728 €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5 Prozentpunkte Förderung steigt das Ergebnis um ca. 641 €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viel Umsatz braucht die Gastro?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pro Monat (Plan 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60.000 €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−1.832 €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−307 €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+2.743 €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+4.268 €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−551 €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+974 €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+2.499 €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+4.024 €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+5.549 €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+90 €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+1.615 €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+4.665 €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+6.190 €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+730 €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+2.255 €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+3.780 €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+5.305 €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+6.830 €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Plan, 3,3 %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46.008 €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41.807 €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39.706 €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37.605 €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Ausgang, 4,0 %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53.408 €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48.467 €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45.996 €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43.525 €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Weg zu Plus: Hebel nacheinander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Schritt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Ausgangslage (40.000 € Umsatz, keine Förderung)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−1.832 €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−4.089 €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+90 €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−1.829 €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Baukosten 2.500 €/m² statt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+781 €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−1.016 €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Gastro-Ausbau sparsam (245.000 €)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+991 €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−769 €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Gastro-Umsatz 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+2.516 €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+756 €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Tilgung 0 % (nur Zinsen) in den ersten Jahren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+4.840 €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Lohn 4.000 € statt 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+6.840 €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+5.107 €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Förderung, günstigere Baukosten und ein sparsamer Ausbau reichen im Plan für Plus.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Risiken und was wir dagegen tun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Gastro-Umsatz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Gastro braucht ab ca. 46.000 € Umsatz, bei 4 % Zins ca. 53.000 €.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ich von der Stadt brauche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Städtebauförderung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 Förderung bringen ca. +1.281 €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Grundstückspreis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Pacht oder Mietzuschuss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Zinsvorteil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0,5 % weniger Zins bringen ca. +1.582 €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Anhang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Annahmen, Gastro-Kosten, Gastro-Ausbau, Mietdaten,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Rechenannahmen und offene Punkte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930 m² BGF × 2.700 €,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Gastro: Kosten pro Monat bei 50.000 € Umsatz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4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Richtwert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Wareneinsatz (Einkauf Essen und Getränke)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28 %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Personal (ohne Chef-Lohn)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Pacht ans Haus (290 m² × 12 €)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Energie, Wasser, Müll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Reinigung, Wäsche, Verbrauchsmaterial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Werbung und Marketing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Reparaturen, Wartung, Kassensystem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Sonstiges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Versicherungen, GEMA, Gebühren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Steuerberater, Buchhaltung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38.230 €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Gewinn nach Pacht, vor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Gastro-Ausbau nach Posten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5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Küche (Herd, Kühlräume, Edelstahl, Spülküche)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Lüftung und Abluft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Theke und Bar (Zapfanlage, Kühlung, Backbar)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Möbel (ca. 100 Plätze, Lounge)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Beleuchtung und Deko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Wand, Boden, Decke, Akustik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Gäste-WC Ausstattung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Kasse, Technik, Musik, WLAN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Terrasse (Holzdeck, Möbel, Heizstrahler)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Planung und Genehmigung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Geschirr, Gläser, Besteck, Textilien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Eröffnung, Marketing, Warenerstbestückung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Puffer 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(im Modell: 310.000 €)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309.750 €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Baunebenkosten von 15 % fallen auf Möbel und Geräte nicht an, die Planung steckt als eigener Posten drin. Ein sparsamer Ausbau (ca. 245.000 €) steht auf der Pfad-Folie.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Mietdaten für Werlte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6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Quelle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für Werlte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ImmoScout24 (Wohnungen, Durchschnitt)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7,78 €/m²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miete-aktuell.de (Kaltmiete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8,13 €/m²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(14 Inserate, Spanne 6,09–14,48 €)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9,58 €/m²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(Neubau)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10,73–11,02 €/m²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Landkreis Emsland (ImmoScout24, Q2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8,10 €/m²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Variante: Mittelgeschoss doppelt, vier Ebenen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27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 Ebenen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 Ebenen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Wohnungen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930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1.270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3.365.481 €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4.421.181 €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(Plan)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16.830 €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 bei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… mit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+3.140 €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+2.291 €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Break-even-Umsatz,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39.706 €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42.487 €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zweite Mittelgeschoss bringt 3 weitere Wohnungen zu 950 €, kostet aber ca. 1,06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2026-10-14T19:19:03Z</dcterms:created>
  <dcterms:modified xsi:type="dcterms:W3CDTF">2026-10-14T19:19:03Z</dcterms:modified>
</cp:coreProperties>
</file>