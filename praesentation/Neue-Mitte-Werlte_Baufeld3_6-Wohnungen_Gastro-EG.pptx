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Grundstück</c:v>
                </c:pt>
                <c:pt idx="1">
                  <c:v>Bau</c:v>
                </c:pt>
                <c:pt idx="2">
                  <c:v>Baunebenkosten</c:v>
                </c:pt>
                <c:pt idx="3">
                  <c:v>Gastro-Ausbau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236256</c:v>
                </c:pt>
                <c:pt idx="1">
                  <c:v>1986500</c:v>
                </c:pt>
                <c:pt idx="2">
                  <c:v>297975</c:v>
                </c:pt>
                <c:pt idx="3">
                  <c:v>150000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Euro pro Monat</c:v>
                </c:pt>
              </c:strCache>
            </c:strRef>
          </c:tx>
          <c:spPr>
            <a:solidFill>
              <a:srgbClr val="2E7D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Miete</c:v>
                  </c:pt>
                  <c:pt idx="1">
                    <c:v>Gastro</c:v>
                  </c:pt>
                  <c:pt idx="2">
                    <c:v>Rate</c:v>
                  </c:pt>
                  <c:pt idx="3">
                    <c:v>Rücklagen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9180</c:v>
                </c:pt>
                <c:pt idx="1">
                  <c:v>11770</c:v>
                </c:pt>
                <c:pt idx="2">
                  <c:v>-10172</c:v>
                </c:pt>
                <c:pt idx="3">
                  <c:v>-918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 (3,3 %)</c:v>
                </c:pt>
              </c:strCache>
            </c:strRef>
          </c:tx>
          <c:spPr>
            <a:solidFill>
              <a:srgbClr val="2F4A3E"/>
            </a:solidFill>
            <a:ln w="38100" cap="flat">
              <a:solidFill>
                <a:srgbClr val="2F4A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F4A3E"/>
              </a:solidFill>
              <a:ln w="9525" cap="flat">
                <a:solidFill>
                  <a:srgbClr val="2F4A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9860</c:v>
                </c:pt>
                <c:pt idx="1">
                  <c:v>10369</c:v>
                </c:pt>
                <c:pt idx="2">
                  <c:v>10877</c:v>
                </c:pt>
                <c:pt idx="3">
                  <c:v>11386</c:v>
                </c:pt>
                <c:pt idx="4">
                  <c:v>11895</c:v>
                </c:pt>
                <c:pt idx="5">
                  <c:v>12403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Ausgang (4,0 %)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8068</c:v>
                </c:pt>
                <c:pt idx="1">
                  <c:v>8666</c:v>
                </c:pt>
                <c:pt idx="2">
                  <c:v>9264</c:v>
                </c:pt>
                <c:pt idx="3">
                  <c:v>9862</c:v>
                </c:pt>
                <c:pt idx="4">
                  <c:v>10460</c:v>
                </c:pt>
                <c:pt idx="5">
                  <c:v>11059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Kernaussage: Das Haus trägt sich mit Förderung und einer gut laufenden Gastro.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Annahmen und müssen durch Angebote der Zimmerei und des Bauunternehmens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Konzeptskizze, Planung folgt mit dem Gastro-Fachplaner.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auf Basis der Skizzen,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200 m²).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2.200 €/m² (Holz-Staffel 400 € günstiger) und 15 % Baunebenkosten sind Annahmen des Bauherrn und müssen durch Angebote von Bauunternehmen und Zimmerei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Zinsen in der Bauzeit und im Aufschub werden dem Kredit zugeschlagen. Der Aufschub von 12 Monaten muss mit der Bank verhandelt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Mieten: 6 Wohnungen zu je 950 € Kaltmiete (Annahme des Bauherrn). Gastro-Marge nach Branchen-Richtwerten.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Gastro-Umsatz 50.000 €. Förderung als Zuschuss in Prozent der Kosten, der den Kredit von Anfang an verkleinert (Annahme).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Gastro-Marge vor Pacht 30,5 % vom Umsatz (Branchen-Richtwert, nicht aus Werlte). Break-even = Ergebnis (ohne Lohn des Bauherrn) genau null.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Startpunkt ist die vorsichtige Annahme von 40.000 € Umsatz ohne Förderung. Die Hebel sind Ziele für die Verhandlung,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Partei bekommt einen eigenen Kredit ohne Eigenkapital. Preis = Selbstkosten, 3,3 % Zins, 1 % Tilgung, Miete 950 €, 10 % Rücklagen.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A, jede Wohnung mit eigenem Kredit ohne Eigenkapital und ohne Tilgung, 950 € Miete, 3,3 % Zins. Du trägst die Differenz zu deinen Selbstkosten.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 ohne Förderung, 2.200 €/m², Dauermiete 950 €, 3,3 % Zins, tilgungsfreie Jahre, 10 % Rücklagen. Käufer zahlen Notar (2 %) und Grunderwerbsteuer (5 %, Vater frei, bitte prüfen).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Reihenfolge ist ein Vorschlag, Notar, Bank und Bauamt bestimmen die Details. Keine Rechtsberatung.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950 € je Wohnung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Wirkungen gerechnet mit dem Modell (Plan 3,3 %, ohne Förderung als Basis).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Zielbudget des Bauherrn für einen einfachen Ausbau, Angebote von Küchen- und Lüftungsbauern müssen es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Nur mit Ausnahme der Stadt: Baufenster ca. 400–460 m² geschätzt, im Plan stehen zwei Vollgeschosse und 12 m Höhe, GRZ 0,6 erlaubt max. 576 m².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Große Gastro und 6 Wohnungen</a:t>
            </a:r>
            <a:endParaRPr lang="en-US" sz="37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Baukonzept und Wirtschaftlichkeit (Variante A, ohne Förderung)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Vorhaben auf einen Blick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(ohne Bauzeitzinsen)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2,67 Mio. €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Gesamtkosten (ohne Bauzeitzinsen)</a:t>
            </a:r>
            <a:endParaRPr lang="en-US" sz="1400" dirty="0"/>
          </a:p>
        </p:txBody>
      </p:sp>
      <p:sp>
        <p:nvSpPr>
          <p:cNvPr id="8" name="Kennzahl Wohnungen und eine Gastro von ca. 290 m² im ganzen EG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Wohnungen und eine Gastro von ca. 290 m² im ganzen EG</a:t>
            </a:r>
            <a:endParaRPr lang="en-US" sz="1400" dirty="0"/>
          </a:p>
        </p:txBody>
      </p:sp>
      <p:sp>
        <p:nvSpPr>
          <p:cNvPr id="11" name="Kennzahl Rate pro Monat (3,3 %, ohne Förder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10.172 €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pro Monat (3,3 %, ohne Förderung)</a:t>
            </a:r>
            <a:endParaRPr lang="en-US" sz="1400" dirty="0"/>
          </a:p>
        </p:txBody>
      </p:sp>
      <p:sp>
        <p:nvSpPr>
          <p:cNvPr id="14" name="Kennzahl Ergebnis pro Monat bei 50.000 € Umsatz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+9.860 €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bei 50.000 € Umsatz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(ohne Lohn des Bauherrn) bei 50.000 € Gastro-Umsatz (Plan, 3,3 % Zins)</a:t>
            </a:r>
            <a:endParaRPr lang="en-US" sz="1600" dirty="0"/>
          </a:p>
        </p:txBody>
      </p:sp>
      <p:graphicFrame>
        <p:nvGraphicFramePr>
          <p:cNvPr id="3" name="Tabelle Förd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13332"/>
                <a:gridCol w="1513332"/>
                <a:gridCol w="1513332"/>
                <a:gridCol w="1513332"/>
                <a:gridCol w="1513332"/>
                <a:gridCol w="15133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+10.369 €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+12.403 €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457200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Schon ohne Förderung im Plus.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ohne Förderung ca. 17.700 € im Monat. Dazu kommt eine Anlaufphase von 12 Monaten ohne Rate (Aufschub).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Eckgrundstück an der neuen Mitte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960 m²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Mischgebiet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Baureife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der Bebauungsplan vorgibt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Festsetzung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im B-Plan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Unser Entwurf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Grundflächenzahl (GRZ)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 → max. 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 Grundfläche (35 %)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Vollgeschosse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zwei (II im Kreis)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 und 1. OG, dazu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Traufhöhe / Höhe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6,50 m / 12,00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Hauptbaukörper 6,50 m, gesamt ca. 9,90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Dachform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laut Konzeptheft Mischgebiet, Details im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Flachdach mit zurückgesetztem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Baufenster (geschätzt)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27 × 15–17 m = 400–460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24 × 14,2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 dem Grundstück, ausreichende 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10–13, Rest siehe Stellplatzfolie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Zählt das Staffelgeschoss (ca. 250 m² in Holzbau, das sind 74 % der Fläche darunter) als drittes Vollgeschoss? Ab etwa 2/3 der Fläche darunter wird es meist dazugezählt.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 in Holzbau mit Terrasse rundum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graphicFrame>
        <p:nvGraphicFramePr>
          <p:cNvPr id="6" name="Tabelle Holzbau Rabat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118872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Bauunternehmer-Preisnachlass auf den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(Plan)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Ergebnis/Monat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keiner (Annahme in der Rechnung)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2.556.507 €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+10.295 €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2.442.284 €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+10.729 €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36576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bei 50.000 € Gastro-Umsatz und 3,3 % Zins. Ohne Holzbau und Terrasse wäre der Bau 59.500 € teurer, die Kosten lägen bei 2.739.156 €.</a:t>
            </a:r>
            <a:endParaRPr lang="en-US" sz="1400" dirty="0"/>
          </a:p>
        </p:txBody>
      </p:sp>
      <p:sp>
        <p:nvSpPr>
          <p:cNvPr id="7" name="Warum Holz oben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92440" y="1783080"/>
            <a:ext cx="30906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und schneller: weniger Last auf dem Klinker-Geschoss, kürzere Bauzeit.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Zimmerei kennt das Haus von Anfang an und plant das Penthouse mit der Terrasse rundum.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Partner (Bauunternehmen unten, Zimmerei oben) können Preise und Termine gemeinsam angeben.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(Holzbau bis Gebäudeklasse 4, Aufzug und Treppenhaus massiv) und Schallschutz muss der Architekt nachweisen.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8463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Staffelgeschoss springt rundum um ca. 1,3 m zurück: Terrasse ca. 90 m² um die drei Penthouses, kein Teil der BGF.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Zwei Geschosse plus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554480" y="5852160"/>
            <a:ext cx="4963363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solidFill>
            <a:srgbClr val="7A5C3A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645920" y="2774290"/>
            <a:ext cx="4500677" cy="93269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5963717" y="3489350"/>
            <a:ext cx="279806" cy="341986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Gastro mit Bar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OG · 3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· 3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371600" y="2774290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59141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371600" y="3831336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6484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786323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7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Ebene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ca. 290 m² mit Bar, Treppenhaus, Aufzug, Technik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Wohnungen à ca.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Wohnungen à ca. 56 m², Holzbau, 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Wohnungen, ca. 423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BGF = Bruttogrundfläche, alle Geschossflächen zusammen. Das Staffelgeschoss in Holzbau springt rundum um ca. 1,3 m zurück, so entsteht eine Terrasse von ca. 90 m² um die Penthouses.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Skizzen der Geschosse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9" name="Raum Fläche"/>
          <p:cNvSpPr/>
          <p:nvPr/>
        </p:nvSpPr>
        <p:spPr>
          <a:xfrm>
            <a:off x="1091794" y="2103120"/>
            <a:ext cx="3077870" cy="2142439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Raum Bar"/>
          <p:cNvSpPr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solidFill>
            <a:srgbClr val="B8865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12" name="Raum Küche"/>
          <p:cNvSpPr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14" name="Raum WC"/>
          <p:cNvSpPr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</a:t>
            </a:r>
            <a:endParaRPr lang="en-US" sz="1100" dirty="0"/>
          </a:p>
        </p:txBody>
      </p:sp>
      <p:sp>
        <p:nvSpPr>
          <p:cNvPr id="16" name="Raum Gastraum, ca. 100 Plätze"/>
          <p:cNvSpPr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Gastraum, ca. 100 Plätze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283964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19" name="Baukörper 1. Obergeschoss"/>
          <p:cNvSpPr/>
          <p:nvPr/>
        </p:nvSpPr>
        <p:spPr>
          <a:xfrm>
            <a:off x="4283964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0" name="Raum Treppe, Aufzug"/>
          <p:cNvSpPr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22" name="Raum WE 1 · 85 m²"/>
          <p:cNvSpPr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 · 85 m²</a:t>
            </a:r>
            <a:endParaRPr lang="en-US" sz="1100" dirty="0"/>
          </a:p>
        </p:txBody>
      </p:sp>
      <p:sp>
        <p:nvSpPr>
          <p:cNvPr id="24" name="Raum WE 2 · 85 m²"/>
          <p:cNvSpPr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2 · 85 m²</a:t>
            </a:r>
            <a:endParaRPr lang="en-US" sz="1100" dirty="0"/>
          </a:p>
        </p:txBody>
      </p:sp>
      <p:sp>
        <p:nvSpPr>
          <p:cNvPr id="26" name="Raum WE 3 · 85 m²"/>
          <p:cNvSpPr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3 · 85 m²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19288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 (Holzbau)</a:t>
            </a:r>
            <a:endParaRPr lang="en-US" sz="1800" dirty="0"/>
          </a:p>
        </p:txBody>
      </p:sp>
      <p:sp>
        <p:nvSpPr>
          <p:cNvPr id="29" name="Baukörper Staffel (Holzbau)"/>
          <p:cNvSpPr/>
          <p:nvPr/>
        </p:nvSpPr>
        <p:spPr>
          <a:xfrm>
            <a:off x="8019288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0" name="Raum Fläche"/>
          <p:cNvSpPr/>
          <p:nvPr/>
        </p:nvSpPr>
        <p:spPr>
          <a:xfrm>
            <a:off x="8019288" y="2103120"/>
            <a:ext cx="3621024" cy="2142439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Raum Treppe"/>
          <p:cNvSpPr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</a:t>
            </a:r>
            <a:endParaRPr lang="en-US" sz="1100" dirty="0"/>
          </a:p>
        </p:txBody>
      </p:sp>
      <p:sp>
        <p:nvSpPr>
          <p:cNvPr id="33" name="Raum WE 4 · 56 m²"/>
          <p:cNvSpPr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4 · 56 m²</a:t>
            </a:r>
            <a:endParaRPr lang="en-US" sz="1100" dirty="0"/>
          </a:p>
        </p:txBody>
      </p:sp>
      <p:sp>
        <p:nvSpPr>
          <p:cNvPr id="35" name="Raum WE 5 · 56 m²"/>
          <p:cNvSpPr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5 · 56 m²</a:t>
            </a:r>
            <a:endParaRPr lang="en-US" sz="1100" dirty="0"/>
          </a:p>
        </p:txBody>
      </p:sp>
      <p:sp>
        <p:nvSpPr>
          <p:cNvPr id="37" name="Raum WE 6 · 56 m²"/>
          <p:cNvSpPr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6 · 56 m²</a:t>
            </a:r>
            <a:endParaRPr lang="en-US" sz="1100" dirty="0"/>
          </a:p>
        </p:txBody>
      </p:sp>
      <p:sp>
        <p:nvSpPr>
          <p:cNvPr id="39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Grundfläche 24 × 14,2 m = 340 m², das passt in das geschätzte Baufenster. Treppenhaus und Aufzug liegen am Westende und erschließen die Wohnungen getrennt von der Gastro. Die Staffel in Holzbau hat ca. 250 m² BGF, die beige Fläche ist die Terrasse (ca. 90 m²) rundum um die Penthouses.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Modern, Klinker, Milchglas und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Klinker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Holzbau, Terrasse rundum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Balkone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bodentiefe Fenster, Milchglas-Brüstungen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Glas-EG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Große Gastro mit Bar, neu und modern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Konzeptskizze: Grundriss der Gastro mit Bar, Wandansicht und Materialpalet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7498080" cy="4686300"/>
          </a:xfrm>
          <a:prstGeom prst="rect">
            <a:avLst/>
          </a:prstGeom>
        </p:spPr>
      </p:pic>
      <p:pic>
        <p:nvPicPr>
          <p:cNvPr id="6" name="Image 1" descr="Visualisierung Innenrau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280160"/>
            <a:ext cx="3319272" cy="222199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54787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93192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100 Plätze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3159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innen, plus ca. 32 auf der Terrasse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70916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0017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Barhocker, Polsterbänke, Backbar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48640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8321040" y="56875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Olivgrün, Cognac-Samt, Bordeaux, Eiche, schwarzer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Visualisierungen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514344" cy="2080260"/>
          </a:xfrm>
          <a:prstGeom prst="rect">
            <a:avLst/>
          </a:prstGeom>
        </p:spPr>
      </p:pic>
      <p:pic>
        <p:nvPicPr>
          <p:cNvPr id="6" name="Image 1" descr="Visualisierung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1325880"/>
            <a:ext cx="3514344" cy="2080260"/>
          </a:xfrm>
          <a:prstGeom prst="rect">
            <a:avLst/>
          </a:prstGeom>
        </p:spPr>
      </p:pic>
      <p:pic>
        <p:nvPicPr>
          <p:cNvPr id="7" name="Image 2" descr="Visualisierung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968" y="1325880"/>
            <a:ext cx="3514344" cy="2080260"/>
          </a:xfrm>
          <a:prstGeom prst="rect">
            <a:avLst/>
          </a:prstGeom>
        </p:spPr>
      </p:pic>
      <p:pic>
        <p:nvPicPr>
          <p:cNvPr id="8" name="Image 3" descr="Visualisierung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680460"/>
            <a:ext cx="3514344" cy="2080260"/>
          </a:xfrm>
          <a:prstGeom prst="rect">
            <a:avLst/>
          </a:prstGeom>
        </p:spPr>
      </p:pic>
      <p:pic>
        <p:nvPicPr>
          <p:cNvPr id="9" name="Image 4" descr="Visualisierung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7304" y="3680460"/>
            <a:ext cx="3514344" cy="208026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KI-generierte Visualisierungen zur Orientierung (neu erzeugt, mit Milchglas-Brüstungen), Maße und Details folgen mit dem Architekten.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 sind der Knackpunkt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Vorschlag für die Stadt</a:t>
            </a:r>
            <a:endParaRPr lang="en-US" sz="19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ca. 29 Stellplätze, auf dem Grundstück passen ca. 10–13.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Gesamtkosten ohne Förderung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19456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inkl. Steuer, Notar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× 230 € + ca. 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236.256 €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Bau, Massivbau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 × 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Abschlag Holzbau (Staffelgeschoss)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m² × 400 € günstiger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− 100.000 €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m² × 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Baunebenkosten (Architekt, Statik, Gebühren)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 vom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297.975 €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Gastro-Ausbau (Küche, Bar, Möbel, Technik)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Annahme, Posten im Anhang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7772400" y="1280160"/>
          <a:ext cx="39319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3035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sind ca. 2.872 € pro m² BGF.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Finanzierung zu 100 % ohne Eigenkapital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4" name="Tabelle Finanzi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in der Bauzeit (15 Monate)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57.632 €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70.053 €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Bereitstellungszinsen (3 % p. a. ab Monat 7)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im Aufschub-Jahr (keine Rate)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92.022 €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112.408 €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Kredit bei Start der Rate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2.838.644 €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2.871.450 €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Tilgung (Rückzahlung der Schuld)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e"/>
          <p:cNvSpPr/>
          <p:nvPr/>
        </p:nvSpPr>
        <p:spPr>
          <a:xfrm>
            <a:off x="8503920" y="1371600"/>
            <a:ext cx="3136392" cy="4114800"/>
          </a:xfrm>
          <a:prstGeom prst="roundRect">
            <a:avLst>
              <a:gd name="adj" fmla="val 23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732520" y="1554480"/>
            <a:ext cx="267919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 Mitte 2027, 15 Monate Bauzeit, gleichmäßiger Abruf.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Plan: 3,3 % Mischzins aus Förderkrediten (Annahme).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Ausgang: 4,0 % bei 10 Jahren Zinsbindung (Stand 17.09.2026).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pro Monat übrig bleibt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5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Monat, Plan, ohne Förderung,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Wohnungen: je 950 € Kaltmiete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Gastro-Pacht: 290 m² × 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Gastro-Gewinn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(Zinsen und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Dein Lohn (wird vorerst nicht gerechnet)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Rücklagen (10 % der Miete und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Cashflow" descr=""/>
          <p:cNvGraphicFramePr/>
          <p:nvPr/>
        </p:nvGraphicFramePr>
        <p:xfrm>
          <a:off x="7406640" y="1280160"/>
          <a:ext cx="4297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486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Lohn des Bauherrn. Die ca. 3.100 € Tilgung in der Rate sind Vermögensaufbau (Schuld sinkt), kein Verlust.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Förderung entscheidet über das Ergebnis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6" name="Tabelle Szenari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1920240"/>
                <a:gridCol w="2103120"/>
                <a:gridCol w="1920240"/>
                <a:gridCol w="16733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+8.068 €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2.537.194 €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9.663 €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+10.369 €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+8.666 €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2.403.658 €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+9.264 €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2.270.121 €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8.646 €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2.136.585 €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+10.460 €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2.003.048 €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+12.403 €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+11.059 €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Förderung" descr=""/>
          <p:cNvGraphicFramePr/>
          <p:nvPr/>
        </p:nvGraphicFramePr>
        <p:xfrm>
          <a:off x="548640" y="4343400"/>
          <a:ext cx="6858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7680960" y="4572000"/>
            <a:ext cx="39593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5 Prozentpunkte Förderung steigt das Ergebnis um ca. 509 € im Monat. Gastro-Umsatz 50.000 €, nach Rücklagen, ohne Lohn.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viel Umsatz braucht die Gastro?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7" name="Tabelle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9966"/>
                <a:gridCol w="1559966"/>
                <a:gridCol w="1559966"/>
                <a:gridCol w="1559966"/>
                <a:gridCol w="1559966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 (Plan 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+8.335 €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+12.910 €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+7.827 €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+9.352 €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+12.402 €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+13.927 €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+12.911 €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+14.436 €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+8.845 €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+10.370 €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+13.420 €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+14.945 €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(Ergebnis = 0, ohne Lohn)</a:t>
            </a:r>
            <a:endParaRPr lang="en-US" sz="1800" dirty="0"/>
          </a:p>
        </p:txBody>
      </p:sp>
      <p:graphicFrame>
        <p:nvGraphicFramePr>
          <p:cNvPr id="33" name="Tabelle Break-ev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0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9958"/>
                <a:gridCol w="1949958"/>
                <a:gridCol w="1949958"/>
                <a:gridCol w="194995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Plan, 3,3 %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Ausgang, 4,0 %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23.549 €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19.626 €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17.665 €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15.703 €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Weg zu Plus: Hebel nacheinander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8" name="Tabelle Pfa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146304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Schritt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Ausgangslage (40.000 € Umsatz, keine Förderung)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+5.018 €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Baukosten 2.000 €/m² statt 2.200 € (Bekanntenpreis)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+9.028 €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+7.625 €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Gastro-Ausbau nur 100.000 € statt 150.000 €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+9.189 €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+7.815 €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Gastro-Umsatz 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+10.714 €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+9.340 €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Tilgung 0 % (nur Zinsen) in den ersten Jahren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+12.526 €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+11.174 €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Fazit Pfad"/>
          <p:cNvSpPr/>
          <p:nvPr/>
        </p:nvSpPr>
        <p:spPr>
          <a:xfrm>
            <a:off x="8595360" y="1280160"/>
            <a:ext cx="3044952" cy="42976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463040"/>
            <a:ext cx="258775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Mindestpaket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Lohn des Bauherrn liegt schon die Ausgangslage mit 40.000 € Umsatz im Plus, Förderung und günstige Preise geben zusätzlichen Puffer.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Konto, kein Gewinn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Tilgung 0 % verbessert das Konto, nicht das Haus.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303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Grundsteuer, Gebäudeversicherung und Betriebskosten legt ihr über die Nebenkosten auf die Mieter um. Hausverwaltung und Instandhaltung (nicht umlagefähig) deckt die Rücklage von 10 %.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 an die Familie: Rechnung je Partei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19" name="Tabelle Verkauf je Partei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377440"/>
                <a:gridCol w="2377440"/>
                <a:gridCol w="231343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Du: Gastro im 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(Selbstkosten)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1.096.573 €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je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(3,3 % + 1 %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 (nach 10 % Rücklagen)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+11.074 €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Preis, bei dem das Ergebnis 0 € ist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211.211 €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211.211 €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Lücke zum Selbstkostenpreis (ohne Eigenkapital)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104.313 €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mit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16636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Rechnung für den Gastro-Teil gilt bei 50.000 € Umsatz ohne Lohn des Bauherrn, Break-even ab 14.000 €. Die Wohnungen tragen sich bei 11,18 €/m² Miete erst ab einem Preis von ca. 2.640 € je m².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Staffel-Wohnung (56 m²) kostet bei 950 € Miete 17 €/m², bei Marktmiete (11,18 €/m²) wären es 626 € und das Ergebnis −233 €.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Ziel: 250 € Plus für jede Wohnung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20" name="Tabelle Ziel 250 Euro Plu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2194560"/>
                <a:gridCol w="2194560"/>
                <a:gridCol w="20391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Verkaufspreis an die Verwandten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206.986 €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206.986 €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Deine Selbstkosten je 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1.096.573 €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je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Nachlass, den du trägst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108.538 €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 332.242 €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 (Miete nach 10 % Rücklagen / Gastro-Gewinn)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(Zinsen)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−5.148 €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+10.102 €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12064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 Anteil: Rate für das Gastro-EG 4.176 € (1 % Tilgung) plus Zinsen für die Differenz 971 €. Der Preis von ca. 207.000 € liegt nahe an dem, was Neubauwohnungen dieser Größe in Werlte kosten.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4,0 % Zins sinkt der Preis für 250 € Plus auf ca. 168.813 € (1.986 € je m²), dein Ergebnis auf +8.326 €. Bei Variante B / C beträgt der Nachlass je 85-m²-Wohnung im OG ca. 90.258 € / 85.647 €.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Verkaufsplan: wer bekommt welche Wohnung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21" name="Tabelle Verkaufs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54480"/>
                <a:gridCol w="1325880"/>
                <a:gridCol w="1280160"/>
                <a:gridCol w="1234440"/>
                <a:gridCol w="1188720"/>
                <a:gridCol w="1188720"/>
                <a:gridCol w="13075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Partei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Verkaufspreis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Selbstkosten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Differenz (du)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Notar, Steuer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(Zinsen)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Vater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253.241 €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62.284 €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5.065 €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Bruder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241.407 €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74.117 €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16.898 €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 (eigene Wohnung)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Onkel 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14.644 €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Onkel 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14.644 €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Onkel 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14.644 €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75488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Staffel-Wohnungen gehen zum Selbstkostenpreis, die OG-Wohnungen von Vater und Bruder werden so gesenkt, dass sie mindestens +100 € im Monat haben. Die Differenz von 136.401 € trägst du, die Zinsen darauf kosten 399 € im Monat.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 Ergebnis: Gastro 15.250 € minus Rate für das EG 4.176 € minus Zinsen auf die Differenz 399 € plus deine eigene Wohnung −67 € = +10.608 € pro Monat (ohne Lohn).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Verkaufsplan: Ablauf und offene Punkte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258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130759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 und Preise klären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130759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Stadt: Städtebauförderung und Grundstückspreis. Bauunternehmen und Zimmerei: Festpreis je m².</a:t>
            </a:r>
            <a:endParaRPr lang="en-US" sz="1250" dirty="0"/>
          </a:p>
        </p:txBody>
      </p:sp>
      <p:sp>
        <p:nvSpPr>
          <p:cNvPr id="9" name="Schritt 2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208483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Bauvoranfrage / Bauantrag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208483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Staffelgeschoss, Flachdach, Höhe und Stellplätze schriftlich bestätigen lassen.</a:t>
            </a:r>
            <a:endParaRPr lang="en-US" sz="1250" dirty="0"/>
          </a:p>
        </p:txBody>
      </p:sp>
      <p:sp>
        <p:nvSpPr>
          <p:cNvPr id="13" name="Schritt 3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286207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Teilungserklärung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663440" y="286207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Aufteilung in Wohnungseigentum (6 Wohnungen und Gastro-EG), Hausverwaltung bestimmen.</a:t>
            </a:r>
            <a:endParaRPr lang="en-US" sz="1250" dirty="0"/>
          </a:p>
        </p:txBody>
      </p:sp>
      <p:sp>
        <p:nvSpPr>
          <p:cNvPr id="17" name="Schritt 4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36393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Finanzierung je Käufer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663440" y="363931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Bankzusage für jeden Käufer, ohne Eigenkapital und nach den neuen Käufen der letzten zwei Jahre schwer.</a:t>
            </a:r>
            <a:endParaRPr lang="en-US" sz="1250" dirty="0"/>
          </a:p>
        </p:txBody>
      </p:sp>
      <p:sp>
        <p:nvSpPr>
          <p:cNvPr id="21" name="Schritt 5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44165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Notarverträge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663440" y="441655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Verkauf vor dem Bau gilt als Bauträgergeschäft, Erlaubnis nach § 34c GewO und Sicherheiten klären.</a:t>
            </a:r>
            <a:endParaRPr lang="en-US" sz="1250" dirty="0"/>
          </a:p>
        </p:txBody>
      </p:sp>
      <p:sp>
        <p:nvSpPr>
          <p:cNvPr id="25" name="Schritt 6"/>
          <p:cNvSpPr/>
          <p:nvPr/>
        </p:nvSpPr>
        <p:spPr>
          <a:xfrm>
            <a:off x="548640" y="52120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1234440" y="519379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und Übergabe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663440" y="519379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ca. 15 Monate, danach Abnahme und Übergabe, Vermietung der Wohnungen.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Risiken und was wir dagegen tun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Miete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950 € je Wohnung (ca. 12–15 €/m²) liegt über den Portalwerten für Neubau in Werlte (ca. 11 €/m²). Gegenmaßnahme: Vergleichsangebote, Vorvermietung.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Gastro-Umsatz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Gastro braucht ab ca. 18.000 € Umsatz, bei 4 % Zins ca. 24.000 €. Gegenmaßnahme: Konzept, Pacht-Staffel, Lohn des Bauherrn bewusst ausgeklammert.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10 Jahren Zinsbindung ist der Folgezins offen. Gegenmaßnahme: Förderkredite,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und Flachdach müssen von der Stadt bestätigt werden. Gegenmaßnahme: Vorabstimmung, Plan B mit Satteldach.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ich von der Stadt brauche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orderung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Städtebauförderung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10 % Förderung bringen ca. +1.017 € im Monat</a:t>
            </a:r>
            <a:endParaRPr lang="en-US" sz="1400" dirty="0"/>
          </a:p>
        </p:txBody>
      </p:sp>
      <p:sp>
        <p:nvSpPr>
          <p:cNvPr id="8" name="Forderung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Grundstückspreis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30 € weniger pro m² bringen ca. +119 € im Monat</a:t>
            </a:r>
            <a:endParaRPr lang="en-US" sz="1400" dirty="0"/>
          </a:p>
        </p:txBody>
      </p:sp>
      <p:sp>
        <p:nvSpPr>
          <p:cNvPr id="11" name="Forderung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Pacht oder Mietzuschuss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1.000 € Zuschuss im Monat sind 1.000 € mehr im Monat</a:t>
            </a:r>
            <a:endParaRPr lang="en-US" sz="1400" dirty="0"/>
          </a:p>
        </p:txBody>
      </p:sp>
      <p:sp>
        <p:nvSpPr>
          <p:cNvPr id="14" name="Forderung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7" name="Forderung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Staffelgeschoss, Flachdach und Höhe schriftlich bestätigen</a:t>
            </a:r>
            <a:endParaRPr lang="en-US" sz="1400" dirty="0"/>
          </a:p>
        </p:txBody>
      </p:sp>
      <p:sp>
        <p:nvSpPr>
          <p:cNvPr id="20" name="Forderung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Zinsvorteil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0,5 % weniger Zins bringen ca. +1.256 € im Monat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Bank: Finanzierung, Aufschub, Förderkredite anfragen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Städtebaulicher Vertrag, Bauantrag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1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Anhang</a:t>
            </a:r>
            <a:endParaRPr lang="en-US" sz="4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Annahmen, Gastro-Kosten, Gastro-Ausbau, Mietdaten, Vergleich mit Variante B und C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Rechenannahmen und offene Punkte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930 m² BGF × 2.200 €, Staffel in Holzbau 400 €/m² günstiger, Terrasse 90 m² × 450 €,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 Fremdfinanzierung, 1 % Tilgung, Aufschub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 Plan 3,3 % (Förderkredite, Annahme), Ausgang 4,0 %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Gastro-Umsatz 50.000 €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Wohnungen zu je 950 € Kaltmiete, Gastro-Pacht 12 €/m²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Lohn des Bauherrn wird vorerst nicht gerechnet,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 als Zuschuss in % der Gesamtkosten (Annahme)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Nebenkosten (Grundsteuer, Versicherung, Betriebskosten) werden auf die Mieter umgelegt, die Hausverwaltung deckt die Rücklage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Offen: Baufenster, Staffelgeschoss, Höhen, Stellplatzsatzung, Zins nach 10 Jahren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Gastro: Kosten pro Monat bei 50.000 € Umsatz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8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Richtwert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Wareneinsatz (Einkauf Essen und Getränke)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 (ohne Chef-Lohn)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ans Haus (290 m² × 12 €)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Energie, Wasser, Müll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Reinigung, Wäsche, Verbrauchsmaterial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Werbung und Marketing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Reparaturen, Wartung, Kassensystem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Sonstiges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Versicherungen, GEMA, Gebühren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Steuerberater, Buchhaltung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Pacht, vor Lohn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Gastro-Ausbau nach Posten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9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(Herd, Kühlräume, Edelstahl,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100 Plätze, Lounge)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150.000 €)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Baunebenkosten von 15 % fallen auf Möbel und Geräte nicht an, die Planung steckt als eigener Posten drin. Eine erste Schätzung für einen aufwendigeren Ausbau lag bei ca. 310.000 €, der Unterschied liegt vor allem bei Küche, Möbeln und Theke.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Mietdaten für Werlte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0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für Werlte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ImmoScout24 (Wohnungen, Durchschnitt)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miete-aktuell.de (Kaltmiete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8,13 €/m²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(14 Inserate, Spanne 6,09–14,48 €)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(Neubau)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10,73–11,02 €/m²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Landkreis Emsland (ImmoScout24, Q2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Wohnungen zu 950 € Kaltmiete (Bauherr, zentrale Lage), das sind bei ca. 75 m² etwa 12,70 €/m². Gastro-Pacht 12 €/m²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Vergleich: Variante A, B und C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1" name="Tabelle Varianten B und 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A: 340 m², 2+Staffel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B: 540 m², 2+Staffel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C: 540 m², 3+Holz-Penthouse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Bruttofläche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Wohnfläche /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 m² / 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738 m² / ca. 8–9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1.153 m² / ca. 13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/ Büro im 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150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150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4.050.156 €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5.416.356 €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(ein Kredit)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20.615 €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+8.257 €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+7.234 €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Break-even-Umsatz Gastro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22.929 €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26.281 €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4,0 % 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+8.068 €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+5.542 €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+3.606 €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 je m² Wohnfläche, Regelgeschoss / 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3.712 € / 3.736 €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3.497 € / 3.089 €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3.443 € / 3.034 €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85-m²-Wohnung im Regelgeschoss: Ergebnis (eigener Kredit)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Preis-Lücke je 85-m²-Wohnung im Regelgeschoss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104.313 €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86.033 €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81.422 €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B und C"/>
          <p:cNvSpPr/>
          <p:nvPr/>
        </p:nvSpPr>
        <p:spPr>
          <a:xfrm>
            <a:off x="9326880" y="1280160"/>
            <a:ext cx="2313432" cy="4572000"/>
          </a:xfrm>
          <a:prstGeom prst="roundRect">
            <a:avLst>
              <a:gd name="adj" fmla="val 3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509760" y="1463040"/>
            <a:ext cx="1947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540 m² (Gastro 290 m², Büro 150 m²), Regelgeschosse je 540 m², Staffel 420 m² in Holzbau mit 120 m² Terrasse. Büro 10 €/m², Wohnen 11,18 €/m².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klären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Baufenster, zwei Vollgeschosse, bei C drei Vollgeschosse und ca. 13 m Höhe statt 12 m, deutlich mehr Stellplätze.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 und 6 Wohnungen</dc:title>
  <dc:subject>PptxGenJS Presentation</dc:subject>
  <dc:creator>Bessam Hasso</dc:creator>
  <cp:lastModifiedBy>Bessam Hasso</cp:lastModifiedBy>
  <cp:revision>1</cp:revision>
  <dcterms:created xsi:type="dcterms:W3CDTF">2026-10-16T06:08:01Z</dcterms:created>
  <dcterms:modified xsi:type="dcterms:W3CDTF">2026-10-16T06:08:01Z</dcterms:modified>
</cp:coreProperties>
</file>