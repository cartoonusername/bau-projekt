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8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3B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A3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Bedarf (Annahme)</c:v>
                  </c:pt>
                  <c:pt idx="1">
                    <c:v>Platz auf dem Grundstück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</c:v>
                </c:pt>
                <c:pt idx="1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Kosten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49A45"/>
              </a:solidFill>
              <a:effectLst/>
            </c:spPr>
          </c:dPt>
          <c:dPt>
            <c:idx val="1"/>
            <c:bubble3D val="0"/>
            <c:spPr>
              <a:solidFill>
                <a:srgbClr val="8C3B32"/>
              </a:solidFill>
              <a:effectLst/>
            </c:spPr>
          </c:dPt>
          <c:dPt>
            <c:idx val="2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bubble3D val="0"/>
            <c:spPr>
              <a:solidFill>
                <a:srgbClr val="2F4A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Grundstück</c:v>
                </c:pt>
                <c:pt idx="1">
                  <c:v>Bau</c:v>
                </c:pt>
                <c:pt idx="2">
                  <c:v>Baunebenkosten</c:v>
                </c:pt>
                <c:pt idx="3">
                  <c:v>Gastro-Ausbau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236256</c:v>
                </c:pt>
                <c:pt idx="1">
                  <c:v>2592000</c:v>
                </c:pt>
                <c:pt idx="2">
                  <c:v>388800</c:v>
                </c:pt>
                <c:pt idx="3">
                  <c:v>310000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Euro pro Monat</c:v>
                </c:pt>
              </c:strCache>
            </c:strRef>
          </c:tx>
          <c:spPr>
            <a:solidFill>
              <a:srgbClr val="2E7D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Miete</c:v>
                  </c:pt>
                  <c:pt idx="1">
                    <c:v>Gastro</c:v>
                  </c:pt>
                  <c:pt idx="2">
                    <c:v>Rate</c:v>
                  </c:pt>
                  <c:pt idx="3">
                    <c:v>Lohn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9180</c:v>
                </c:pt>
                <c:pt idx="1">
                  <c:v>11770</c:v>
                </c:pt>
                <c:pt idx="2">
                  <c:v>-13429</c:v>
                </c:pt>
                <c:pt idx="3">
                  <c:v>-6918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 (3,3 %)</c:v>
                </c:pt>
              </c:strCache>
            </c:strRef>
          </c:tx>
          <c:spPr>
            <a:solidFill>
              <a:srgbClr val="2F4A3E"/>
            </a:solidFill>
            <a:ln w="38100" cap="flat">
              <a:solidFill>
                <a:srgbClr val="2F4A3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F4A3E"/>
              </a:solidFill>
              <a:ln w="9525" cap="flat">
                <a:solidFill>
                  <a:srgbClr val="2F4A3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603</c:v>
                </c:pt>
                <c:pt idx="1">
                  <c:v>1274</c:v>
                </c:pt>
                <c:pt idx="2">
                  <c:v>1946</c:v>
                </c:pt>
                <c:pt idx="3">
                  <c:v>2617</c:v>
                </c:pt>
                <c:pt idx="4">
                  <c:v>3289</c:v>
                </c:pt>
                <c:pt idx="5">
                  <c:v>3960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Ausgang (4,0 %)</c:v>
                </c:pt>
              </c:strCache>
            </c:strRef>
          </c:tx>
          <c:spPr>
            <a:solidFill>
              <a:srgbClr val="8C3B32"/>
            </a:solidFill>
            <a:ln w="38100" cap="flat">
              <a:solidFill>
                <a:srgbClr val="8C3B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C3B32"/>
              </a:solidFill>
              <a:ln w="9525" cap="flat">
                <a:solidFill>
                  <a:srgbClr val="8C3B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-1762</c:v>
                </c:pt>
                <c:pt idx="1">
                  <c:v>-972</c:v>
                </c:pt>
                <c:pt idx="2">
                  <c:v>-183</c:v>
                </c:pt>
                <c:pt idx="3">
                  <c:v>607</c:v>
                </c:pt>
                <c:pt idx="4">
                  <c:v>1397</c:v>
                </c:pt>
                <c:pt idx="5">
                  <c:v>2186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Das Bild ist eine Referenzstudie.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Kernaussage: Das Haus trägt sich mit Förderung und einer gut laufenden Gastro.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Quelle: Konzeptheft Neue Mitte Werlte (Seiten 13, 16 und 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Festsetzungen aus Bebauungsplan Nr. 123 (Entwurf). Zulässigkeit von Staffelgeschoss und Flachdach muss die Stadt schriftlich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Schnitt schematisch. Hauptbaukörper bis 6,50 m, Staffelgeschoss bis ca. 9,60 m, Attika ca. 9,90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Skizzen, nicht maßstäblich genau. Aufteilung wird mit dem Architekten verfeinert.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Referenzstudie, rechts unsere Eckansicht als Skizze.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Konzeptskizze, Planung folgt mit dem Gastro-Fachplaner.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Bedarf nach groben Annahmen (1,5 pro Wohnung, 1 je 10 m² Gastraum bei ca. 200 m²). Die Stellplatzsatzung der Stadt gilt verbindlich.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Baukosten 2.700 €/m² BGF und 15 % Baunebenkosten sind Annahmen und müssen durch Architekt und Angebote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Zinsen in der Bauzeit und im Aufschub werden dem Kredit zugeschlagen. Der Aufschub von 12 Monaten muss mit der Bank verhandelt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Mieten: 6 Wohnungen zu je 950 € Kaltmiete (Annahme des Bauherrn). Gastro-Marge nach Branchen-Richtwerten.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Gastro-Umsatz 50.000 €. Förderung als Zuschuss in Prozent der Kosten, der den Kredit von Anfang an verkleinert (Annahme).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Gastro-Marge vor Pacht 30,5 % vom Umsatz (Branchen-Richtwert, nicht aus Werlte). Break-even = Ergebnis nach Lohn genau null.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Startpunkt ist die vorsichtige Annahme von 40.000 € Umsatz ohne Förderung. Die Hebel sind Ziele für die Verhandlung,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Miete von 950 € je Wohnung ist eine Annahme des Bauherrn, Marktdaten für Werlte liegen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Wirkungen gerechnet mit dem Modell (Plan 3,3 %, ohne Förderung als Basis).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der Stadt aus dem Konzeptheft, Bauantrag und Förderzusagen sind meine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sind Planungsannahmen,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Prozentwerte sind Branchen-Richtwerte aus meiner Einschätzung, nicht aus Quellen für Werlte.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eigene Schätzungen, ein Gastro-Fachplaner und Angebote von Küchen- und Lüftungsbauern müssen sie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gibt keinen amtlichen Mietspiegel für Werlte, die Portale arbeiten mit kleinen Stichproben.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ferenzstudie Außenansicht, modernes Haus mit Klinker und Glas-Erdgeschos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NEUE MITTE WERLTE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Baufeld 3: Große Gastro und 6 Wohnungen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Baukonzept und Wirtschaftlichkeit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Bessam Hasso, Werlte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Bebauungsplan Nr. 123, 1. Änderung (Entwurf 25.08.2026)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Oktober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Vorhaben auf einen Blick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ennzahl Gesamtkosten (ohne Bauzeitzinsen)"/>
          <p:cNvSpPr/>
          <p:nvPr/>
        </p:nvSpPr>
        <p:spPr>
          <a:xfrm>
            <a:off x="548640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3,53 Mio. €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Gesamtkosten (ohne Bauzeitzinsen)</a:t>
            </a:r>
            <a:endParaRPr lang="en-US" sz="1400" dirty="0"/>
          </a:p>
        </p:txBody>
      </p:sp>
      <p:sp>
        <p:nvSpPr>
          <p:cNvPr id="8" name="Kennzahl Wohnungen und eine Gastro von ca. 290 m² im ganzen EG"/>
          <p:cNvSpPr/>
          <p:nvPr/>
        </p:nvSpPr>
        <p:spPr>
          <a:xfrm>
            <a:off x="3367278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0158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3550158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Wohnungen und eine Gastro von ca. 290 m² im ganzen EG</a:t>
            </a:r>
            <a:endParaRPr lang="en-US" sz="1400" dirty="0"/>
          </a:p>
        </p:txBody>
      </p:sp>
      <p:sp>
        <p:nvSpPr>
          <p:cNvPr id="11" name="Kennzahl Rate pro Monat (3,3 %, ohne Förderung)"/>
          <p:cNvSpPr/>
          <p:nvPr/>
        </p:nvSpPr>
        <p:spPr>
          <a:xfrm>
            <a:off x="6185916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68796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13.429 €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6368796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pro Monat (3,3 %, ohne Förderung)</a:t>
            </a:r>
            <a:endParaRPr lang="en-US" sz="1400" dirty="0"/>
          </a:p>
        </p:txBody>
      </p:sp>
      <p:sp>
        <p:nvSpPr>
          <p:cNvPr id="14" name="Kennzahl Ergebnis pro Monat bei 50.000 € Umsatz"/>
          <p:cNvSpPr/>
          <p:nvPr/>
        </p:nvSpPr>
        <p:spPr>
          <a:xfrm>
            <a:off x="9004554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+603 €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9187434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pro Monat bei 50.000 € Umsatz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pro Monat nach Lohn bei 50.000 € Gastro-Umsatz (Plan, 3,3 % Zins)</a:t>
            </a:r>
            <a:endParaRPr lang="en-US" sz="1600" dirty="0"/>
          </a:p>
        </p:txBody>
      </p:sp>
      <p:graphicFrame>
        <p:nvGraphicFramePr>
          <p:cNvPr id="3" name="Tabelle Förd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13332"/>
                <a:gridCol w="1513332"/>
                <a:gridCol w="1513332"/>
                <a:gridCol w="1513332"/>
                <a:gridCol w="1513332"/>
                <a:gridCol w="15133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Ergebnis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+603 €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+1.274 €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+1.946 €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+2.617 €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+3.289 €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+3.960 €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457200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Schon ohne Förderung im Plus, aber knapp.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Break-even-Umsatz ohne Förderung ca. 48.000 € im Monat. Dazu kommt eine Anlaufphase von 12 Monaten ohne Rate (Aufschub).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Eckgrundstück an der neuen Mitte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akt 1"/>
          <p:cNvSpPr/>
          <p:nvPr/>
        </p:nvSpPr>
        <p:spPr>
          <a:xfrm>
            <a:off x="548640" y="137160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960 m²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Baufeld 3, östlich des Rathauses, südlich der Planstraße</a:t>
            </a:r>
            <a:endParaRPr lang="en-US" sz="1400" dirty="0"/>
          </a:p>
        </p:txBody>
      </p:sp>
      <p:sp>
        <p:nvSpPr>
          <p:cNvPr id="8" name="Fakt 2"/>
          <p:cNvSpPr/>
          <p:nvPr/>
        </p:nvSpPr>
        <p:spPr>
          <a:xfrm>
            <a:off x="548640" y="265176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743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Mischgebiet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46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Gewerbe im EG erwünscht, Stellplätze auf dem Grundstück</a:t>
            </a:r>
            <a:endParaRPr lang="en-US" sz="1400" dirty="0"/>
          </a:p>
        </p:txBody>
      </p:sp>
      <p:sp>
        <p:nvSpPr>
          <p:cNvPr id="11" name="Fakt 3"/>
          <p:cNvSpPr/>
          <p:nvPr/>
        </p:nvSpPr>
        <p:spPr>
          <a:xfrm>
            <a:off x="548640" y="393192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Baureife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526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liegt vor, Baubeginn jederzeit möglich</a:t>
            </a:r>
            <a:endParaRPr lang="en-US" sz="1400" dirty="0"/>
          </a:p>
        </p:txBody>
      </p:sp>
      <p:sp>
        <p:nvSpPr>
          <p:cNvPr id="14" name="Zeitleiste"/>
          <p:cNvSpPr/>
          <p:nvPr/>
        </p:nvSpPr>
        <p:spPr>
          <a:xfrm>
            <a:off x="6263640" y="1508760"/>
            <a:ext cx="0" cy="4023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Punkt 1"/>
          <p:cNvSpPr/>
          <p:nvPr/>
        </p:nvSpPr>
        <p:spPr>
          <a:xfrm>
            <a:off x="6126480" y="141732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Stellplatz alte Grundschule</a:t>
            </a:r>
            <a:endParaRPr lang="en-US" sz="1400" dirty="0"/>
          </a:p>
        </p:txBody>
      </p:sp>
      <p:sp>
        <p:nvSpPr>
          <p:cNvPr id="18" name="Punkt 2"/>
          <p:cNvSpPr/>
          <p:nvPr/>
        </p:nvSpPr>
        <p:spPr>
          <a:xfrm>
            <a:off x="6126480" y="22860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 März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 Planstraße (Erschließung)</a:t>
            </a:r>
            <a:endParaRPr lang="en-US" sz="1400" dirty="0"/>
          </a:p>
        </p:txBody>
      </p:sp>
      <p:sp>
        <p:nvSpPr>
          <p:cNvPr id="21" name="Punkt 3"/>
          <p:cNvSpPr/>
          <p:nvPr/>
        </p:nvSpPr>
        <p:spPr>
          <a:xfrm>
            <a:off x="6126480" y="31546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74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 Baubeginn</a:t>
            </a:r>
            <a:endParaRPr lang="en-US" sz="1400" dirty="0"/>
          </a:p>
        </p:txBody>
      </p:sp>
      <p:sp>
        <p:nvSpPr>
          <p:cNvPr id="24" name="Punkt 4"/>
          <p:cNvSpPr/>
          <p:nvPr/>
        </p:nvSpPr>
        <p:spPr>
          <a:xfrm>
            <a:off x="6126480" y="402336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 Juli 2027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Kreisverkehr Loruper Straße</a:t>
            </a:r>
            <a:endParaRPr lang="en-US" sz="1400" dirty="0"/>
          </a:p>
        </p:txBody>
      </p:sp>
      <p:sp>
        <p:nvSpPr>
          <p:cNvPr id="27" name="Punkt 5"/>
          <p:cNvSpPr/>
          <p:nvPr/>
        </p:nvSpPr>
        <p:spPr>
          <a:xfrm>
            <a:off x="6126480" y="489204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Marktplatz, Rathaus fertig und unsere Eröffnung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der Bebauungsplan vorgibt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Tabelle B-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Festsetzung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Wert im B-Plan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Unser Entwurf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Grundflächenzahl (GRZ)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0,6 → max. 576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340 m² Grundfläche (35 %)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Vollgeschosse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zwei (II im Kreis)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EG und 1. OG, dazu Staffelgeschoss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Traufhöhe / Höhe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6,50 m / 12,00 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Hauptbaukörper 6,50 m, gesamt ca. 9,90 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Dachform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laut Konzeptheft Mischgebiet, Details im Plan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Flachdach mit zurückgesetztem Staffelgeschoss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Baufenster (geschätzt)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27 × 15–17 m = 400–460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24 × 14,2 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Stellplätze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auf dem Grundstück, ausreichende Anzahl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10–13, Rest siehe Stellplatzfolie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Klärungsbedarf"/>
          <p:cNvSpPr/>
          <p:nvPr/>
        </p:nvSpPr>
        <p:spPr>
          <a:xfrm>
            <a:off x="548640" y="493776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Schriftlich klären: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Zählt das Staffelgeschoss (ca. 280 m², das sind 82 % der Fläche darunter) als drittes Vollgeschoss? Ab etwa 2/3 der Fläche darunter wird es meist dazugezählt. Ist die Flachdach-Lösung zulässig?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Zwei Geschosse plus Staffelgeschoss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elände"/>
          <p:cNvSpPr/>
          <p:nvPr/>
        </p:nvSpPr>
        <p:spPr>
          <a:xfrm>
            <a:off x="1554480" y="5852160"/>
            <a:ext cx="4963363" cy="548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chnitt EG"/>
          <p:cNvSpPr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solidFill>
            <a:srgbClr val="F4D58F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chnitt OG"/>
          <p:cNvSpPr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solidFill>
            <a:srgbClr val="9A403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chnitt Staffel"/>
          <p:cNvSpPr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solidFill>
            <a:srgbClr val="3A4047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chnitt Dach"/>
          <p:cNvSpPr/>
          <p:nvPr/>
        </p:nvSpPr>
        <p:spPr>
          <a:xfrm>
            <a:off x="1645920" y="2774290"/>
            <a:ext cx="4500677" cy="93269"/>
          </a:xfrm>
          <a:prstGeom prst="rect">
            <a:avLst/>
          </a:prstGeom>
          <a:solidFill>
            <a:srgbClr val="D6D1C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rüstung"/>
          <p:cNvSpPr/>
          <p:nvPr/>
        </p:nvSpPr>
        <p:spPr>
          <a:xfrm>
            <a:off x="5963717" y="3489350"/>
            <a:ext cx="279806" cy="341986"/>
          </a:xfrm>
          <a:prstGeom prst="rect">
            <a:avLst/>
          </a:prstGeom>
          <a:solidFill>
            <a:srgbClr val="CFE0E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 Gastro mit Bar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OG · 3 Wohnungen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Staffelgeschoss · 3 Wohnungen</a:t>
            </a:r>
            <a:endParaRPr lang="en-US" sz="1400" dirty="0"/>
          </a:p>
        </p:txBody>
      </p:sp>
      <p:sp>
        <p:nvSpPr>
          <p:cNvPr id="14" name="Marke ca. 9,90 m"/>
          <p:cNvSpPr/>
          <p:nvPr/>
        </p:nvSpPr>
        <p:spPr>
          <a:xfrm>
            <a:off x="1371600" y="2774290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48640" y="259141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9,90 m</a:t>
            </a:r>
            <a:endParaRPr lang="en-US" sz="1200" dirty="0"/>
          </a:p>
        </p:txBody>
      </p:sp>
      <p:sp>
        <p:nvSpPr>
          <p:cNvPr id="16" name="Marke 6,50 m"/>
          <p:cNvSpPr/>
          <p:nvPr/>
        </p:nvSpPr>
        <p:spPr>
          <a:xfrm>
            <a:off x="1371600" y="3831336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48640" y="36484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6,50 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786323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82880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</a:t>
            </a:r>
            <a:endParaRPr lang="en-US" sz="1200" dirty="0"/>
          </a:p>
        </p:txBody>
      </p:sp>
      <p:graphicFrame>
        <p:nvGraphicFramePr>
          <p:cNvPr id="6" name="Tabelle Fläch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599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926080"/>
                <a:gridCol w="8503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Ebene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Nutzung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BGF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Gastro ca. 290 m² mit Bar, Treppenhaus, Aufzug, Technik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340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 OG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 Wohnungen à ca. 85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340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Staffel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 Wohnungen à ca. 63 m², Dachterrassen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280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Summe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6 Wohnungen, ca. 445 m² Wohnfläche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960 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040880" y="4937760"/>
            <a:ext cx="4599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BGF = Bruttogrundfläche, alle Geschossflächen zusammen. Das Staffelgeschoss springt zur Südseite um ca. 0,9 m und zur Ostseite um ca. 3 m zurück.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Skizzen der Geschosse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Erdgeschoss</a:t>
            </a:r>
            <a:endParaRPr lang="en-US" sz="1800" dirty="0"/>
          </a:p>
        </p:txBody>
      </p:sp>
      <p:sp>
        <p:nvSpPr>
          <p:cNvPr id="6" name="Baukörper Erdgeschoss"/>
          <p:cNvSpPr/>
          <p:nvPr/>
        </p:nvSpPr>
        <p:spPr>
          <a:xfrm>
            <a:off x="548640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Raum Treppe, Aufzug"/>
          <p:cNvSpPr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9" name="Raum Fläche"/>
          <p:cNvSpPr/>
          <p:nvPr/>
        </p:nvSpPr>
        <p:spPr>
          <a:xfrm>
            <a:off x="1091794" y="2103120"/>
            <a:ext cx="3077870" cy="2142439"/>
          </a:xfrm>
          <a:prstGeom prst="rect">
            <a:avLst/>
          </a:prstGeom>
          <a:solidFill>
            <a:srgbClr val="F2D4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Raum Bar"/>
          <p:cNvSpPr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solidFill>
            <a:srgbClr val="B8865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</a:t>
            </a:r>
            <a:endParaRPr lang="en-US" sz="1100" dirty="0"/>
          </a:p>
        </p:txBody>
      </p:sp>
      <p:sp>
        <p:nvSpPr>
          <p:cNvPr id="12" name="Raum Küche"/>
          <p:cNvSpPr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solidFill>
            <a:srgbClr val="7E8A9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Küche</a:t>
            </a:r>
            <a:endParaRPr lang="en-US" sz="1100" dirty="0"/>
          </a:p>
        </p:txBody>
      </p:sp>
      <p:sp>
        <p:nvSpPr>
          <p:cNvPr id="14" name="Raum WC"/>
          <p:cNvSpPr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</a:t>
            </a:r>
            <a:endParaRPr lang="en-US" sz="1100" dirty="0"/>
          </a:p>
        </p:txBody>
      </p:sp>
      <p:sp>
        <p:nvSpPr>
          <p:cNvPr id="16" name="Raum Gastraum, ca. 100 Plätze"/>
          <p:cNvSpPr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solidFill>
            <a:srgbClr val="E7B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Gastraum, ca. 100 Plätze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283964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Obergeschoss</a:t>
            </a:r>
            <a:endParaRPr lang="en-US" sz="1800" dirty="0"/>
          </a:p>
        </p:txBody>
      </p:sp>
      <p:sp>
        <p:nvSpPr>
          <p:cNvPr id="19" name="Baukörper 1. Obergeschoss"/>
          <p:cNvSpPr/>
          <p:nvPr/>
        </p:nvSpPr>
        <p:spPr>
          <a:xfrm>
            <a:off x="4283964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0" name="Raum Treppe, Aufzug"/>
          <p:cNvSpPr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22" name="Raum WE 1 · 85 m²"/>
          <p:cNvSpPr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1 · 85 m²</a:t>
            </a:r>
            <a:endParaRPr lang="en-US" sz="1100" dirty="0"/>
          </a:p>
        </p:txBody>
      </p:sp>
      <p:sp>
        <p:nvSpPr>
          <p:cNvPr id="24" name="Raum WE 2 · 85 m²"/>
          <p:cNvSpPr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2 · 85 m²</a:t>
            </a:r>
            <a:endParaRPr lang="en-US" sz="1100" dirty="0"/>
          </a:p>
        </p:txBody>
      </p:sp>
      <p:sp>
        <p:nvSpPr>
          <p:cNvPr id="26" name="Raum WE 3 · 85 m²"/>
          <p:cNvSpPr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3 · 85 m²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19288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Staffelgeschoss</a:t>
            </a:r>
            <a:endParaRPr lang="en-US" sz="1800" dirty="0"/>
          </a:p>
        </p:txBody>
      </p:sp>
      <p:sp>
        <p:nvSpPr>
          <p:cNvPr id="29" name="Baukörper Staffelgeschoss"/>
          <p:cNvSpPr/>
          <p:nvPr/>
        </p:nvSpPr>
        <p:spPr>
          <a:xfrm>
            <a:off x="8019288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0" name="Raum Treppe"/>
          <p:cNvSpPr/>
          <p:nvPr/>
        </p:nvSpPr>
        <p:spPr>
          <a:xfrm>
            <a:off x="8019288" y="2103120"/>
            <a:ext cx="543154" cy="2006651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019288" y="2103120"/>
            <a:ext cx="543154" cy="2006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Treppe</a:t>
            </a:r>
            <a:endParaRPr lang="en-US" sz="1100" dirty="0"/>
          </a:p>
        </p:txBody>
      </p:sp>
      <p:sp>
        <p:nvSpPr>
          <p:cNvPr id="32" name="Raum WE 4 · 63 m²"/>
          <p:cNvSpPr/>
          <p:nvPr/>
        </p:nvSpPr>
        <p:spPr>
          <a:xfrm>
            <a:off x="8562442" y="2103120"/>
            <a:ext cx="875081" cy="2006651"/>
          </a:xfrm>
          <a:prstGeom prst="rect">
            <a:avLst/>
          </a:prstGeom>
          <a:solidFill>
            <a:srgbClr val="3A404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562442" y="2103120"/>
            <a:ext cx="875081" cy="2006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4 · 63 m²</a:t>
            </a:r>
            <a:endParaRPr lang="en-US" sz="1100" dirty="0"/>
          </a:p>
        </p:txBody>
      </p:sp>
      <p:sp>
        <p:nvSpPr>
          <p:cNvPr id="34" name="Raum WE 5 · 63 m²"/>
          <p:cNvSpPr/>
          <p:nvPr/>
        </p:nvSpPr>
        <p:spPr>
          <a:xfrm>
            <a:off x="9437522" y="2103120"/>
            <a:ext cx="875081" cy="2006651"/>
          </a:xfrm>
          <a:prstGeom prst="rect">
            <a:avLst/>
          </a:prstGeom>
          <a:solidFill>
            <a:srgbClr val="3A404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437522" y="2103120"/>
            <a:ext cx="875081" cy="2006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5 · 63 m²</a:t>
            </a:r>
            <a:endParaRPr lang="en-US" sz="1100" dirty="0"/>
          </a:p>
        </p:txBody>
      </p:sp>
      <p:sp>
        <p:nvSpPr>
          <p:cNvPr id="36" name="Raum WE 6 · 63 m²"/>
          <p:cNvSpPr/>
          <p:nvPr/>
        </p:nvSpPr>
        <p:spPr>
          <a:xfrm>
            <a:off x="10312603" y="2103120"/>
            <a:ext cx="875081" cy="2006651"/>
          </a:xfrm>
          <a:prstGeom prst="rect">
            <a:avLst/>
          </a:prstGeom>
          <a:solidFill>
            <a:srgbClr val="3A404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312603" y="2103120"/>
            <a:ext cx="875081" cy="2006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6 · 63 m²</a:t>
            </a:r>
            <a:endParaRPr lang="en-US" sz="1100" dirty="0"/>
          </a:p>
        </p:txBody>
      </p:sp>
      <p:sp>
        <p:nvSpPr>
          <p:cNvPr id="38" name="Raum Fläche"/>
          <p:cNvSpPr/>
          <p:nvPr/>
        </p:nvSpPr>
        <p:spPr>
          <a:xfrm>
            <a:off x="11187684" y="2103120"/>
            <a:ext cx="452628" cy="2142439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Raum Fläche"/>
          <p:cNvSpPr/>
          <p:nvPr/>
        </p:nvSpPr>
        <p:spPr>
          <a:xfrm>
            <a:off x="8019288" y="4109771"/>
            <a:ext cx="3168396" cy="135788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Hinweis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77240" y="49834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Grundfläche 24 × 14,2 m = 340 m², das passt in das geschätzte Baufenster. Treppenhaus und Aufzug liegen am Westende und erschließen die Wohnungen getrennt von der Gastro. Die Staffel hat ca. 280 m² BGF, die beigen Flächen sind Dachterrassen.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Modern, Klinker, Glas und Staffelgeschoss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Referenzstudie Außenansic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5394960" cy="3008376"/>
          </a:xfrm>
          <a:prstGeom prst="rect">
            <a:avLst/>
          </a:prstGeom>
        </p:spPr>
      </p:pic>
      <p:pic>
        <p:nvPicPr>
          <p:cNvPr id="6" name="Image 1" descr="Eckansicht als Skizze: Flachdach mit Staffelgeschoss, Balkone, vollverglastes Erdgeschos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394960" cy="337413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343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Referenzstudie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17920" y="46817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Unsere Skizze (Eckansicht)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Klinker</a:t>
            </a:r>
            <a:endParaRPr lang="en-US" sz="1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dunkel, Langformat, passend zum Umfeld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37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Staffelgeschoss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Zink und Glas, Dachterrassen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Balkone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bodentiefe Fenster mit Glasbrüstung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91540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Glas-EG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89154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Gastro mit Bar, Terrasse und Vordach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Große Gastro mit Bar, neu und modern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Konzeptskizze: Grundriss der Gastro mit Bar, Wandansicht und Materialpalett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7498080" cy="4686300"/>
          </a:xfrm>
          <a:prstGeom prst="rect">
            <a:avLst/>
          </a:prstGeom>
        </p:spPr>
      </p:pic>
      <p:pic>
        <p:nvPicPr>
          <p:cNvPr id="6" name="Image 1" descr="Referenz Innenraum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321040" y="1280160"/>
            <a:ext cx="3319272" cy="222199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321040" y="354787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Referenz für Stimmung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8321040" y="397764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ca. 100 Plätze</a:t>
            </a:r>
            <a:endParaRPr lang="en-US" sz="1800" dirty="0"/>
          </a:p>
        </p:txBody>
      </p:sp>
      <p:sp>
        <p:nvSpPr>
          <p:cNvPr id="9" name="Text 4"/>
          <p:cNvSpPr txBox="1"/>
          <p:nvPr/>
        </p:nvSpPr>
        <p:spPr>
          <a:xfrm>
            <a:off x="8321040" y="43159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innen, plus ca. 32 auf der Terrasse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8321040" y="466344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8321040" y="50017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Barhocker, Lounge, beleuchtete Backbar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534924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8321040" y="56875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Dunkelgrün, Terrazzo, Eiche, Messing, Stahl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Stellplätze sind der Knackpunkt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Diagramm Stellplätze" descr=""/>
          <p:cNvGraphicFramePr/>
          <p:nvPr/>
        </p:nvGraphicFramePr>
        <p:xfrm>
          <a:off x="548640" y="137160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Vorschlag für die Stadt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8745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Bedarf ca. 29 Stellplätze, auf dem Grundstück passen ca. 10–13.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Restplätze auf der öffentlichen Parkfläche nebenan (im Plan eingezeichnet) per Vereinbarung nutzen, besonders am Abend.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 Ablöse statt Bau, die Höhe muss die Stadt nennen.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Klären, ob der 10 m breite Grünstreifen teils befestigt werden darf.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Gesamtkosten ohne Förderung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1" name="Tabelle 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194560"/>
                <a:gridCol w="15544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Rechnung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Betrag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Grundstück inkl. Steuer, Notar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960 m² × 230 € + ca. 7 %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236.256 €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Bau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960 m² × 2.700 €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2.592.000 €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Baunebenkosten (Architekt, Statik, Gebühren)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15 % vom Bau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388.800 €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Gastro-Ausbau (Küche, Bar, Möbel, Technik)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Posten im Anhang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310.000 €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Gesamtkosten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3.527.056 €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Diagramm Kosten" descr=""/>
          <p:cNvGraphicFramePr/>
          <p:nvPr/>
        </p:nvGraphicFramePr>
        <p:xfrm>
          <a:off x="7772400" y="1280160"/>
          <a:ext cx="39319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1206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sind ca. 3.674 € pro m² BGF.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Finanzierung zu 100 % ohne Eigenkapital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2" name="Tabelle Finanzi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58952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737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Plan (3,3 %)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Ausgang (4,0 %)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Gesamtkosten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3.527.056 €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3.527.056 €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Zinsen in der Bauzeit (15 Monate)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74.409 €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90.441 €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Bereitstellungszinsen (3 % p. a. ab Monat 7)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24.681 €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24.681 €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Zinsen im Aufschub-Jahr (keine Rate)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121.489 €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148.388 €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Kredit bei Start der Rate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3.747.636 €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3.790.566 €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Rate pro Monat (1 % Tilgung)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13.429 €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15.794 €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   davon Zinsen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10.306 €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12.635 €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   davon Tilgung (Rückzahlung der Schuld)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3.123 €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3.159 €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e"/>
          <p:cNvSpPr/>
          <p:nvPr/>
        </p:nvSpPr>
        <p:spPr>
          <a:xfrm>
            <a:off x="8503920" y="1371600"/>
            <a:ext cx="3136392" cy="4114800"/>
          </a:xfrm>
          <a:prstGeom prst="roundRect">
            <a:avLst>
              <a:gd name="adj" fmla="val 23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732520" y="1554480"/>
            <a:ext cx="267919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Annahmen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Baubeginn Mitte 2027, 15 Monate Bauzeit, gleichmäßiger Abruf.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Plan: 3,3 % Mischzins aus Förderkrediten (Annahme).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Ausgang: 4,0 % bei 10 Jahren Zinsbindung (Stand 17.09.2026).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pro Monat übrig bleibt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3" name="Tabelle Cashflo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 Monat, Plan, ohne Förderung, 50.000 € Umsatz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Betrag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6 Wohnungen: je 950 € Kaltmiete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+5.700 €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Gastro-Pacht: 290 m² × 12 €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+3.480 €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Gastro-Gewinn nach Pacht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+11.770 €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Rate (Zinsen und Tilgung)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−13.429 €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Dein Lohn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−6.000 €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Rücklagen (10 % der Miete und Pacht)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−918 €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Ergebnis pro Monat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+603 €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Cashflow" descr=""/>
          <p:cNvGraphicFramePr/>
          <p:nvPr/>
        </p:nvGraphicFramePr>
        <p:xfrm>
          <a:off x="7406640" y="1280160"/>
          <a:ext cx="4297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486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Lohn im Diagramm inkl. Rücklagen. Die ca. 3.100 € Tilgung in der Rate sind Vermögensaufbau (Schuld sinkt), kein Verlust.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Förderung entscheidet über das Ergebnis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4" name="Tabelle Szenari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1920240"/>
                <a:gridCol w="2103120"/>
                <a:gridCol w="1920240"/>
                <a:gridCol w="16733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Gesamtkosten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Rate (3,3 %)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Ergebnis (3,3 %)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Rate (4,0 %)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Ergebnis (4,0 %)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3.527.056 €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13.429 €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+603 €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15.794 €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−1.762 €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3.350.703 €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12.758 €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+1.274 €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15.004 €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−972 €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3.174.350 €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12.086 €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+1.946 €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14.215 €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−183 €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2.997.998 €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11.415 €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+2.617 €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13.425 €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+607 €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20 %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2.821.645 €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10.743 €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+3.289 €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12.635 €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+1.397 €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25 %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2.645.292 €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10.072 €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+3.960 €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11.846 €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+2.186 €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Förderung" descr=""/>
          <p:cNvGraphicFramePr/>
          <p:nvPr/>
        </p:nvGraphicFramePr>
        <p:xfrm>
          <a:off x="548640" y="4343400"/>
          <a:ext cx="6858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7680960" y="4572000"/>
            <a:ext cx="39593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5 Prozentpunkte Förderung steigt das Ergebnis um ca. 671 € im Monat. Gastro-Umsatz 50.000 €, nach Lohn und Rücklagen.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viel Umsatz braucht die Gastro?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5" name="Tabelle Umsat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559966"/>
                <a:gridCol w="1559966"/>
                <a:gridCol w="1559966"/>
                <a:gridCol w="1559966"/>
                <a:gridCol w="1559966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Ergebnis pro Monat (Plan 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40.000 €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45.000 €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50.000 €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55.000 €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60.000 €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Förderung 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−2.447 €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−922 €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+603 €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+2.128 €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+3.653 €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Förderung 10 %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−1.104 €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+421 €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+1.946 €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+3.471 €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+4.996 €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Förderung 15 %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−433 €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+1.092 €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+2.617 €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+4.142 €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+5.667 €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Förderung 20 %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+239 €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+1.764 €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+3.289 €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+4.814 €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+6.339 €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Break-even-Umsatz (Ergebnis nach Lohn = 0)</a:t>
            </a:r>
            <a:endParaRPr lang="en-US" sz="1800" dirty="0"/>
          </a:p>
        </p:txBody>
      </p:sp>
      <p:graphicFrame>
        <p:nvGraphicFramePr>
          <p:cNvPr id="29" name="Tabelle Break-ev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0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49958"/>
                <a:gridCol w="1949958"/>
                <a:gridCol w="1949958"/>
                <a:gridCol w="194995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Plan, 3,3 %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48.023 €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43.620 €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41.419 €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39.217 €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Ausgang, 4,0 %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55.777 €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50.599 €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48.010 €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45.420 €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Weg zu Plus: Hebel nacheinander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6" name="Tabelle Pfa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1463040"/>
                <a:gridCol w="14630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Schritt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Plan (3,3 %)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Ausgang (4,0 %)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Ausgangslage (40.000 € Umsatz, keine Förderung)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−2.447 €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−4.812 €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+ 15 % Förderung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−433 €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−2.443 €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Baukosten 2.500 €/m² statt 2.700 €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+281 €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−1.604 €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Gastro-Ausbau sparsam (245.000 €)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+491 €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−1.356 €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Gastro-Umsatz 45.000 €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+2.016 €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+169 €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Tilgung 0 % (nur Zinsen) in den ersten Jahren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+4.456 €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+2.636 €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+ Lohn 4.000 € statt 6.000 €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+6.456 €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+4.636 €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Fazit Pfad"/>
          <p:cNvSpPr/>
          <p:nvPr/>
        </p:nvSpPr>
        <p:spPr>
          <a:xfrm>
            <a:off x="8595360" y="1280160"/>
            <a:ext cx="3044952" cy="429768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463040"/>
            <a:ext cx="258775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Mindestpaket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Förderung, günstigere Baukosten und ein sparsamer Ausbau reichen im Plan für Plus.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Konto, kein Gewinn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Tilgung 0 % und weniger Lohn verbessern das Konto, nicht das Haus.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303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Verwaltung, Versicherung, Grundsteuer (ca. 300–500 € im Monat) sind noch nicht enthalten.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Risiken und was wir dagegen tun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sp>
        <p:nvSpPr>
          <p:cNvPr id="5" name="Risiko 1"/>
          <p:cNvSpPr/>
          <p:nvPr/>
        </p:nvSpPr>
        <p:spPr>
          <a:xfrm>
            <a:off x="548640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Miete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950 € je Wohnung (ca. 12–15 €/m²) liegt über den Portalwerten für Neubau in Werlte (ca. 11 €/m²). Gegenmaßnahme: Vergleichsangebote, Vorvermietung.</a:t>
            </a:r>
            <a:endParaRPr lang="en-US" sz="1400" dirty="0"/>
          </a:p>
        </p:txBody>
      </p:sp>
      <p:sp>
        <p:nvSpPr>
          <p:cNvPr id="8" name="Risiko 2"/>
          <p:cNvSpPr/>
          <p:nvPr/>
        </p:nvSpPr>
        <p:spPr>
          <a:xfrm>
            <a:off x="6277356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Gastro-Umsatz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Gastro braucht ab ca. 48.000 € Umsatz, bei 4 % Zins ca. 56.000 €. Gegenmaßnahme: Konzept, Pacht-Staffel, Lohn variabel.</a:t>
            </a:r>
            <a:endParaRPr lang="en-US" sz="1400" dirty="0"/>
          </a:p>
        </p:txBody>
      </p:sp>
      <p:sp>
        <p:nvSpPr>
          <p:cNvPr id="11" name="Risiko 3"/>
          <p:cNvSpPr/>
          <p:nvPr/>
        </p:nvSpPr>
        <p:spPr>
          <a:xfrm>
            <a:off x="548640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Zins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10 Jahren Zinsbindung ist der Folgezins offen. Gegenmaßnahme: Förderkredite, Forward-Darlehen, Tilgungsaussetzung.</a:t>
            </a:r>
            <a:endParaRPr lang="en-US" sz="1400" dirty="0"/>
          </a:p>
        </p:txBody>
      </p:sp>
      <p:sp>
        <p:nvSpPr>
          <p:cNvPr id="14" name="Risiko 4"/>
          <p:cNvSpPr/>
          <p:nvPr/>
        </p:nvSpPr>
        <p:spPr>
          <a:xfrm>
            <a:off x="6277356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Genehmigung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Staffelgeschoss und Flachdach müssen von der Stadt bestätigt werden. Gegenmaßnahme: Vorabstimmung, Plan B mit Satteldach.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ich von der Stadt brauche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orderung 1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Städtebauförderung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 Förderung bringen ca. +1.343 € im Monat</a:t>
            </a:r>
            <a:endParaRPr lang="en-US" sz="1400" dirty="0"/>
          </a:p>
        </p:txBody>
      </p:sp>
      <p:sp>
        <p:nvSpPr>
          <p:cNvPr id="8" name="Forderung 2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Grundstückspreis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30 € weniger pro m² bringen ca. +119 € im Monat</a:t>
            </a:r>
            <a:endParaRPr lang="en-US" sz="1400" dirty="0"/>
          </a:p>
        </p:txBody>
      </p:sp>
      <p:sp>
        <p:nvSpPr>
          <p:cNvPr id="11" name="Forderung 3"/>
          <p:cNvSpPr/>
          <p:nvPr/>
        </p:nvSpPr>
        <p:spPr>
          <a:xfrm>
            <a:off x="548640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Pacht oder Mietzuschuss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1.000 € Zuschuss im Monat sind 1.000 € mehr im Monat</a:t>
            </a:r>
            <a:endParaRPr lang="en-US" sz="1400" dirty="0"/>
          </a:p>
        </p:txBody>
      </p:sp>
      <p:sp>
        <p:nvSpPr>
          <p:cNvPr id="14" name="Forderung 4"/>
          <p:cNvSpPr/>
          <p:nvPr/>
        </p:nvSpPr>
        <p:spPr>
          <a:xfrm>
            <a:off x="6277356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Stellplätze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Mitnutzung der öffentlichen Parkfläche oder faire Ablöse</a:t>
            </a:r>
            <a:endParaRPr lang="en-US" sz="1400" dirty="0"/>
          </a:p>
        </p:txBody>
      </p:sp>
      <p:sp>
        <p:nvSpPr>
          <p:cNvPr id="17" name="Forderung 5"/>
          <p:cNvSpPr/>
          <p:nvPr/>
        </p:nvSpPr>
        <p:spPr>
          <a:xfrm>
            <a:off x="548640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Genehmigung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Staffelgeschoss, Flachdach und Höhe schriftlich bestätigen</a:t>
            </a:r>
            <a:endParaRPr lang="en-US" sz="1400" dirty="0"/>
          </a:p>
        </p:txBody>
      </p:sp>
      <p:sp>
        <p:nvSpPr>
          <p:cNvPr id="20" name="Forderung 6"/>
          <p:cNvSpPr/>
          <p:nvPr/>
        </p:nvSpPr>
        <p:spPr>
          <a:xfrm>
            <a:off x="6277356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05956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Zinsvorteil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6505956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0,5 % weniger Zins bringen ca. +1.658 € im Monat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Nächste Schritte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Okt 2026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Gespräch mit der Stadt: Preis, Förderung, Stellplätze</a:t>
            </a:r>
            <a:endParaRPr lang="en-US" sz="16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Architekt, Baufenster, Höhen und Geschosse schriftlich klären</a:t>
            </a:r>
            <a:endParaRPr lang="en-US" sz="16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 2026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20040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Bank: Finanzierung, Aufschub, Förderkredite anfragen</a:t>
            </a:r>
            <a:endParaRPr lang="en-US" sz="16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Städtebaulicher Vertrag, Bauantrag</a:t>
            </a:r>
            <a:endParaRPr lang="en-US" sz="16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Baubeginn, 15 Monate Bauzeit</a:t>
            </a:r>
            <a:endParaRPr lang="en-US" sz="16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Eröffnung zusammen mit der neuen Mitte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Anhang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Annahmen, Gastro-Kosten, Gastro-Ausbau, Mietdaten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Rechenannahmen und offene Punkte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Grundstück 960 m² × 230 € plus ca. 7 % (5 % Grunderwerbsteuer, ca. 2 % Notar)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 960 m² BGF × 2.700 €, Baunebenkosten 15 %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 Fremdfinanzierung, 1 % Tilgung, Aufschub 12 Monate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Bauzeit 15 Monate, Bereitstellungszins 3 % p. a. ab Monat 7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Zins Plan 3,3 % (Förderkredite, Annahme), Ausgang 4,0 %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23076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Gastro-Umsatz 50.000 € netto, Marge vor Pacht 30,5 %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Wohnungen zu je 950 € Kaltmiete, Gastro-Pacht 12 €/m²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Lohn Bessam 6.000 €, Rücklagen 10 % der Miete und Pacht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Förderung als Zuschuss in % der Gesamtkosten (Annahme)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 enthalten: Hausverwaltung, Versicherung, Grundsteuer (ca. 300–500 €/Monat)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Offen: Baufenster, Staffelgeschoss, Höhen, Stellplatzsatzung, Zins nach 10 Jahren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Gastro: Kosten pro Monat bei 50.000 € Umsatz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2" name="Tabelle Gastro-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286000"/>
                <a:gridCol w="2404872"/>
              </a:tblGrid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Richtwert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Betrag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Wareneinsatz (Einkauf Essen und Getränke)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28 %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Personal (ohne Chef-Lohn)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30 %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Pacht ans Haus (290 m² × 12 €)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3.480 €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Energie, Wasser, Müll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3 %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1.500 €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Reinigung, Wäsche, Verbrauchsmaterial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2 %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Werbung und Marketing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1,5 %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Reparaturen, Wartung, Kassensystem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1,5 %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Sonstiges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1,5 %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Versicherungen, GEMA, Gebühren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Steuerberater, Buchhaltung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ca. 1 %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Summe Kosten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38.230 €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Gewinn nach Pacht, vor Lohn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11.770 €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Gastro-Ausbau nach Posten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3" name="Tabelle Gastro-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Posten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Betrag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Küche (Herd, Kühlräume, Edelstahl, Spülküche)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Lüftung und Abluft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35.000 €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Theke und Bar (Zapfanlage, Kühlung, Backbar)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38.000 €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Möbel (ca. 100 Plätze, Lounge)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Beleuchtung und Deko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20.000 €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Wand, Boden, Decke, Akustik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Gäste-WC Ausstattung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Kasse, Technik, Musik, WLAN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Terrasse (Holzdeck, Möbel, Heizstrahler)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22.000 €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Planung und Genehmigung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Geschirr, Gläser, Besteck, Textilien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Eröffnung, Marketing, Warenerstbestückung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7.000 €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Puffer 5 %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14.750 €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Summe (im Modell: 310.000 €)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309.750 €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usbau"/>
          <p:cNvSpPr/>
          <p:nvPr/>
        </p:nvSpPr>
        <p:spPr>
          <a:xfrm>
            <a:off x="8229600" y="123444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1732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Baunebenkosten von 15 % fallen auf Möbel und Geräte nicht an, die Planung steckt als eigener Posten drin. Ein sparsamer Ausbau (ca. 245.000 €) steht auf der Pfad-Folie.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Mietdaten für Werlte</a:t>
            </a:r>
            <a:endParaRPr lang="en-US" sz="32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4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Quelle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Wert für Werlte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ImmoScout24 (Wohnungen, Durchschnitt)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7,78 €/m²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miete-aktuell.de (Kaltmiete 2026)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8,13 €/m²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mietpreise.info (14 Inserate, Spanne 6,09–14,48 €)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9,58 €/m²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mietpreise.info (Neubau)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10,73–11,02 €/m²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Landkreis Emsland (ImmoScout24, Q2 2026)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8,10 €/m²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Annahme Miete"/>
          <p:cNvSpPr/>
          <p:nvPr/>
        </p:nvSpPr>
        <p:spPr>
          <a:xfrm>
            <a:off x="8778240" y="1371600"/>
            <a:ext cx="2862072" cy="3291840"/>
          </a:xfrm>
          <a:prstGeom prst="roundRect">
            <a:avLst>
              <a:gd name="adj" fmla="val 2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06840" y="15544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Modell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Wohnungen zu 950 € Kaltmiete (Bauherr, zentrale Lage), das sind bei ca. 75 m² etwa 12,70 €/m². Gastro-Pacht 12 €/m² ohne Marktdaten.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Quellen: mietpreise.info/mietspiegel/werlte, miete-aktuell.de, immobilienscout24.de (Kreis Emsland), Abruf Oktober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 und 6 Wohnungen</dc:title>
  <dc:subject>PptxGenJS Presentation</dc:subject>
  <dc:creator>Bessam Hasso</dc:creator>
  <cp:lastModifiedBy>Bessam Hasso</cp:lastModifiedBy>
  <cp:revision>1</cp:revision>
  <dcterms:created xsi:type="dcterms:W3CDTF">2026-10-13T22:06:28Z</dcterms:created>
  <dcterms:modified xsi:type="dcterms:W3CDTF">2026-10-13T22:06:28Z</dcterms:modified>
</cp:coreProperties>
</file>