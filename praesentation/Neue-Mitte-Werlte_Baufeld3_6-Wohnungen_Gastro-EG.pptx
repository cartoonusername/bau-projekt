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2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3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4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Stellplätze</c:v>
                </c:pt>
              </c:strCache>
            </c:strRef>
          </c:tx>
          <c:spPr>
            <a:solidFill>
              <a:srgbClr val="8C3B3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600" u="none">
                    <a:solidFill>
                      <a:srgbClr val="1F2421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C3B3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F4A3E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Bedarf (Annahme)</c:v>
                  </c:pt>
                  <c:pt idx="1">
                    <c:v>Platz auf dem Grundstück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29</c:v>
                </c:pt>
                <c:pt idx="1">
                  <c:v>12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600" u="none">
                  <a:solidFill>
                    <a:srgbClr val="1F2421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F242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6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Kosten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C49A45"/>
              </a:solidFill>
              <a:effectLst/>
            </c:spPr>
          </c:dPt>
          <c:dPt>
            <c:idx val="1"/>
            <c:bubble3D val="0"/>
            <c:spPr>
              <a:solidFill>
                <a:srgbClr val="8C3B32"/>
              </a:solidFill>
              <a:effectLst/>
            </c:spPr>
          </c:dPt>
          <c:dPt>
            <c:idx val="2"/>
            <c:bubble3D val="0"/>
            <c:spPr>
              <a:solidFill>
                <a:srgbClr val="5B6770"/>
              </a:solidFill>
              <a:effectLst/>
            </c:spPr>
          </c:dPt>
          <c:dPt>
            <c:idx val="3"/>
            <c:bubble3D val="0"/>
            <c:spPr>
              <a:solidFill>
                <a:srgbClr val="2F4A3E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Grundstück</c:v>
                </c:pt>
                <c:pt idx="1">
                  <c:v>Bau</c:v>
                </c:pt>
                <c:pt idx="2">
                  <c:v>Baunebenkosten</c:v>
                </c:pt>
                <c:pt idx="3">
                  <c:v>Gastro-Ausbau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236256</c:v>
                </c:pt>
                <c:pt idx="1">
                  <c:v>2026100</c:v>
                </c:pt>
                <c:pt idx="2">
                  <c:v>303915</c:v>
                </c:pt>
                <c:pt idx="3">
                  <c:v>150000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F2421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Euro pro Monat</c:v>
                </c:pt>
              </c:strCache>
            </c:strRef>
          </c:tx>
          <c:spPr>
            <a:solidFill>
              <a:srgbClr val="2E7D5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F2421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E7D5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E7D5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3261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B3261E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Miete</c:v>
                  </c:pt>
                  <c:pt idx="1">
                    <c:v>Gastro</c:v>
                  </c:pt>
                  <c:pt idx="2">
                    <c:v>Rate</c:v>
                  </c:pt>
                  <c:pt idx="3">
                    <c:v>Rücklagen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9180</c:v>
                </c:pt>
                <c:pt idx="1">
                  <c:v>11770</c:v>
                </c:pt>
                <c:pt idx="2">
                  <c:v>-10345</c:v>
                </c:pt>
                <c:pt idx="3">
                  <c:v>-918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F2421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F242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Plan (3,3 %)</c:v>
                </c:pt>
              </c:strCache>
            </c:strRef>
          </c:tx>
          <c:spPr>
            <a:solidFill>
              <a:srgbClr val="2F4A3E"/>
            </a:solidFill>
            <a:ln w="38100" cap="flat">
              <a:solidFill>
                <a:srgbClr val="2F4A3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F4A3E"/>
              </a:solidFill>
              <a:ln w="9525" cap="flat">
                <a:solidFill>
                  <a:srgbClr val="2F4A3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0 %</c:v>
                  </c:pt>
                  <c:pt idx="1">
                    <c:v>5 %</c:v>
                  </c:pt>
                  <c:pt idx="2">
                    <c:v>10 %</c:v>
                  </c:pt>
                  <c:pt idx="3">
                    <c:v>15 %</c:v>
                  </c:pt>
                  <c:pt idx="4">
                    <c:v>20 %</c:v>
                  </c:pt>
                  <c:pt idx="5">
                    <c:v>25 %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9687</c:v>
                </c:pt>
                <c:pt idx="1">
                  <c:v>10204</c:v>
                </c:pt>
                <c:pt idx="2">
                  <c:v>10721</c:v>
                </c:pt>
                <c:pt idx="3">
                  <c:v>11239</c:v>
                </c:pt>
                <c:pt idx="4">
                  <c:v>11756</c:v>
                </c:pt>
                <c:pt idx="5">
                  <c:v>12273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Ausgang (4,0 %)</c:v>
                </c:pt>
              </c:strCache>
            </c:strRef>
          </c:tx>
          <c:spPr>
            <a:solidFill>
              <a:srgbClr val="8C3B32"/>
            </a:solidFill>
            <a:ln w="38100" cap="flat">
              <a:solidFill>
                <a:srgbClr val="8C3B3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8C3B32"/>
              </a:solidFill>
              <a:ln w="9525" cap="flat">
                <a:solidFill>
                  <a:srgbClr val="8C3B3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0 %</c:v>
                  </c:pt>
                  <c:pt idx="1">
                    <c:v>5 %</c:v>
                  </c:pt>
                  <c:pt idx="2">
                    <c:v>10 %</c:v>
                  </c:pt>
                  <c:pt idx="3">
                    <c:v>15 %</c:v>
                  </c:pt>
                  <c:pt idx="4">
                    <c:v>20 %</c:v>
                  </c:pt>
                  <c:pt idx="5">
                    <c:v>25 %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7864</c:v>
                </c:pt>
                <c:pt idx="1">
                  <c:v>8472</c:v>
                </c:pt>
                <c:pt idx="2">
                  <c:v>9081</c:v>
                </c:pt>
                <c:pt idx="3">
                  <c:v>9689</c:v>
                </c:pt>
                <c:pt idx="4">
                  <c:v>10298</c:v>
                </c:pt>
                <c:pt idx="5">
                  <c:v>10906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42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9D9D9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421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100">
              <a:solidFill>
                <a:srgbClr val="1F2421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Titelfolie. Das Bild ist eine Referenzstudie.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Kernaussage: Das Haus trägt sich mit Förderung und einer gut laufenden Gastro.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Quelle: Konzeptheft Neue Mitte Werlte (Seiten 13, 16 und 24).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Festsetzungen aus Bebauungsplan Nr. 123 (Entwurf). Zulässigkeit von Staffelgeschoss und Flachdach muss die Stadt schriftlich bestätigen.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Preise sind Annahmen und müssen durch Angebote der Zimmerei und des Bauunternehmens bestätigt werden.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Schnitt schematisch. Hauptbaukörper bis 6,50 m, Staffelgeschoss bis ca. 9,60 m, Attika ca. 9,90 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Schematische Skizzen, nicht maßstäblich genau. Aufteilung wird mit dem Architekten verfeinert.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Links Referenzstudie, rechts unsere Eckansicht als Skizze.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Konzeptskizze, Planung folgt mit dem Gastro-Fachplaner.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KI-Visualisierungen auf Basis der Skizzen, keine Planung.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Bedarf nach groben Annahmen (1,5 pro Wohnung, 1 je 10 m² Gastraum bei ca. 200 m²). Die Stellplatzsatzung der Stadt gilt verbindlich.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Baukosten 2.200 €/m² (Holz-Staffel 400 € günstiger) und 15 % Baunebenkosten sind Annahmen des Bauherrn und müssen durch Angebote von Bauunternehmen und Zimmerei bestätigt werden.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Zinsen in der Bauzeit und im Aufschub werden dem Kredit zugeschlagen. Der Aufschub von 12 Monaten muss mit der Bank verhandelt werden.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Mieten: 6 Wohnungen zu je 950 € Kaltmiete (Annahme des Bauherrn). Gastro-Marge nach Branchen-Richtwerten.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Gastro-Umsatz 50.000 €. Förderung als Zuschuss in Prozent der Kosten, der den Kredit von Anfang an verkleinert (Annahme).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Gastro-Marge vor Pacht 30,5 % vom Umsatz (Branchen-Richtwert, nicht aus Werlte). Break-even = Ergebnis (ohne Lohn des Bauherrn) genau null.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Startpunkt ist die vorsichtige Annahme von 40.000 € Umsatz ohne Förderung. Die Hebel sind Ziele für die Verhandlung, keine Zusagen.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Jede Partei bekommt einen eigenen Kredit ohne Eigenkapital. Preis = Selbstkosten, 3,3 % Zins, 1 % Tilgung, Miete 950 €, 10 % Rücklagen.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Variante A, jede Wohnung mit eigenem Kredit ohne Eigenkapital und ohne Tilgung, 950 € Miete, 3,3 % Zins. Du trägst die Differenz zu deinen Selbstkosten.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Variante A ohne Förderung, 2.200 €/m², Dauermiete 950 €, 3,3 % Zins, tilgungsfreie Jahre, 10 % Rücklagen. Käufer zahlen Notar (2 %) und Grunderwerbsteuer (5 %, Vater frei, bitte prüfen).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Reihenfolge ist ein Vorschlag, Notar, Bank und Bauamt bestimmen die Details. Keine Rechtsberatung.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 Miete von 950 € je Wohnung ist eine Annahme des Bauherrn, Marktdaten für Werlte liegen darunter.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Wirkungen gerechnet mit dem Modell (Plan 3,3 %, ohne Förderung als Basis).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Zeitplan der Stadt aus dem Konzeptheft, Bauantrag und Förderzusagen sind meine Planung.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Alle Zahlen sind Planungsannahmen, keine Zusagen.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Prozentwerte sind Branchen-Richtwerte aus meiner Einschätzung, nicht aus Quellen für Werlte.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Zielbudget des Bauherrn für einen einfachen Ausbau, Angebote von Küchen- und Lüftungsbauern müssen es bestätigen.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 gibt keinen amtlichen Mietspiegel für Werlte, die Portale arbeiten mit kleinen Stichproben.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Nur mit Ausnahme der Stadt: Baufenster ca. 400–460 m² geschätzt, im Plan stehen zwei Vollgeschosse und 12 m Höhe, GRZ 0,6 erlaubt max. 576 m².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rgbClr val="2F4A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097280"/>
            <a:ext cx="822960" cy="41148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image" Target="../media/image-10-3.jpg"/><Relationship Id="rId4" Type="http://schemas.openxmlformats.org/officeDocument/2006/relationships/image" Target="../media/image-10-4.jpg"/><Relationship Id="rId5" Type="http://schemas.openxmlformats.org/officeDocument/2006/relationships/image" Target="../media/image-10-5.jp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ußenansicht, modernes Haus mit Klinker und Glas-Erdgeschos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0"/>
            <a:ext cx="5879592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188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NEUE MITTE WERLTE</a:t>
            </a:r>
            <a:endParaRPr lang="en-US" sz="1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691640"/>
            <a:ext cx="5486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7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Baufeld 3: Große Gastro und 6 Wohnungen</a:t>
            </a:r>
            <a:endParaRPr lang="en-US" sz="37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9319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Baukonzept und Wirtschaftlichkeit (Variante A, ohne Förderung)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02920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Bessam Hasso, Werlte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Bebauungsplan Nr. 123, 1. Änderung (Entwurf 25.08.2026)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 Oktober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Das Vorhaben auf einen Blick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5" name="Kennzahl Gesamtkosten (ohne Bauzeitzinsen)"/>
          <p:cNvSpPr/>
          <p:nvPr/>
        </p:nvSpPr>
        <p:spPr>
          <a:xfrm>
            <a:off x="548640" y="1371600"/>
            <a:ext cx="263575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508760"/>
            <a:ext cx="22699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2,72 Mio. €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240280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Gesamtkosten (ohne Bauzeitzinsen)</a:t>
            </a:r>
            <a:endParaRPr lang="en-US" sz="1400" dirty="0"/>
          </a:p>
        </p:txBody>
      </p:sp>
      <p:sp>
        <p:nvSpPr>
          <p:cNvPr id="8" name="Kennzahl Wohnungen und eine Gastro von ca. 290 m² im ganzen EG"/>
          <p:cNvSpPr/>
          <p:nvPr/>
        </p:nvSpPr>
        <p:spPr>
          <a:xfrm>
            <a:off x="3367278" y="1371600"/>
            <a:ext cx="263575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550158" y="1508760"/>
            <a:ext cx="22699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3000" dirty="0"/>
          </a:p>
        </p:txBody>
      </p:sp>
      <p:sp>
        <p:nvSpPr>
          <p:cNvPr id="10" name="Text 7"/>
          <p:cNvSpPr txBox="1"/>
          <p:nvPr/>
        </p:nvSpPr>
        <p:spPr>
          <a:xfrm>
            <a:off x="3550158" y="2240280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Wohnungen und eine Gastro von ca. 290 m² im ganzen EG</a:t>
            </a:r>
            <a:endParaRPr lang="en-US" sz="1400" dirty="0"/>
          </a:p>
        </p:txBody>
      </p:sp>
      <p:sp>
        <p:nvSpPr>
          <p:cNvPr id="11" name="Kennzahl Rate pro Monat (3,3 %, ohne Förderung)"/>
          <p:cNvSpPr/>
          <p:nvPr/>
        </p:nvSpPr>
        <p:spPr>
          <a:xfrm>
            <a:off x="6185916" y="1371600"/>
            <a:ext cx="263575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368796" y="1508760"/>
            <a:ext cx="22699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10.345 €</a:t>
            </a:r>
            <a:endParaRPr lang="en-US" sz="3000" dirty="0"/>
          </a:p>
        </p:txBody>
      </p:sp>
      <p:sp>
        <p:nvSpPr>
          <p:cNvPr id="13" name="Text 10"/>
          <p:cNvSpPr txBox="1"/>
          <p:nvPr/>
        </p:nvSpPr>
        <p:spPr>
          <a:xfrm>
            <a:off x="6368796" y="2240280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 pro Monat (3,3 %, ohne Förderung)</a:t>
            </a:r>
            <a:endParaRPr lang="en-US" sz="1400" dirty="0"/>
          </a:p>
        </p:txBody>
      </p:sp>
      <p:sp>
        <p:nvSpPr>
          <p:cNvPr id="14" name="Kennzahl Ergebnis pro Monat bei 50.000 € Umsatz"/>
          <p:cNvSpPr/>
          <p:nvPr/>
        </p:nvSpPr>
        <p:spPr>
          <a:xfrm>
            <a:off x="9004554" y="1371600"/>
            <a:ext cx="263575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187434" y="1508760"/>
            <a:ext cx="22699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+9.687 €</a:t>
            </a:r>
            <a:endParaRPr lang="en-US" sz="3000" dirty="0"/>
          </a:p>
        </p:txBody>
      </p:sp>
      <p:sp>
        <p:nvSpPr>
          <p:cNvPr id="16" name="Text 13"/>
          <p:cNvSpPr txBox="1"/>
          <p:nvPr/>
        </p:nvSpPr>
        <p:spPr>
          <a:xfrm>
            <a:off x="9187434" y="2240280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 pro Monat bei 50.000 € Umsatz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31089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 pro Monat (ohne Lohn des Bauherrn) bei 50.000 € Gastro-Umsatz (Plan, 3,3 % Zins)</a:t>
            </a:r>
            <a:endParaRPr lang="en-US" sz="1600" dirty="0"/>
          </a:p>
        </p:txBody>
      </p:sp>
      <p:graphicFrame>
        <p:nvGraphicFramePr>
          <p:cNvPr id="3" name="Tabelle Förderung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520440"/>
          <a:ext cx="1109167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513332"/>
                <a:gridCol w="1513332"/>
                <a:gridCol w="1513332"/>
                <a:gridCol w="1513332"/>
                <a:gridCol w="1513332"/>
                <a:gridCol w="151333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Förderung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+9.687 €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+10.204 €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+10.721 €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+11.239 €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+11.756 €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+12.273 €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19" name="Text 15"/>
          <p:cNvSpPr txBox="1"/>
          <p:nvPr/>
        </p:nvSpPr>
        <p:spPr>
          <a:xfrm>
            <a:off x="548640" y="4572000"/>
            <a:ext cx="110916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Schon ohne Förderung im Plus.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Break-even-Umsatz ohne Förderung ca. 18.200 € im Monat. Dazu kommt eine Anlaufphase von 12 Monaten ohne Rate (Aufschub).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Ein Eckgrundstück an der neuen Mitte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sp>
        <p:nvSpPr>
          <p:cNvPr id="5" name="Fakt 1"/>
          <p:cNvSpPr/>
          <p:nvPr/>
        </p:nvSpPr>
        <p:spPr>
          <a:xfrm>
            <a:off x="548640" y="1371600"/>
            <a:ext cx="475488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46304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ca. 960 m²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96596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Baufeld 3, östlich des Rathauses, südlich der Planstraße</a:t>
            </a:r>
            <a:endParaRPr lang="en-US" sz="1400" dirty="0"/>
          </a:p>
        </p:txBody>
      </p:sp>
      <p:sp>
        <p:nvSpPr>
          <p:cNvPr id="8" name="Fakt 2"/>
          <p:cNvSpPr/>
          <p:nvPr/>
        </p:nvSpPr>
        <p:spPr>
          <a:xfrm>
            <a:off x="548640" y="2651760"/>
            <a:ext cx="475488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274320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Mischgebiet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324612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Gewerbe im EG erwünscht, Stellplätze auf dem Grundstück</a:t>
            </a:r>
            <a:endParaRPr lang="en-US" sz="1400" dirty="0"/>
          </a:p>
        </p:txBody>
      </p:sp>
      <p:sp>
        <p:nvSpPr>
          <p:cNvPr id="11" name="Fakt 3"/>
          <p:cNvSpPr/>
          <p:nvPr/>
        </p:nvSpPr>
        <p:spPr>
          <a:xfrm>
            <a:off x="548640" y="3931920"/>
            <a:ext cx="475488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402336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Baureife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452628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liegt vor, Baubeginn jederzeit möglich</a:t>
            </a:r>
            <a:endParaRPr lang="en-US" sz="1400" dirty="0"/>
          </a:p>
        </p:txBody>
      </p:sp>
      <p:sp>
        <p:nvSpPr>
          <p:cNvPr id="14" name="Zeitleiste"/>
          <p:cNvSpPr/>
          <p:nvPr/>
        </p:nvSpPr>
        <p:spPr>
          <a:xfrm>
            <a:off x="6263640" y="1508760"/>
            <a:ext cx="0" cy="402336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15" name="Punkt 1"/>
          <p:cNvSpPr/>
          <p:nvPr/>
        </p:nvSpPr>
        <p:spPr>
          <a:xfrm>
            <a:off x="6126480" y="1417320"/>
            <a:ext cx="274320" cy="274320"/>
          </a:xfrm>
          <a:prstGeom prst="ellipse">
            <a:avLst/>
          </a:prstGeom>
          <a:solidFill>
            <a:schemeClr val="accent3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583680" y="13716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 2026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6583680" y="17373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Stellplatz alte Grundschule</a:t>
            </a:r>
            <a:endParaRPr lang="en-US" sz="1400" dirty="0"/>
          </a:p>
        </p:txBody>
      </p:sp>
      <p:sp>
        <p:nvSpPr>
          <p:cNvPr id="18" name="Punkt 2"/>
          <p:cNvSpPr/>
          <p:nvPr/>
        </p:nvSpPr>
        <p:spPr>
          <a:xfrm>
            <a:off x="6126480" y="2286000"/>
            <a:ext cx="274320" cy="274320"/>
          </a:xfrm>
          <a:prstGeom prst="ellipse">
            <a:avLst/>
          </a:prstGeom>
          <a:solidFill>
            <a:schemeClr val="accent3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2402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 März 2027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6583680" y="26060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 Planstraße (Erschließung)</a:t>
            </a:r>
            <a:endParaRPr lang="en-US" sz="1400" dirty="0"/>
          </a:p>
        </p:txBody>
      </p:sp>
      <p:sp>
        <p:nvSpPr>
          <p:cNvPr id="21" name="Punkt 3"/>
          <p:cNvSpPr/>
          <p:nvPr/>
        </p:nvSpPr>
        <p:spPr>
          <a:xfrm>
            <a:off x="6126480" y="3154680"/>
            <a:ext cx="274320" cy="274320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0" y="31089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Mitte 2027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6583680" y="34747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Unser Baubeginn</a:t>
            </a:r>
            <a:endParaRPr lang="en-US" sz="1400" dirty="0"/>
          </a:p>
        </p:txBody>
      </p:sp>
      <p:sp>
        <p:nvSpPr>
          <p:cNvPr id="24" name="Punkt 4"/>
          <p:cNvSpPr/>
          <p:nvPr/>
        </p:nvSpPr>
        <p:spPr>
          <a:xfrm>
            <a:off x="6126480" y="4023360"/>
            <a:ext cx="274320" cy="274320"/>
          </a:xfrm>
          <a:prstGeom prst="ellipse">
            <a:avLst/>
          </a:prstGeom>
          <a:solidFill>
            <a:schemeClr val="accent3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0" y="39776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 Juli 2027</a:t>
            </a:r>
            <a:endParaRPr lang="en-US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6583680" y="43434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Kreisverkehr Loruper Straße</a:t>
            </a:r>
            <a:endParaRPr lang="en-US" sz="1400" dirty="0"/>
          </a:p>
        </p:txBody>
      </p:sp>
      <p:sp>
        <p:nvSpPr>
          <p:cNvPr id="27" name="Punkt 5"/>
          <p:cNvSpPr/>
          <p:nvPr/>
        </p:nvSpPr>
        <p:spPr>
          <a:xfrm>
            <a:off x="6126480" y="4892040"/>
            <a:ext cx="274320" cy="274320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0" y="48463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Ende 2028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6583680" y="52120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Marktplatz, Rathaus fertig und unsere Eröffnung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Was der Bebauungsplan vorgibt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graphicFrame>
        <p:nvGraphicFramePr>
          <p:cNvPr id="5" name="Tabelle B-Pla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4023360"/>
                <a:gridCol w="4142232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Festsetzung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Wert im B-Plan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Unser Entwurf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Grundflächenzahl (GRZ)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0,6 → max. 576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340 m² Grundfläche (35 %)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Vollgeschosse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zwei (II im Kreis)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EG und 1. OG, dazu Staffelgeschoss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Traufhöhe / Höhe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6,50 m / 12,00 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Hauptbaukörper 6,50 m, gesamt ca. 9,90 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Dachform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laut Konzeptheft Mischgebiet, Details im Plan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Flachdach mit zurückgesetztem Staffelgeschoss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Baufenster (geschätzt)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27 × 15–17 m = 400–460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24 × 14,2 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Stellplätze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auf dem Grundstück, ausreichende Anzahl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10–13, Rest siehe Stellplatzfolie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Klärungsbedarf"/>
          <p:cNvSpPr/>
          <p:nvPr/>
        </p:nvSpPr>
        <p:spPr>
          <a:xfrm>
            <a:off x="548640" y="4937760"/>
            <a:ext cx="11091672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777240" y="5029200"/>
            <a:ext cx="106344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Schriftlich klären: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Zählt das Staffelgeschoss (ca. 280 m² in Holzbau, das sind 82 % der Fläche darunter) als drittes Vollgeschoss? Ab etwa 2/3 der Fläche darunter wird es meist dazugezählt. Ist die Flachdach-Lösung zulässig?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Staffelgeschoss in Holzbau mit Terrasse rundum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Bank und Stadt</a:t>
            </a:r>
            <a:endParaRPr lang="en-US" sz="1000" dirty="0"/>
          </a:p>
        </p:txBody>
      </p:sp>
      <p:graphicFrame>
        <p:nvGraphicFramePr>
          <p:cNvPr id="6" name="Tabelle Holzbau Rabat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94944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463040"/>
                <a:gridCol w="1188720"/>
                <a:gridCol w="146304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Bauunternehmer-Preisnachlass auf den Bau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Gesamtkosten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(Plan)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Ergebnis/Monat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keiner (Annahme in der Rechnung)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2.716.271 €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10.345 €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+9.687 €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5 % (Bekanntenpreis, noch offen)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2.599.770 €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9.902 €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+10.130 €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10 % (Bekanntenpreis, noch offen)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2.483.270 €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9.459 €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+10.573 €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365760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 bei 50.000 € Gastro-Umsatz und 3,3 % Zins. Ohne Holzbau und Terrasse wäre der Bau 85.900 € teurer, die Kosten lägen bei 2.815.056 €.</a:t>
            </a:r>
            <a:endParaRPr lang="en-US" sz="1400" dirty="0"/>
          </a:p>
        </p:txBody>
      </p:sp>
      <p:sp>
        <p:nvSpPr>
          <p:cNvPr id="7" name="Warum Holz oben"/>
          <p:cNvSpPr/>
          <p:nvPr/>
        </p:nvSpPr>
        <p:spPr>
          <a:xfrm>
            <a:off x="7863840" y="1371600"/>
            <a:ext cx="3776472" cy="4206240"/>
          </a:xfrm>
          <a:prstGeom prst="roundRect">
            <a:avLst>
              <a:gd name="adj" fmla="val 193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8092440" y="1783080"/>
            <a:ext cx="30906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Leichter und schneller: weniger Last auf dem Klinker-Geschoss, kürzere Bauzeit.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Zimmerei kennt das Haus von Anfang an und plant das Penthouse mit der Terrasse rundum.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Zwei Partner (Bauunternehmen unten, Zimmerei oben) können Preise und Termine gemeinsam angeben.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Brandschutz (Holzbau bis Gebäudeklasse 4, Aufzug und Treppenhaus massiv) und Schallschutz muss der Architekt nachweisen.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484632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Staffelgeschoss springt nur rundum ca. 0,8 m zurück: schmale Terrasse ca. 58 m² um die drei Penthouses, kein Teil der BGF.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Zwei Geschosse plus Staffelgeschoss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5" name="Gelände"/>
          <p:cNvSpPr/>
          <p:nvPr/>
        </p:nvSpPr>
        <p:spPr>
          <a:xfrm>
            <a:off x="1554480" y="5852160"/>
            <a:ext cx="4963363" cy="54864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6" name="Schnitt EG"/>
          <p:cNvSpPr/>
          <p:nvPr/>
        </p:nvSpPr>
        <p:spPr>
          <a:xfrm>
            <a:off x="1828800" y="4764024"/>
            <a:ext cx="4414723" cy="994867"/>
          </a:xfrm>
          <a:prstGeom prst="rect">
            <a:avLst/>
          </a:prstGeom>
          <a:solidFill>
            <a:srgbClr val="F4D58F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7" name="Schnitt OG"/>
          <p:cNvSpPr/>
          <p:nvPr/>
        </p:nvSpPr>
        <p:spPr>
          <a:xfrm>
            <a:off x="1828800" y="3831336"/>
            <a:ext cx="4414723" cy="932688"/>
          </a:xfrm>
          <a:prstGeom prst="rect">
            <a:avLst/>
          </a:prstGeom>
          <a:solidFill>
            <a:srgbClr val="9A403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8" name="Schnitt Staffel"/>
          <p:cNvSpPr/>
          <p:nvPr/>
        </p:nvSpPr>
        <p:spPr>
          <a:xfrm>
            <a:off x="1828800" y="2867558"/>
            <a:ext cx="4134917" cy="963778"/>
          </a:xfrm>
          <a:prstGeom prst="rect">
            <a:avLst/>
          </a:prstGeom>
          <a:solidFill>
            <a:srgbClr val="7A5C3A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9" name="Schnitt Dach"/>
          <p:cNvSpPr/>
          <p:nvPr/>
        </p:nvSpPr>
        <p:spPr>
          <a:xfrm>
            <a:off x="1645920" y="2774290"/>
            <a:ext cx="4500677" cy="93269"/>
          </a:xfrm>
          <a:prstGeom prst="rect">
            <a:avLst/>
          </a:prstGeom>
          <a:solidFill>
            <a:srgbClr val="D6D1C8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0" name="Brüstung"/>
          <p:cNvSpPr/>
          <p:nvPr/>
        </p:nvSpPr>
        <p:spPr>
          <a:xfrm>
            <a:off x="5963717" y="3489350"/>
            <a:ext cx="279806" cy="341986"/>
          </a:xfrm>
          <a:prstGeom prst="rect">
            <a:avLst/>
          </a:prstGeom>
          <a:solidFill>
            <a:srgbClr val="CFE0E8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828800" y="4764024"/>
            <a:ext cx="4414723" cy="9948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 Gastro mit Bar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1828800" y="3831336"/>
            <a:ext cx="4414723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OG · 3 Wohnungen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828800" y="2867558"/>
            <a:ext cx="4134917" cy="9637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Staffelgeschoss · 3 Wohnungen</a:t>
            </a:r>
            <a:endParaRPr lang="en-US" sz="1400" dirty="0"/>
          </a:p>
        </p:txBody>
      </p:sp>
      <p:sp>
        <p:nvSpPr>
          <p:cNvPr id="14" name="Marke ca. 9,90 m"/>
          <p:cNvSpPr/>
          <p:nvPr/>
        </p:nvSpPr>
        <p:spPr>
          <a:xfrm>
            <a:off x="1371600" y="2774290"/>
            <a:ext cx="5146243" cy="0"/>
          </a:xfrm>
          <a:prstGeom prst="line">
            <a:avLst/>
          </a:prstGeom>
          <a:noFill/>
          <a:ln w="12700">
            <a:solidFill>
              <a:schemeClr val="accent1"/>
            </a:solidFill>
            <a:prstDash val="dash"/>
          </a:ln>
        </p:spPr>
      </p:sp>
      <p:sp>
        <p:nvSpPr>
          <p:cNvPr id="15" name="Text 12"/>
          <p:cNvSpPr txBox="1"/>
          <p:nvPr/>
        </p:nvSpPr>
        <p:spPr>
          <a:xfrm>
            <a:off x="548640" y="259141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ca. 9,90 m</a:t>
            </a:r>
            <a:endParaRPr lang="en-US" sz="1200" dirty="0"/>
          </a:p>
        </p:txBody>
      </p:sp>
      <p:sp>
        <p:nvSpPr>
          <p:cNvPr id="16" name="Marke 6,50 m"/>
          <p:cNvSpPr/>
          <p:nvPr/>
        </p:nvSpPr>
        <p:spPr>
          <a:xfrm>
            <a:off x="1371600" y="3831336"/>
            <a:ext cx="5146243" cy="0"/>
          </a:xfrm>
          <a:prstGeom prst="line">
            <a:avLst/>
          </a:prstGeom>
          <a:noFill/>
          <a:ln w="12700">
            <a:solidFill>
              <a:schemeClr val="accent1"/>
            </a:solidFill>
            <a:prstDash val="dash"/>
          </a:ln>
        </p:spPr>
      </p:sp>
      <p:sp>
        <p:nvSpPr>
          <p:cNvPr id="17" name="Text 14"/>
          <p:cNvSpPr txBox="1"/>
          <p:nvPr/>
        </p:nvSpPr>
        <p:spPr>
          <a:xfrm>
            <a:off x="548640" y="3648456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6,50 m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5786323" y="5943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Süd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1828800" y="5943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Nord</a:t>
            </a:r>
            <a:endParaRPr lang="en-US" sz="1200" dirty="0"/>
          </a:p>
        </p:txBody>
      </p:sp>
      <p:graphicFrame>
        <p:nvGraphicFramePr>
          <p:cNvPr id="7" name="Tabelle Fläch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040880" y="1463040"/>
          <a:ext cx="4599432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2926080"/>
                <a:gridCol w="850392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Ebene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Nutzung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BGF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 ca. 290 m² mit Bar, Treppenhaus, Aufzug, Technik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OG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Wohnungen à ca. 85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Staffel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Wohnungen à ca. 63 m², Holzbau, schmale Terrasse rundum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Wohnungen, ca. 444 m² Wohnfläche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1" name="Text 17"/>
          <p:cNvSpPr txBox="1"/>
          <p:nvPr/>
        </p:nvSpPr>
        <p:spPr>
          <a:xfrm>
            <a:off x="7040880" y="4937760"/>
            <a:ext cx="45994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BGF = Bruttogrundfläche, alle Geschossflächen zusammen. Das Staffelgeschoss in Holzbau springt rundum nur ca. 0,8 m zurück, so entsteht eine schmale Terrasse von ca. 58 m² um die Penthouses.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Skizzen der Geschosse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371600"/>
            <a:ext cx="3621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Erdgeschoss</a:t>
            </a:r>
            <a:endParaRPr lang="en-US" sz="1800" dirty="0"/>
          </a:p>
        </p:txBody>
      </p:sp>
      <p:sp>
        <p:nvSpPr>
          <p:cNvPr id="6" name="Baukörper Erdgeschoss"/>
          <p:cNvSpPr/>
          <p:nvPr/>
        </p:nvSpPr>
        <p:spPr>
          <a:xfrm>
            <a:off x="548640" y="2011680"/>
            <a:ext cx="3621024" cy="2325319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7" name="Raum Treppe, Aufzug"/>
          <p:cNvSpPr/>
          <p:nvPr/>
        </p:nvSpPr>
        <p:spPr>
          <a:xfrm>
            <a:off x="548640" y="2103120"/>
            <a:ext cx="543154" cy="2142439"/>
          </a:xfrm>
          <a:prstGeom prst="rect">
            <a:avLst/>
          </a:prstGeom>
          <a:solidFill>
            <a:srgbClr val="8A919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2103120"/>
            <a:ext cx="543154" cy="2142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Treppe, Aufzug</a:t>
            </a:r>
            <a:endParaRPr lang="en-US" sz="1100" dirty="0"/>
          </a:p>
        </p:txBody>
      </p:sp>
      <p:sp>
        <p:nvSpPr>
          <p:cNvPr id="9" name="Raum Fläche"/>
          <p:cNvSpPr/>
          <p:nvPr/>
        </p:nvSpPr>
        <p:spPr>
          <a:xfrm>
            <a:off x="1091794" y="2103120"/>
            <a:ext cx="3077870" cy="2142439"/>
          </a:xfrm>
          <a:prstGeom prst="rect">
            <a:avLst/>
          </a:prstGeom>
          <a:solidFill>
            <a:srgbClr val="F2D48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Raum Bar"/>
          <p:cNvSpPr/>
          <p:nvPr/>
        </p:nvSpPr>
        <p:spPr>
          <a:xfrm>
            <a:off x="1152144" y="2163470"/>
            <a:ext cx="633679" cy="271577"/>
          </a:xfrm>
          <a:prstGeom prst="rect">
            <a:avLst/>
          </a:prstGeom>
          <a:solidFill>
            <a:srgbClr val="B8865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152144" y="2163470"/>
            <a:ext cx="633679" cy="2715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</a:t>
            </a:r>
            <a:endParaRPr lang="en-US" sz="1100" dirty="0"/>
          </a:p>
        </p:txBody>
      </p:sp>
      <p:sp>
        <p:nvSpPr>
          <p:cNvPr id="12" name="Raum Küche"/>
          <p:cNvSpPr/>
          <p:nvPr/>
        </p:nvSpPr>
        <p:spPr>
          <a:xfrm>
            <a:off x="2419502" y="2103120"/>
            <a:ext cx="1207008" cy="633679"/>
          </a:xfrm>
          <a:prstGeom prst="rect">
            <a:avLst/>
          </a:prstGeom>
          <a:solidFill>
            <a:srgbClr val="7E8A9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419502" y="2103120"/>
            <a:ext cx="1207008" cy="6336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Küche</a:t>
            </a:r>
            <a:endParaRPr lang="en-US" sz="1100" dirty="0"/>
          </a:p>
        </p:txBody>
      </p:sp>
      <p:sp>
        <p:nvSpPr>
          <p:cNvPr id="14" name="Raum WC"/>
          <p:cNvSpPr/>
          <p:nvPr/>
        </p:nvSpPr>
        <p:spPr>
          <a:xfrm>
            <a:off x="1815998" y="2103120"/>
            <a:ext cx="603504" cy="633679"/>
          </a:xfrm>
          <a:prstGeom prst="rect">
            <a:avLst/>
          </a:prstGeom>
          <a:solidFill>
            <a:srgbClr val="A6ADB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815998" y="2103120"/>
            <a:ext cx="603504" cy="6336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WC</a:t>
            </a:r>
            <a:endParaRPr lang="en-US" sz="1100" dirty="0"/>
          </a:p>
        </p:txBody>
      </p:sp>
      <p:sp>
        <p:nvSpPr>
          <p:cNvPr id="16" name="Raum Gastraum, ca. 100 Plätze"/>
          <p:cNvSpPr/>
          <p:nvPr/>
        </p:nvSpPr>
        <p:spPr>
          <a:xfrm>
            <a:off x="1453896" y="3083814"/>
            <a:ext cx="2112264" cy="678942"/>
          </a:xfrm>
          <a:prstGeom prst="rect">
            <a:avLst/>
          </a:prstGeom>
          <a:solidFill>
            <a:srgbClr val="E7BE63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453896" y="3083814"/>
            <a:ext cx="2112264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Gastraum, ca. 100 Plätze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4283964" y="1371600"/>
            <a:ext cx="3621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Obergeschoss</a:t>
            </a:r>
            <a:endParaRPr lang="en-US" sz="1800" dirty="0"/>
          </a:p>
        </p:txBody>
      </p:sp>
      <p:sp>
        <p:nvSpPr>
          <p:cNvPr id="19" name="Baukörper 1. Obergeschoss"/>
          <p:cNvSpPr/>
          <p:nvPr/>
        </p:nvSpPr>
        <p:spPr>
          <a:xfrm>
            <a:off x="4283964" y="2011680"/>
            <a:ext cx="3621024" cy="2325319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20" name="Raum Treppe, Aufzug"/>
          <p:cNvSpPr/>
          <p:nvPr/>
        </p:nvSpPr>
        <p:spPr>
          <a:xfrm>
            <a:off x="4283964" y="2103120"/>
            <a:ext cx="543154" cy="2142439"/>
          </a:xfrm>
          <a:prstGeom prst="rect">
            <a:avLst/>
          </a:prstGeom>
          <a:solidFill>
            <a:srgbClr val="8A919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283964" y="2103120"/>
            <a:ext cx="543154" cy="2142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Treppe, Aufzug</a:t>
            </a:r>
            <a:endParaRPr lang="en-US" sz="1100" dirty="0"/>
          </a:p>
        </p:txBody>
      </p:sp>
      <p:sp>
        <p:nvSpPr>
          <p:cNvPr id="22" name="Raum WE 1 · 85 m²"/>
          <p:cNvSpPr/>
          <p:nvPr/>
        </p:nvSpPr>
        <p:spPr>
          <a:xfrm>
            <a:off x="4827118" y="2103120"/>
            <a:ext cx="1025957" cy="2142439"/>
          </a:xfrm>
          <a:prstGeom prst="rect">
            <a:avLst/>
          </a:prstGeom>
          <a:solidFill>
            <a:srgbClr val="9A403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827118" y="2103120"/>
            <a:ext cx="1025957" cy="2142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1 · 85 m²</a:t>
            </a:r>
            <a:endParaRPr lang="en-US" sz="1100" dirty="0"/>
          </a:p>
        </p:txBody>
      </p:sp>
      <p:sp>
        <p:nvSpPr>
          <p:cNvPr id="24" name="Raum WE 2 · 85 m²"/>
          <p:cNvSpPr/>
          <p:nvPr/>
        </p:nvSpPr>
        <p:spPr>
          <a:xfrm>
            <a:off x="5853074" y="2103120"/>
            <a:ext cx="1025957" cy="2142439"/>
          </a:xfrm>
          <a:prstGeom prst="rect">
            <a:avLst/>
          </a:prstGeom>
          <a:solidFill>
            <a:srgbClr val="9A403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853074" y="2103120"/>
            <a:ext cx="1025957" cy="2142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2 · 85 m²</a:t>
            </a:r>
            <a:endParaRPr lang="en-US" sz="1100" dirty="0"/>
          </a:p>
        </p:txBody>
      </p:sp>
      <p:sp>
        <p:nvSpPr>
          <p:cNvPr id="26" name="Raum WE 3 · 85 m²"/>
          <p:cNvSpPr/>
          <p:nvPr/>
        </p:nvSpPr>
        <p:spPr>
          <a:xfrm>
            <a:off x="6879031" y="2103120"/>
            <a:ext cx="1025957" cy="2142439"/>
          </a:xfrm>
          <a:prstGeom prst="rect">
            <a:avLst/>
          </a:prstGeom>
          <a:solidFill>
            <a:srgbClr val="9A403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879031" y="2103120"/>
            <a:ext cx="1025957" cy="2142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3 · 85 m²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8019288" y="1371600"/>
            <a:ext cx="3621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Staffel (Holzbau)</a:t>
            </a:r>
            <a:endParaRPr lang="en-US" sz="1800" dirty="0"/>
          </a:p>
        </p:txBody>
      </p:sp>
      <p:sp>
        <p:nvSpPr>
          <p:cNvPr id="29" name="Baukörper Staffel (Holzbau)"/>
          <p:cNvSpPr/>
          <p:nvPr/>
        </p:nvSpPr>
        <p:spPr>
          <a:xfrm>
            <a:off x="8019288" y="2011680"/>
            <a:ext cx="3621024" cy="2325319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30" name="Raum Fläche"/>
          <p:cNvSpPr/>
          <p:nvPr/>
        </p:nvSpPr>
        <p:spPr>
          <a:xfrm>
            <a:off x="8019288" y="2103120"/>
            <a:ext cx="3621024" cy="2142439"/>
          </a:xfrm>
          <a:prstGeom prst="rect">
            <a:avLst/>
          </a:prstGeom>
          <a:solidFill>
            <a:srgbClr val="C9C4B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Raum Treppe"/>
          <p:cNvSpPr/>
          <p:nvPr/>
        </p:nvSpPr>
        <p:spPr>
          <a:xfrm>
            <a:off x="8139989" y="2223821"/>
            <a:ext cx="543154" cy="1901038"/>
          </a:xfrm>
          <a:prstGeom prst="rect">
            <a:avLst/>
          </a:prstGeom>
          <a:solidFill>
            <a:srgbClr val="8A919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139989" y="2223821"/>
            <a:ext cx="543154" cy="19010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Treppe</a:t>
            </a:r>
            <a:endParaRPr lang="en-US" sz="1100" dirty="0"/>
          </a:p>
        </p:txBody>
      </p:sp>
      <p:sp>
        <p:nvSpPr>
          <p:cNvPr id="33" name="Raum WE 4 · 63 m²"/>
          <p:cNvSpPr/>
          <p:nvPr/>
        </p:nvSpPr>
        <p:spPr>
          <a:xfrm>
            <a:off x="8683142" y="2223821"/>
            <a:ext cx="945993" cy="1901038"/>
          </a:xfrm>
          <a:prstGeom prst="rect">
            <a:avLst/>
          </a:prstGeom>
          <a:solidFill>
            <a:srgbClr val="7A5C3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8683142" y="2223821"/>
            <a:ext cx="945993" cy="19010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4 · 63 m²</a:t>
            </a:r>
            <a:endParaRPr lang="en-US" sz="1100" dirty="0"/>
          </a:p>
        </p:txBody>
      </p:sp>
      <p:sp>
        <p:nvSpPr>
          <p:cNvPr id="35" name="Raum WE 5 · 63 m²"/>
          <p:cNvSpPr/>
          <p:nvPr/>
        </p:nvSpPr>
        <p:spPr>
          <a:xfrm>
            <a:off x="9629135" y="2223821"/>
            <a:ext cx="945993" cy="1901038"/>
          </a:xfrm>
          <a:prstGeom prst="rect">
            <a:avLst/>
          </a:prstGeom>
          <a:solidFill>
            <a:srgbClr val="7A5C3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9629135" y="2223821"/>
            <a:ext cx="945993" cy="19010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5 · 63 m²</a:t>
            </a:r>
            <a:endParaRPr lang="en-US" sz="1100" dirty="0"/>
          </a:p>
        </p:txBody>
      </p:sp>
      <p:sp>
        <p:nvSpPr>
          <p:cNvPr id="37" name="Raum WE 6 · 63 m²"/>
          <p:cNvSpPr/>
          <p:nvPr/>
        </p:nvSpPr>
        <p:spPr>
          <a:xfrm>
            <a:off x="10575127" y="2223821"/>
            <a:ext cx="945993" cy="1901038"/>
          </a:xfrm>
          <a:prstGeom prst="rect">
            <a:avLst/>
          </a:prstGeom>
          <a:solidFill>
            <a:srgbClr val="7A5C3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10575127" y="2223821"/>
            <a:ext cx="945993" cy="19010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6 · 63 m²</a:t>
            </a:r>
            <a:endParaRPr lang="en-US" sz="1100" dirty="0"/>
          </a:p>
        </p:txBody>
      </p:sp>
      <p:sp>
        <p:nvSpPr>
          <p:cNvPr id="39" name="Hinweis"/>
          <p:cNvSpPr/>
          <p:nvPr/>
        </p:nvSpPr>
        <p:spPr>
          <a:xfrm>
            <a:off x="548640" y="4892040"/>
            <a:ext cx="11091672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77240" y="4983480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Grundfläche 24 × 14,2 m = 340 m², das passt in das geschätzte Baufenster. Treppenhaus und Aufzug liegen am Westende und erschließen die Wohnungen getrennt von der Gastro. Die Staffel in Holzbau hat ca. 280 m² BGF, die beige Fläche ist die schmale Terrasse (ca. 58 m²) rundum um die Penthouses.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Modern, Klinker, Milchglas und Staffelgeschoss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pic>
        <p:nvPicPr>
          <p:cNvPr id="5" name="Image 0" descr="Visualisierung Außenansic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5394960" cy="3008376"/>
          </a:xfrm>
          <a:prstGeom prst="rect">
            <a:avLst/>
          </a:prstGeom>
        </p:spPr>
      </p:pic>
      <p:pic>
        <p:nvPicPr>
          <p:cNvPr id="6" name="Image 1" descr="Eckansicht als Skizze: Flachdach mit Staffelgeschoss, Balkone, vollverglastes Erdgeschoss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17920" y="1280160"/>
            <a:ext cx="5394960" cy="3374136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548640" y="43434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KI-Visualisierung</a:t>
            </a:r>
            <a:endParaRPr lang="en-US" sz="1200" dirty="0"/>
          </a:p>
        </p:txBody>
      </p:sp>
      <p:sp>
        <p:nvSpPr>
          <p:cNvPr id="8" name="Text 3"/>
          <p:cNvSpPr txBox="1"/>
          <p:nvPr/>
        </p:nvSpPr>
        <p:spPr>
          <a:xfrm>
            <a:off x="6217920" y="468172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Unsere Skizze (Eckansicht)</a:t>
            </a:r>
            <a:endParaRPr lang="en-US" sz="1200" dirty="0"/>
          </a:p>
        </p:txBody>
      </p:sp>
      <p:sp>
        <p:nvSpPr>
          <p:cNvPr id="9" name="Text 4"/>
          <p:cNvSpPr txBox="1"/>
          <p:nvPr/>
        </p:nvSpPr>
        <p:spPr>
          <a:xfrm>
            <a:off x="548640" y="5120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Klinker</a:t>
            </a:r>
            <a:endParaRPr lang="en-US" sz="1600" dirty="0"/>
          </a:p>
        </p:txBody>
      </p:sp>
      <p:sp>
        <p:nvSpPr>
          <p:cNvPr id="10" name="Text 5"/>
          <p:cNvSpPr txBox="1"/>
          <p:nvPr/>
        </p:nvSpPr>
        <p:spPr>
          <a:xfrm>
            <a:off x="548640" y="5486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dunkel, Langformat, passend zum Umfeld</a:t>
            </a:r>
            <a:endParaRPr lang="en-US" sz="1400" dirty="0"/>
          </a:p>
        </p:txBody>
      </p:sp>
      <p:sp>
        <p:nvSpPr>
          <p:cNvPr id="11" name="Text 6"/>
          <p:cNvSpPr txBox="1"/>
          <p:nvPr/>
        </p:nvSpPr>
        <p:spPr>
          <a:xfrm>
            <a:off x="3337560" y="5120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Staffelgeschoss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3337560" y="5486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Holzbau, Terrasse rundum</a:t>
            </a:r>
            <a:endParaRPr lang="en-US" sz="1400" dirty="0"/>
          </a:p>
        </p:txBody>
      </p:sp>
      <p:sp>
        <p:nvSpPr>
          <p:cNvPr id="13" name="Text 8"/>
          <p:cNvSpPr txBox="1"/>
          <p:nvPr/>
        </p:nvSpPr>
        <p:spPr>
          <a:xfrm>
            <a:off x="6126480" y="5120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Balkone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6126480" y="5486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bodentiefe Fenster, Milchglas-Brüstungen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8915400" y="5120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Glas-EG</a:t>
            </a:r>
            <a:endParaRPr lang="en-US" sz="1600" dirty="0"/>
          </a:p>
        </p:txBody>
      </p:sp>
      <p:sp>
        <p:nvSpPr>
          <p:cNvPr id="16" name="Text 11"/>
          <p:cNvSpPr txBox="1"/>
          <p:nvPr/>
        </p:nvSpPr>
        <p:spPr>
          <a:xfrm>
            <a:off x="8915400" y="5486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Gastro mit Bar, Terrasse und Vordach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Große Gastro mit Bar, neu und modern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pic>
        <p:nvPicPr>
          <p:cNvPr id="5" name="Image 0" descr="Konzeptskizze: Grundriss der Gastro mit Bar, Wandansicht und Materialpalette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280160"/>
            <a:ext cx="7498080" cy="4686300"/>
          </a:xfrm>
          <a:prstGeom prst="rect">
            <a:avLst/>
          </a:prstGeom>
        </p:spPr>
      </p:pic>
      <p:pic>
        <p:nvPicPr>
          <p:cNvPr id="6" name="Image 1" descr="Visualisierung Innenraum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1280160"/>
            <a:ext cx="3319272" cy="2221992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8321040" y="3547872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KI-Visualisierung</a:t>
            </a:r>
            <a:endParaRPr lang="en-US" sz="1200" dirty="0"/>
          </a:p>
        </p:txBody>
      </p:sp>
      <p:sp>
        <p:nvSpPr>
          <p:cNvPr id="8" name="Text 3"/>
          <p:cNvSpPr txBox="1"/>
          <p:nvPr/>
        </p:nvSpPr>
        <p:spPr>
          <a:xfrm>
            <a:off x="8321040" y="3931920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ca. 100 Plätze</a:t>
            </a:r>
            <a:endParaRPr lang="en-US" sz="1600" dirty="0"/>
          </a:p>
        </p:txBody>
      </p:sp>
      <p:sp>
        <p:nvSpPr>
          <p:cNvPr id="9" name="Text 4"/>
          <p:cNvSpPr txBox="1"/>
          <p:nvPr/>
        </p:nvSpPr>
        <p:spPr>
          <a:xfrm>
            <a:off x="8321040" y="4315968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innen, plus ca. 32 auf der Terrasse</a:t>
            </a:r>
            <a:endParaRPr lang="en-US" sz="1300" dirty="0"/>
          </a:p>
        </p:txBody>
      </p:sp>
      <p:sp>
        <p:nvSpPr>
          <p:cNvPr id="10" name="Text 5"/>
          <p:cNvSpPr txBox="1"/>
          <p:nvPr/>
        </p:nvSpPr>
        <p:spPr>
          <a:xfrm>
            <a:off x="8321040" y="4709160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Bar</a:t>
            </a:r>
            <a:endParaRPr lang="en-US" sz="1600" dirty="0"/>
          </a:p>
        </p:txBody>
      </p:sp>
      <p:sp>
        <p:nvSpPr>
          <p:cNvPr id="11" name="Text 6"/>
          <p:cNvSpPr txBox="1"/>
          <p:nvPr/>
        </p:nvSpPr>
        <p:spPr>
          <a:xfrm>
            <a:off x="8321040" y="5001768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Barhocker, Polsterbänke, Backbar</a:t>
            </a:r>
            <a:endParaRPr lang="en-US" sz="1300" dirty="0"/>
          </a:p>
        </p:txBody>
      </p:sp>
      <p:sp>
        <p:nvSpPr>
          <p:cNvPr id="12" name="Text 7"/>
          <p:cNvSpPr txBox="1"/>
          <p:nvPr/>
        </p:nvSpPr>
        <p:spPr>
          <a:xfrm>
            <a:off x="8321040" y="5486400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</a:t>
            </a:r>
            <a:endParaRPr lang="en-US" sz="1600" dirty="0"/>
          </a:p>
        </p:txBody>
      </p:sp>
      <p:sp>
        <p:nvSpPr>
          <p:cNvPr id="13" name="Text 8"/>
          <p:cNvSpPr txBox="1"/>
          <p:nvPr/>
        </p:nvSpPr>
        <p:spPr>
          <a:xfrm>
            <a:off x="8321040" y="5687568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Olivgrün, Cognac-Samt, Bordeaux, Eiche, schwarzer Stahl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Visualisierungen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pic>
        <p:nvPicPr>
          <p:cNvPr id="5" name="Image 0" descr="Visualisierung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3514344" cy="2080260"/>
          </a:xfrm>
          <a:prstGeom prst="rect">
            <a:avLst/>
          </a:prstGeom>
        </p:spPr>
      </p:pic>
      <p:pic>
        <p:nvPicPr>
          <p:cNvPr id="6" name="Image 1" descr="Visualisierung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7304" y="1325880"/>
            <a:ext cx="3514344" cy="2080260"/>
          </a:xfrm>
          <a:prstGeom prst="rect">
            <a:avLst/>
          </a:prstGeom>
        </p:spPr>
      </p:pic>
      <p:pic>
        <p:nvPicPr>
          <p:cNvPr id="7" name="Image 2" descr="Visualisierung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5968" y="1325880"/>
            <a:ext cx="3514344" cy="2080260"/>
          </a:xfrm>
          <a:prstGeom prst="rect">
            <a:avLst/>
          </a:prstGeom>
        </p:spPr>
      </p:pic>
      <p:pic>
        <p:nvPicPr>
          <p:cNvPr id="8" name="Image 3" descr="Visualisierung 4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680460"/>
            <a:ext cx="3514344" cy="2080260"/>
          </a:xfrm>
          <a:prstGeom prst="rect">
            <a:avLst/>
          </a:prstGeom>
        </p:spPr>
      </p:pic>
      <p:pic>
        <p:nvPicPr>
          <p:cNvPr id="9" name="Image 4" descr="Visualisierung 5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37304" y="3680460"/>
            <a:ext cx="3514344" cy="2080260"/>
          </a:xfrm>
          <a:prstGeom prst="rect">
            <a:avLst/>
          </a:prstGeom>
        </p:spPr>
      </p:pic>
      <p:sp>
        <p:nvSpPr>
          <p:cNvPr id="10" name="Text 2"/>
          <p:cNvSpPr txBox="1"/>
          <p:nvPr/>
        </p:nvSpPr>
        <p:spPr>
          <a:xfrm>
            <a:off x="548640" y="598932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KI-generierte Visualisierungen zur Orientierung (neu erzeugt, mit Milchglas-Brüstungen), Maße und Details folgen mit dem Architekten.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Stellplätze sind der Knackpunkt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graphicFrame>
        <p:nvGraphicFramePr>
          <p:cNvPr id="5" name="Diagramm Stellplätze" descr=""/>
          <p:cNvGraphicFramePr/>
          <p:nvPr/>
        </p:nvGraphicFramePr>
        <p:xfrm>
          <a:off x="548640" y="1371600"/>
          <a:ext cx="530352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6400800" y="137160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Vorschlag für die Stadt</a:t>
            </a:r>
            <a:endParaRPr lang="en-US" sz="1900" dirty="0"/>
          </a:p>
        </p:txBody>
      </p:sp>
      <p:sp>
        <p:nvSpPr>
          <p:cNvPr id="7" name="Text 3"/>
          <p:cNvSpPr txBox="1"/>
          <p:nvPr/>
        </p:nvSpPr>
        <p:spPr>
          <a:xfrm>
            <a:off x="6400800" y="1874520"/>
            <a:ext cx="52120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Bedarf ca. 29 Stellplätze, auf dem Grundstück passen ca. 10–13.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Restplätze auf der öffentlichen Parkfläche nebenan (im Plan eingezeichnet) per Vereinbarung nutzen, besonders am Abend.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Alternativ Ablöse statt Bau, die Höhe muss die Stadt nennen.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Klären, ob der 10 m breite Grünstreifen teils befestigt werden darf.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Gesamtkosten ohne Förderung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13" name="Tabelle Kost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94944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194560"/>
                <a:gridCol w="155448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Rechnung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Betrag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Grundstück inkl. Steuer, Notar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960 m² × 230 € + ca. 7 %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236.256 €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Bau, Massivbau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960 m² × 2.200 €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2.112.000 €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Abschlag Holzbau (Staffelgeschoss)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280 m² × 400 € günstiger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− 112.000 €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Dachterrasse rundum (schmal)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 m² × 450 €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26.100 €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Baunebenkosten (Architekt, Statik, Gebühren)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15 % vom Bau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303.915 €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Gastro-Ausbau (Küche, Bar, Möbel, Technik)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Annahme, Posten im Anhang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Gesamtkosten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2.716.271 €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6" name="Diagramm Kosten" descr=""/>
          <p:cNvGraphicFramePr/>
          <p:nvPr/>
        </p:nvGraphicFramePr>
        <p:xfrm>
          <a:off x="7772400" y="1280160"/>
          <a:ext cx="393192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2"/>
          <p:cNvSpPr txBox="1"/>
          <p:nvPr/>
        </p:nvSpPr>
        <p:spPr>
          <a:xfrm>
            <a:off x="548640" y="530352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sind ca. 2.829 € pro m² BGF.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Finanzierung zu 100 % ohne Eigenkapital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14" name="Tabelle Finanzierung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58952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1737360"/>
                <a:gridCol w="17373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 (3,3 %)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Ausgang (4,0 %)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Gesamtkosten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2.716.271 €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2.716.271 €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Zinsen in der Bauzeit (15 Monate)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58.524 €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71.137 €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Bereitstellungszinsen (3 % p. a. ab Monat 7)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18.600 €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18.600 €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Zinsen im Aufschub-Jahr (keine Rate)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93.589 €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114.321 €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Kredit bei Start der Rate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2.886.984 €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2.920.330 €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pro Monat (1 % Tilgung)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10.345 €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12.168 €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davon Zinsen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7.939 €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9.734 €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davon Tilgung (Rückzahlung der Schuld)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2.406 €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2.434 €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Hinweise"/>
          <p:cNvSpPr/>
          <p:nvPr/>
        </p:nvSpPr>
        <p:spPr>
          <a:xfrm>
            <a:off x="8503920" y="1371600"/>
            <a:ext cx="3136392" cy="4114800"/>
          </a:xfrm>
          <a:prstGeom prst="roundRect">
            <a:avLst>
              <a:gd name="adj" fmla="val 233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732520" y="1554480"/>
            <a:ext cx="267919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Annahmen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Baubeginn Mitte 2027, 15 Monate Bauzeit, gleichmäßiger Abruf.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Plan: 3,3 % Mischzins aus Förderkrediten (Annahme).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Ausgang: 4,0 % bei 10 Jahren Zinsbindung (Stand 17.09.2026).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Was pro Monat übrig bleibt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15" name="Tabelle Cashflow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583680" cy="914400"/>
        </p:xfrm>
        <a:graphic>
          <a:graphicData uri="http://schemas.openxmlformats.org/drawingml/2006/table">
            <a:tbl>
              <a:tblPr/>
              <a:tblGrid>
                <a:gridCol w="4846320"/>
                <a:gridCol w="17373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 Monat, Plan, ohne Förderung, 50.000 € Umsatz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Betrag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Wohnungen: je 950 € Kaltmiete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+5.700 €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Gastro-Pacht: 290 m² × 12 €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+3.480 €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Gastro-Gewinn nach Pacht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+11.770 €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(Zinsen und Tilgung)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−10.345 €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Dein Lohn (wird vorerst nicht gerechnet)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Rücklagen (10 % der Miete und Pacht)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−918 €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pro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+9.687 €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Diagramm Cashflow" descr=""/>
          <p:cNvGraphicFramePr/>
          <p:nvPr/>
        </p:nvGraphicFramePr>
        <p:xfrm>
          <a:off x="7406640" y="1280160"/>
          <a:ext cx="429768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2"/>
          <p:cNvSpPr txBox="1"/>
          <p:nvPr/>
        </p:nvSpPr>
        <p:spPr>
          <a:xfrm>
            <a:off x="548640" y="54864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Ohne Lohn des Bauherrn. Die ca. 3.100 € Tilgung in der Rate sind Vermögensaufbau (Schuld sinkt), kein Verlust.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Förderung entscheidet über das Ergebnis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graphicFrame>
        <p:nvGraphicFramePr>
          <p:cNvPr id="16" name="Tabelle Szenari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1920240"/>
                <a:gridCol w="2103120"/>
                <a:gridCol w="1920240"/>
                <a:gridCol w="1673352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Förderung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Gesamtkosten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(3,3 %)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(3,3 %)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(4,0 %)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(4,0 %)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2.716.271 €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10.345 €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+9.687 €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12.168 €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+7.864 €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2.580.457 €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9.828 €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+10.204 €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11.560 €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+8.472 €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2.444.644 €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9.311 €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+10.721 €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10.951 €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+9.081 €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2.308.830 €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8.793 €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+11.239 €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10.343 €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+9.689 €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2.173.017 €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8.276 €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+11.756 €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9.734 €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+10.298 €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2.037.203 €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7.759 €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+12.273 €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9.126 €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+10.906 €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Diagramm Förderung" descr=""/>
          <p:cNvGraphicFramePr/>
          <p:nvPr/>
        </p:nvGraphicFramePr>
        <p:xfrm>
          <a:off x="548640" y="4343400"/>
          <a:ext cx="6858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2"/>
          <p:cNvSpPr txBox="1"/>
          <p:nvPr/>
        </p:nvSpPr>
        <p:spPr>
          <a:xfrm>
            <a:off x="7680960" y="4572000"/>
            <a:ext cx="39593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5 Prozentpunkte Förderung steigt das Ergebnis um ca. 517 € im Monat. Gastro-Umsatz 50.000 €, nach Rücklagen, ohne Lohn.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Wie viel Umsatz braucht die Gastro?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17" name="Tabelle Umsatz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559966"/>
                <a:gridCol w="1559966"/>
                <a:gridCol w="1559966"/>
                <a:gridCol w="1559966"/>
                <a:gridCol w="1559966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pro Monat (Plan 3,3 %)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Förderung 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+6.637 €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+8.162 €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+9.687 €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+11.212 €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+12.737 €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Förderung 10 %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+7.671 €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+9.196 €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+10.721 €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+12.246 €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+13.771 €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Förderung 15 %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+8.189 €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+9.714 €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+11.239 €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+12.764 €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+14.289 €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Förderung 20 %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+8.706 €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+10.231 €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+11.756 €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+13.281 €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+14.806 €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4114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Break-even-Umsatz (Ergebnis = 0, ohne Lohn)</a:t>
            </a:r>
            <a:endParaRPr lang="en-US" sz="1800" dirty="0"/>
          </a:p>
        </p:txBody>
      </p:sp>
      <p:graphicFrame>
        <p:nvGraphicFramePr>
          <p:cNvPr id="33" name="Tabelle Break-ev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572000"/>
          <a:ext cx="1109167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949958"/>
                <a:gridCol w="1949958"/>
                <a:gridCol w="1949958"/>
                <a:gridCol w="1949958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Förderung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Plan, 3,3 %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18.239 €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14.848 €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13.152 €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11.456 €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Ausgang, 4,0 %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24.217 €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20.227 €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18.232 €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16.237 €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Der Weg zu Plus: Hebel nacheinander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graphicFrame>
        <p:nvGraphicFramePr>
          <p:cNvPr id="18" name="Tabelle Pfad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7680960" cy="914400"/>
        </p:xfrm>
        <a:graphic>
          <a:graphicData uri="http://schemas.openxmlformats.org/drawingml/2006/table">
            <a:tbl>
              <a:tblPr/>
              <a:tblGrid>
                <a:gridCol w="4754880"/>
                <a:gridCol w="1463040"/>
                <a:gridCol w="146304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Schritt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 (3,3 %)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Ausgang (4,0 %)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Ausgangslage (40.000 € Umsatz, keine Förderung)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+6.637 €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+4.814 €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+ 15 % Förderung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+8.189 €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+6.639 €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Baukosten 2.000 €/m² statt 2.200 € (Bekanntenpreis)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+8.903 €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+7.479 €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Gastro-Ausbau nur 100.000 € statt 150.000 €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+9.064 €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+7.669 €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Gastro-Umsatz 45.000 €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+10.589 €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+9.194 €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Tilgung 0 % (nur Zinsen) in den ersten Jahren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+12.431 €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+11.056 €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6" name="Fazit Pfad"/>
          <p:cNvSpPr/>
          <p:nvPr/>
        </p:nvSpPr>
        <p:spPr>
          <a:xfrm>
            <a:off x="8595360" y="1280160"/>
            <a:ext cx="3044952" cy="4297680"/>
          </a:xfrm>
          <a:prstGeom prst="roundRect">
            <a:avLst>
              <a:gd name="adj" fmla="val 240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823960" y="1463040"/>
            <a:ext cx="2587752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Mindestpaket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Ohne Lohn des Bauherrn liegt schon die Ausgangslage mit 40.000 € Umsatz im Plus, Förderung und günstige Preise geben zusätzlichen Puffer.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Nur Konto, kein Gewinn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Tilgung 0 % verbessert das Konto, nicht das Haus.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53035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Grundsteuer, Gebäudeversicherung und Betriebskosten legt ihr über die Nebenkosten auf die Mieter um. Hausverwaltung und Instandhaltung (nicht umlagefähig) deckt die Rücklage von 10 %.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Verkauf an die Familie: Rechnung je Partei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Verwandten und die Bank</a:t>
            </a:r>
            <a:endParaRPr lang="en-US" sz="1000" dirty="0"/>
          </a:p>
        </p:txBody>
      </p:sp>
      <p:graphicFrame>
        <p:nvGraphicFramePr>
          <p:cNvPr id="19" name="Tabelle Verkauf je Partei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1672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2377440"/>
                <a:gridCol w="2377440"/>
                <a:gridCol w="2313432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OG, 85 m² (3×)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Staffel, 63 m² (3×)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Du: Gastro im EG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Preis (Selbstkosten)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314.625 €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226.174 €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1.093.874 €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Preis je m² Wohnfläche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3.701 €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3.590 €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pro Monat (3,3 % + 1 % Tilgung)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1.198 €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4.166 €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Einnahme pro Monat (nach 10 % Rücklagen)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15.250 €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pro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−343 €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+11.084 €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Preis, bei dem das Ergebnis 0 € ist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211.221 €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211.221 €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Lücke zum Selbstkostenpreis (ohne Eigenkapital)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103.404 €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14.954 €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mit 15 % Förderung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−164 €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516636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Rechnung für den Gastro-Teil gilt bei 50.000 € Umsatz ohne Lohn des Bauherrn, Break-even ab 14.000 €. Die Wohnungen tragen sich bei 11,18 €/m² Miete erst ab einem Preis von ca. 2.640 € je m².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Staffel-Wohnung (63 m²) kostet bei 950 € Miete 15 €/m², bei Marktmiete (11,18 €/m²) wären es 704 € und das Ergebnis −202 €.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Ziel: 250 € Plus für jede Wohnung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Verwandten und die Bank</a:t>
            </a:r>
            <a:endParaRPr lang="en-US" sz="1000" dirty="0"/>
          </a:p>
        </p:txBody>
      </p:sp>
      <p:graphicFrame>
        <p:nvGraphicFramePr>
          <p:cNvPr id="20" name="Tabelle Ziel 250 Euro Plu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1672" cy="914400"/>
        </p:xfrm>
        <a:graphic>
          <a:graphicData uri="http://schemas.openxmlformats.org/drawingml/2006/table">
            <a:tbl>
              <a:tblPr/>
              <a:tblGrid>
                <a:gridCol w="4663440"/>
                <a:gridCol w="2194560"/>
                <a:gridCol w="2194560"/>
                <a:gridCol w="203911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OG, 85 m² (3×)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Staffel, 63 m² (3×)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Verkaufspreis an die Verwandten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206.991 €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206.991 €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Deine Selbstkosten je Einheit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314.625 €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226.174 €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1.093.874 €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Preis je m² Wohnfläche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2.435 €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3.286 €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Nachlass, den du trägst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107.634 €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19.183 €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gesamt 380.451 €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Einnahme pro Monat (Miete nach 10 % Rücklagen / Gastro-Gewinn)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15.250 €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pro Monat (Zinsen)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−605 €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−605 €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−5.278 €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pro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+9.972 €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5120640"/>
            <a:ext cx="110916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Dein Anteil: Rate für das Gastro-EG 4.166 € (1 % Tilgung) plus Zinsen für die Differenz 1.112 €. Der Preis von ca. 207.000 € liegt nahe an dem, was Neubauwohnungen dieser Größe in Werlte kosten.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Bei 4,0 % Zins sinkt der Preis für 250 € Plus auf ca. 168.818 € (1.986 € je m²), dein Ergebnis auf +8.166 €. Bei Variante B / C beträgt der Nachlass je 85-m²-Wohnung im OG ca. 89.801 € / 85.396 €.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Verkaufsplan: wer bekommt welche Wohnung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Verwandten und die Bank</a:t>
            </a:r>
            <a:endParaRPr lang="en-US" sz="1000" dirty="0"/>
          </a:p>
        </p:txBody>
      </p:sp>
      <p:graphicFrame>
        <p:nvGraphicFramePr>
          <p:cNvPr id="21" name="Tabelle Verkaufspla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167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554480"/>
                <a:gridCol w="1325880"/>
                <a:gridCol w="1280160"/>
                <a:gridCol w="1234440"/>
                <a:gridCol w="1188720"/>
                <a:gridCol w="1188720"/>
                <a:gridCol w="130759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Partei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Wohnung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Verkaufspreis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Selbstkosten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Differenz (du)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Notar, Steuer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(Zinsen)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pro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Vater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OG, 85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253.246 €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314.625 €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61.379 €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5.065 €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Bruder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OG, 85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241.412 €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314.625 €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73.213 €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16.899 €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 (eigene Wohnung)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OG, 85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314.625 €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314.625 €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−65 €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Onkel 1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Staffel, 63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226.174 €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226.174 €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15.832 €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Onkel 2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Staffel, 63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226.174 €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226.174 €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15.832 €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Onkel 3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Staffel, 63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226.174 €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226.174 €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15.832 €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4754880"/>
            <a:ext cx="110916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Staffel-Wohnungen gehen zum Selbstkostenpreis, die OG-Wohnungen von Vater und Bruder werden so gesenkt, dass sie mindestens +100 € im Monat haben. Die Differenz von 134.591 € trägst du, die Zinsen darauf kosten 393 € im Monat.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Dein Ergebnis: Gastro 15.250 € minus Rate für das EG 4.166 € minus Zinsen auf die Differenz 393 € plus deine eigene Wohnung −65 € = +10.626 € pro Monat (ohne Lohn).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Verkaufsplan: Ablauf und offene Punkte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Verwandten und die Bank</a:t>
            </a:r>
            <a:endParaRPr lang="en-US" sz="1000" dirty="0"/>
          </a:p>
        </p:txBody>
      </p:sp>
      <p:sp>
        <p:nvSpPr>
          <p:cNvPr id="5" name="Schritt 1"/>
          <p:cNvSpPr/>
          <p:nvPr/>
        </p:nvSpPr>
        <p:spPr>
          <a:xfrm>
            <a:off x="548640" y="132588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1234440" y="1307592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Förderung und Preise klären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663440" y="1307592"/>
            <a:ext cx="6976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Stadt: Städtebauförderung und Grundstückspreis. Bauunternehmen und Zimmerei: Festpreis je m².</a:t>
            </a:r>
            <a:endParaRPr lang="en-US" sz="1250" dirty="0"/>
          </a:p>
        </p:txBody>
      </p:sp>
      <p:sp>
        <p:nvSpPr>
          <p:cNvPr id="9" name="Schritt 2"/>
          <p:cNvSpPr/>
          <p:nvPr/>
        </p:nvSpPr>
        <p:spPr>
          <a:xfrm>
            <a:off x="548640" y="210312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1234440" y="2084832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Bauvoranfrage / Bauantrag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4663440" y="2084832"/>
            <a:ext cx="6976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Staffelgeschoss, Flachdach, Höhe und Stellplätze schriftlich bestätigen lassen.</a:t>
            </a:r>
            <a:endParaRPr lang="en-US" sz="1250" dirty="0"/>
          </a:p>
        </p:txBody>
      </p:sp>
      <p:sp>
        <p:nvSpPr>
          <p:cNvPr id="13" name="Schritt 3"/>
          <p:cNvSpPr/>
          <p:nvPr/>
        </p:nvSpPr>
        <p:spPr>
          <a:xfrm>
            <a:off x="548640" y="288036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" y="2880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234440" y="2862072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Teilungserklärung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4663440" y="2862072"/>
            <a:ext cx="6976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Aufteilung in Wohnungseigentum (6 Wohnungen und Gastro-EG), Hausverwaltung bestimmen.</a:t>
            </a:r>
            <a:endParaRPr lang="en-US" sz="1250" dirty="0"/>
          </a:p>
        </p:txBody>
      </p:sp>
      <p:sp>
        <p:nvSpPr>
          <p:cNvPr id="17" name="Schritt 4"/>
          <p:cNvSpPr/>
          <p:nvPr/>
        </p:nvSpPr>
        <p:spPr>
          <a:xfrm>
            <a:off x="548640" y="365760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" y="3657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1234440" y="3639312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Finanzierung je Käufer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4663440" y="3639312"/>
            <a:ext cx="6976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Bankzusage für jeden Käufer, ohne Eigenkapital und nach den neuen Käufen der letzten zwei Jahre schwer.</a:t>
            </a:r>
            <a:endParaRPr lang="en-US" sz="1250" dirty="0"/>
          </a:p>
        </p:txBody>
      </p:sp>
      <p:sp>
        <p:nvSpPr>
          <p:cNvPr id="21" name="Schritt 5"/>
          <p:cNvSpPr/>
          <p:nvPr/>
        </p:nvSpPr>
        <p:spPr>
          <a:xfrm>
            <a:off x="548640" y="443484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48640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1234440" y="4416552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Notarverträge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4663440" y="4416552"/>
            <a:ext cx="6976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Verkauf vor dem Bau gilt als Bauträgergeschäft, Erlaubnis nach § 34c GewO und Sicherheiten klären.</a:t>
            </a:r>
            <a:endParaRPr lang="en-US" sz="1250" dirty="0"/>
          </a:p>
        </p:txBody>
      </p:sp>
      <p:sp>
        <p:nvSpPr>
          <p:cNvPr id="25" name="Schritt 6"/>
          <p:cNvSpPr/>
          <p:nvPr/>
        </p:nvSpPr>
        <p:spPr>
          <a:xfrm>
            <a:off x="548640" y="521208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48640" y="5212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1234440" y="5193792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 und Übergabe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4663440" y="5193792"/>
            <a:ext cx="6976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Bauzeit ca. 15 Monate, danach Abnahme und Übergabe, Vermietung der Wohnungen.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Risiken und was wir dagegen tun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sp>
        <p:nvSpPr>
          <p:cNvPr id="5" name="Risiko 1"/>
          <p:cNvSpPr/>
          <p:nvPr/>
        </p:nvSpPr>
        <p:spPr>
          <a:xfrm>
            <a:off x="548640" y="1371600"/>
            <a:ext cx="5362956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50876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Miete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011680"/>
            <a:ext cx="49057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950 € je Wohnung (ca. 12–15 €/m²) liegt über den Portalwerten für Neubau in Werlte (ca. 11 €/m²). Gegenmaßnahme: Vergleichsangebote, Vorvermietung.</a:t>
            </a:r>
            <a:endParaRPr lang="en-US" sz="1400" dirty="0"/>
          </a:p>
        </p:txBody>
      </p:sp>
      <p:sp>
        <p:nvSpPr>
          <p:cNvPr id="8" name="Risiko 2"/>
          <p:cNvSpPr/>
          <p:nvPr/>
        </p:nvSpPr>
        <p:spPr>
          <a:xfrm>
            <a:off x="6277356" y="1371600"/>
            <a:ext cx="5362956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505956" y="150876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Gastro-Umsatz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6505956" y="2011680"/>
            <a:ext cx="49057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Gastro braucht ab ca. 18.000 € Umsatz, bei 4 % Zins ca. 24.000 €. Gegenmaßnahme: Konzept, Pacht-Staffel, Lohn des Bauherrn bewusst ausgeklammert.</a:t>
            </a:r>
            <a:endParaRPr lang="en-US" sz="1400" dirty="0"/>
          </a:p>
        </p:txBody>
      </p:sp>
      <p:sp>
        <p:nvSpPr>
          <p:cNvPr id="11" name="Risiko 3"/>
          <p:cNvSpPr/>
          <p:nvPr/>
        </p:nvSpPr>
        <p:spPr>
          <a:xfrm>
            <a:off x="548640" y="3703320"/>
            <a:ext cx="5362956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384048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Zins</a:t>
            </a:r>
            <a:endParaRPr lang="en-US" sz="19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4343400"/>
            <a:ext cx="49057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 10 Jahren Zinsbindung ist der Folgezins offen. Gegenmaßnahme: Förderkredite, Forward-Darlehen, Tilgungsaussetzung.</a:t>
            </a:r>
            <a:endParaRPr lang="en-US" sz="1400" dirty="0"/>
          </a:p>
        </p:txBody>
      </p:sp>
      <p:sp>
        <p:nvSpPr>
          <p:cNvPr id="14" name="Risiko 4"/>
          <p:cNvSpPr/>
          <p:nvPr/>
        </p:nvSpPr>
        <p:spPr>
          <a:xfrm>
            <a:off x="6277356" y="3703320"/>
            <a:ext cx="5362956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505956" y="384048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Genehmigung</a:t>
            </a:r>
            <a:endParaRPr lang="en-US" sz="1900" dirty="0"/>
          </a:p>
        </p:txBody>
      </p:sp>
      <p:sp>
        <p:nvSpPr>
          <p:cNvPr id="16" name="Text 13"/>
          <p:cNvSpPr txBox="1"/>
          <p:nvPr/>
        </p:nvSpPr>
        <p:spPr>
          <a:xfrm>
            <a:off x="6505956" y="4343400"/>
            <a:ext cx="49057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Staffelgeschoss und Flachdach müssen von der Stadt bestätigt werden. Gegenmaßnahme: Vorabstimmung, Plan B mit Satteldach.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Was ich von der Stadt brauche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sp>
        <p:nvSpPr>
          <p:cNvPr id="5" name="Forderung 1"/>
          <p:cNvSpPr/>
          <p:nvPr/>
        </p:nvSpPr>
        <p:spPr>
          <a:xfrm>
            <a:off x="548640" y="137160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50876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Städtebauförderung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96596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10 % Förderung bringen ca. +1.035 € im Monat</a:t>
            </a:r>
            <a:endParaRPr lang="en-US" sz="1400" dirty="0"/>
          </a:p>
        </p:txBody>
      </p:sp>
      <p:sp>
        <p:nvSpPr>
          <p:cNvPr id="8" name="Forderung 2"/>
          <p:cNvSpPr/>
          <p:nvPr/>
        </p:nvSpPr>
        <p:spPr>
          <a:xfrm>
            <a:off x="6277356" y="137160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505956" y="150876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Grundstückspreis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6505956" y="196596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30 € weniger pro m² bringen ca. +119 € im Monat</a:t>
            </a:r>
            <a:endParaRPr lang="en-US" sz="1400" dirty="0"/>
          </a:p>
        </p:txBody>
      </p:sp>
      <p:sp>
        <p:nvSpPr>
          <p:cNvPr id="11" name="Forderung 3"/>
          <p:cNvSpPr/>
          <p:nvPr/>
        </p:nvSpPr>
        <p:spPr>
          <a:xfrm>
            <a:off x="548640" y="288036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301752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Pacht oder Mietzuschuss</a:t>
            </a:r>
            <a:endParaRPr lang="en-US" sz="19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347472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1.000 € Zuschuss im Monat sind 1.000 € mehr im Monat</a:t>
            </a:r>
            <a:endParaRPr lang="en-US" sz="1400" dirty="0"/>
          </a:p>
        </p:txBody>
      </p:sp>
      <p:sp>
        <p:nvSpPr>
          <p:cNvPr id="14" name="Forderung 4"/>
          <p:cNvSpPr/>
          <p:nvPr/>
        </p:nvSpPr>
        <p:spPr>
          <a:xfrm>
            <a:off x="6277356" y="288036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505956" y="301752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Stellplätze</a:t>
            </a:r>
            <a:endParaRPr lang="en-US" sz="1900" dirty="0"/>
          </a:p>
        </p:txBody>
      </p:sp>
      <p:sp>
        <p:nvSpPr>
          <p:cNvPr id="16" name="Text 13"/>
          <p:cNvSpPr txBox="1"/>
          <p:nvPr/>
        </p:nvSpPr>
        <p:spPr>
          <a:xfrm>
            <a:off x="6505956" y="347472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Mitnutzung der öffentlichen Parkfläche oder faire Ablöse</a:t>
            </a:r>
            <a:endParaRPr lang="en-US" sz="1400" dirty="0"/>
          </a:p>
        </p:txBody>
      </p:sp>
      <p:sp>
        <p:nvSpPr>
          <p:cNvPr id="17" name="Forderung 5"/>
          <p:cNvSpPr/>
          <p:nvPr/>
        </p:nvSpPr>
        <p:spPr>
          <a:xfrm>
            <a:off x="548640" y="438912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7240" y="452628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Genehmigung</a:t>
            </a:r>
            <a:endParaRPr lang="en-US" sz="1900" dirty="0"/>
          </a:p>
        </p:txBody>
      </p:sp>
      <p:sp>
        <p:nvSpPr>
          <p:cNvPr id="19" name="Text 16"/>
          <p:cNvSpPr txBox="1"/>
          <p:nvPr/>
        </p:nvSpPr>
        <p:spPr>
          <a:xfrm>
            <a:off x="777240" y="498348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Staffelgeschoss, Flachdach und Höhe schriftlich bestätigen</a:t>
            </a:r>
            <a:endParaRPr lang="en-US" sz="1400" dirty="0"/>
          </a:p>
        </p:txBody>
      </p:sp>
      <p:sp>
        <p:nvSpPr>
          <p:cNvPr id="20" name="Forderung 6"/>
          <p:cNvSpPr/>
          <p:nvPr/>
        </p:nvSpPr>
        <p:spPr>
          <a:xfrm>
            <a:off x="6277356" y="438912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05956" y="452628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Zinsvorteil</a:t>
            </a:r>
            <a:endParaRPr lang="en-US" sz="1900" dirty="0"/>
          </a:p>
        </p:txBody>
      </p:sp>
      <p:sp>
        <p:nvSpPr>
          <p:cNvPr id="22" name="Text 19"/>
          <p:cNvSpPr txBox="1"/>
          <p:nvPr/>
        </p:nvSpPr>
        <p:spPr>
          <a:xfrm>
            <a:off x="6505956" y="498348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0,5 % weniger Zins bringen ca. +1.278 € im Monat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Nächste Schritte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5" name="Schritt 1"/>
          <p:cNvSpPr/>
          <p:nvPr/>
        </p:nvSpPr>
        <p:spPr>
          <a:xfrm>
            <a:off x="548640" y="137160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325880" y="138988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Okt 2026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3200400" y="13898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Gespräch mit der Stadt: Preis, Förderung, Stellplätze</a:t>
            </a:r>
            <a:endParaRPr lang="en-US" sz="1600" dirty="0"/>
          </a:p>
        </p:txBody>
      </p:sp>
      <p:sp>
        <p:nvSpPr>
          <p:cNvPr id="9" name="Schritt 2"/>
          <p:cNvSpPr/>
          <p:nvPr/>
        </p:nvSpPr>
        <p:spPr>
          <a:xfrm>
            <a:off x="548640" y="214884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16712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 2026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3200400" y="216712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Architekt, Baufenster, Höhen und Geschosse schriftlich klären</a:t>
            </a:r>
            <a:endParaRPr lang="en-US" sz="1600" dirty="0"/>
          </a:p>
        </p:txBody>
      </p:sp>
      <p:sp>
        <p:nvSpPr>
          <p:cNvPr id="13" name="Schritt 3"/>
          <p:cNvSpPr/>
          <p:nvPr/>
        </p:nvSpPr>
        <p:spPr>
          <a:xfrm>
            <a:off x="548640" y="292608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" y="2926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325880" y="294436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Dez 2026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3200400" y="294436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Bank: Finanzierung, Aufschub, Förderkredite anfragen</a:t>
            </a:r>
            <a:endParaRPr lang="en-US" sz="1600" dirty="0"/>
          </a:p>
        </p:txBody>
      </p:sp>
      <p:sp>
        <p:nvSpPr>
          <p:cNvPr id="17" name="Schritt 4"/>
          <p:cNvSpPr/>
          <p:nvPr/>
        </p:nvSpPr>
        <p:spPr>
          <a:xfrm>
            <a:off x="548640" y="370332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" y="3703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1325880" y="372160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 2027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3200400" y="372160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Städtebaulicher Vertrag, Bauantrag</a:t>
            </a:r>
            <a:endParaRPr lang="en-US" sz="1600" dirty="0"/>
          </a:p>
        </p:txBody>
      </p:sp>
      <p:sp>
        <p:nvSpPr>
          <p:cNvPr id="21" name="Schritt 5"/>
          <p:cNvSpPr/>
          <p:nvPr/>
        </p:nvSpPr>
        <p:spPr>
          <a:xfrm>
            <a:off x="548640" y="448056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48640" y="44805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1325880" y="449884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Mitte 2027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3200400" y="449884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Baubeginn, 15 Monate Bauzeit</a:t>
            </a:r>
            <a:endParaRPr lang="en-US" sz="1600" dirty="0"/>
          </a:p>
        </p:txBody>
      </p:sp>
      <p:sp>
        <p:nvSpPr>
          <p:cNvPr id="25" name="Schritt 6"/>
          <p:cNvSpPr/>
          <p:nvPr/>
        </p:nvSpPr>
        <p:spPr>
          <a:xfrm>
            <a:off x="548640" y="52578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48640" y="5257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1325880" y="527608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Ende 2028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3200400" y="52760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Eröffnung zusammen mit der neuen Mitte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560320"/>
            <a:ext cx="9144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1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Anhang</a:t>
            </a:r>
            <a:endParaRPr lang="en-US" sz="4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74904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Annahmen, Gastro-Kosten, Gastro-Ausbau, Mietdaten, Vergleich mit Variante B und C</a:t>
            </a:r>
            <a:endParaRPr lang="en-US" sz="1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Rechenannahmen und offene Punkte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371600"/>
            <a:ext cx="5317236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Grundstück 960 m² × 230 € plus ca. 7 % (5 % Grunderwerbsteuer, ca. 2 % Notar)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 960 m² BGF × 2.200 €, Staffel in Holzbau 400 €/m² günstiger, Terrasse 58 m² × 450 €, Baunebenkosten 15 %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100 % Fremdfinanzierung, 1 % Tilgung, Aufschub 12 Monate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Bauzeit 15 Monate, Bereitstellungszins 3 % p. a. ab Monat 7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Zins Plan 3,3 % (Förderkredite, Annahme), Ausgang 4,0 %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6323076" y="1371600"/>
            <a:ext cx="5317236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Gastro-Umsatz 50.000 € netto, Marge vor Pacht 30,5 %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Wohnungen zu je 950 € Kaltmiete, Gastro-Pacht 12 €/m²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Lohn des Bauherrn wird vorerst nicht gerechnet, Rücklagen 10 % der Miete und Pacht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Förderung als Zuschuss in % der Gesamtkosten (Annahme)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Nebenkosten (Grundsteuer, Versicherung, Betriebskosten) werden auf die Mieter umgelegt, die Hausverwaltung deckt die Rücklage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Offen: Baufenster, Staffelgeschoss, Höhen, Stellplatzsatzung, Zins nach 10 Jahren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Gastro: Kosten pro Monat bei 50.000 € Umsatz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graphicFrame>
        <p:nvGraphicFramePr>
          <p:cNvPr id="28" name="Tabelle Gastro-Kost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1672" cy="914400"/>
        </p:xfrm>
        <a:graphic>
          <a:graphicData uri="http://schemas.openxmlformats.org/drawingml/2006/table">
            <a:tbl>
              <a:tblPr/>
              <a:tblGrid>
                <a:gridCol w="6400800"/>
                <a:gridCol w="2286000"/>
                <a:gridCol w="2404872"/>
              </a:tblGrid>
              <a:tr h="3703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Richtwert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Betrag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Wareneinsatz (Einkauf Essen und Getränke)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28 %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Personal (ohne Chef-Lohn)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30 %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Pacht ans Haus (290 m² × 12 €)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3.480 €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Energie, Wasser, Müll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3 %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Reinigung, Wäsche, Verbrauchsmaterial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2 %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Werbung und Marketing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1,5 %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Reparaturen, Wartung, Kassensystem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1,5 %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Sonstiges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1,5 %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Versicherungen, GEMA, Gebühren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Steuerberater, Buchhaltung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Summe 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38.230 €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Gewinn nach Pacht, vor Lohn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11.770 €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Gastro-Ausbau nach Posten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graphicFrame>
        <p:nvGraphicFramePr>
          <p:cNvPr id="29" name="Tabelle Gastro-Ausbau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7315200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182880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Betrag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Küche (Herd, Kühlräume, Edelstahl, Spülküche)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Lüftung und Abluft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Theke und Bar (Zapfanlage, Kühlung, Backbar)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Möbel (ca. 100 Plätze, Lounge)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Beleuchtung und Deko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Wand, Boden, Decke, Akustik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Gäste-WC Ausstattung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Kasse, Technik, Musik, WLAN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Terrasse (Holzdeck, Möbel, Heizstrahler)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Planung und Genehmigung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Eröffnung, Marketing, Warenerstbestückung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Puffer 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7.150 €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Summe (im Modell: 150.000 €)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150.150 €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Hinweis Ausbau"/>
          <p:cNvSpPr/>
          <p:nvPr/>
        </p:nvSpPr>
        <p:spPr>
          <a:xfrm>
            <a:off x="8229600" y="1234440"/>
            <a:ext cx="3410712" cy="292608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458200" y="1417320"/>
            <a:ext cx="295351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Baunebenkosten von 15 % fallen auf Möbel und Geräte nicht an, die Planung steckt als eigener Posten drin. Eine erste Schätzung für einen aufwendigeren Ausbau lag bei ca. 310.000 €, der Unterschied liegt vor allem bei Küche, Möbeln und Theke.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Mietdaten für Werlte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graphicFrame>
        <p:nvGraphicFramePr>
          <p:cNvPr id="30" name="Tabelle Miet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863840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237744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Quelle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Wert für Werlte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ImmoScout24 (Wohnungen, Durchschnitt)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7,78 €/m²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miete-aktuell.de (Kaltmiete 2026)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8,13 €/m²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mietpreise.info (14 Inserate, Spanne 6,09–14,48 €)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9,58 €/m²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mietpreise.info (Neubau)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10,73–11,02 €/m²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Landkreis Emsland (ImmoScout24, Q2 2026)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8,10 €/m²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Annahme Miete"/>
          <p:cNvSpPr/>
          <p:nvPr/>
        </p:nvSpPr>
        <p:spPr>
          <a:xfrm>
            <a:off x="8778240" y="1371600"/>
            <a:ext cx="2862072" cy="3291840"/>
          </a:xfrm>
          <a:prstGeom prst="roundRect">
            <a:avLst>
              <a:gd name="adj" fmla="val 2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9006840" y="1554480"/>
            <a:ext cx="2404872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 Modell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Wohnungen zu 950 € Kaltmiete (Bauherr, zentrale Lage), das sind bei ca. 75 m² etwa 12,70 €/m². Gastro-Pacht 12 €/m² ohne Marktdaten.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493776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Quellen: mietpreise.info/mietspiegel/werlte, miete-aktuell.de, immobilienscout24.de (Kreis Emsland), Abruf Oktober 2026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Vergleich: Variante A, B und C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graphicFrame>
        <p:nvGraphicFramePr>
          <p:cNvPr id="31" name="Tabelle Varianten B und C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822960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1554480"/>
                <a:gridCol w="1554480"/>
                <a:gridCol w="155448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A: 340 m², 2+Staffel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B: 540 m², 2+Staffel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C: 540 m², 3+Holz-Penthouse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Bruttofläche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1.540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2.080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Wohnfläche / Wohnungen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444 m² / 6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725 m² / ca. 8–9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1.140 m² / ca. 13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 / Büro im EG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290 m² / –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290 m² / 150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290 m² / 150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Gesamtkosten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2.716.271 €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4.112.256 €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5.478.456 €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pro Monat (ein Kredit)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10.345 €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15.655 €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20.852 €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bei 50.000 € Umsatz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+9.687 €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+7.890 €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+6.867 €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Break-even-Umsatz Gastro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18.239 €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24.132 €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27.484 €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bei 4,0 % Zins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+7.864 €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+5.133 €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+3.198 €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Kosten je m² Wohnfläche, Regelgeschoss / Staffel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3.701 € / 3.590 €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3.492 € / 3.433 €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3.440 € / 3.374 €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85-m²-Wohnung im Regelgeschoss: Ergebnis (eigener Kredit)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−343 €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−275 €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−259 €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Preis-Lücke je 85-m²-Wohnung im Regelgeschoss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103.404 €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85.571 €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81.166 €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Hinweis B und C"/>
          <p:cNvSpPr/>
          <p:nvPr/>
        </p:nvSpPr>
        <p:spPr>
          <a:xfrm>
            <a:off x="9326880" y="1280160"/>
            <a:ext cx="2313432" cy="4572000"/>
          </a:xfrm>
          <a:prstGeom prst="roundRect">
            <a:avLst>
              <a:gd name="adj" fmla="val 316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9509760" y="1463040"/>
            <a:ext cx="1947672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Annahmen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 540 m² (Gastro 290 m², Büro 150 m²), Regelgeschosse je 540 m², Staffel 460 m² in Holzbau mit 80 m² schmaler Terrasse. Büro 10 €/m², Wohnen 11,18 €/m².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 klären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Baufenster, zwei Vollgeschosse, bei C drei Vollgeschosse und ca. 13 m Höhe statt 12 m, deutlich mehr Stellplätze.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ue Mitte Werlte">
  <a:themeElements>
    <a:clrScheme name="Neue Mitte Werlte">
      <a:dk1>
        <a:srgbClr val="1F2421"/>
      </a:dk1>
      <a:lt1>
        <a:srgbClr val="FFFFFF"/>
      </a:lt1>
      <a:dk2>
        <a:srgbClr val="2F4A3E"/>
      </a:dk2>
      <a:lt2>
        <a:srgbClr val="F1F0EE"/>
      </a:lt2>
      <a:accent1>
        <a:srgbClr val="8C3B32"/>
      </a:accent1>
      <a:accent2>
        <a:srgbClr val="2F4A3E"/>
      </a:accent2>
      <a:accent3>
        <a:srgbClr val="C49A45"/>
      </a:accent3>
      <a:accent4>
        <a:srgbClr val="5B6770"/>
      </a:accent4>
      <a:accent5>
        <a:srgbClr val="2E7D5B"/>
      </a:accent5>
      <a:accent6>
        <a:srgbClr val="B3261E"/>
      </a:accent6>
      <a:hlink>
        <a:srgbClr val="8C3B32"/>
      </a:hlink>
      <a:folHlink>
        <a:srgbClr val="5B6770"/>
      </a:folHlink>
    </a:clrScheme>
    <a:fontScheme name="Neue Mitte Werlt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Neue Mitte Werlte – Baufeld 3: Gastro und 6 Wohnungen</dc:title>
  <dc:subject>PptxGenJS Presentation</dc:subject>
  <dc:creator>Bessam Hasso</dc:creator>
  <cp:lastModifiedBy>Bessam Hasso</cp:lastModifiedBy>
  <cp:revision>1</cp:revision>
  <dcterms:created xsi:type="dcterms:W3CDTF">2026-10-16T06:16:55Z</dcterms:created>
  <dcterms:modified xsi:type="dcterms:W3CDTF">2026-10-16T06:16:55Z</dcterms:modified>
</cp:coreProperties>
</file>