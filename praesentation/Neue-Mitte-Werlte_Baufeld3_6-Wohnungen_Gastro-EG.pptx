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2592000</c:v>
                </c:pt>
                <c:pt idx="2">
                  <c:v>388800</c:v>
                </c:pt>
                <c:pt idx="3">
                  <c:v>310000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-13429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603</c:v>
                </c:pt>
                <c:pt idx="1">
                  <c:v>1274</c:v>
                </c:pt>
                <c:pt idx="2">
                  <c:v>1946</c:v>
                </c:pt>
                <c:pt idx="3">
                  <c:v>2617</c:v>
                </c:pt>
                <c:pt idx="4">
                  <c:v>3289</c:v>
                </c:pt>
                <c:pt idx="5">
                  <c:v>3960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-1762</c:v>
                </c:pt>
                <c:pt idx="1">
                  <c:v>-972</c:v>
                </c:pt>
                <c:pt idx="2">
                  <c:v>-183</c:v>
                </c:pt>
                <c:pt idx="3">
                  <c:v>607</c:v>
                </c:pt>
                <c:pt idx="4">
                  <c:v>1397</c:v>
                </c:pt>
                <c:pt idx="5">
                  <c:v>2186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2.700 €/m² BGF und 15 % Baunebenkosten sind Annahmen und müssen durch Architekt und Angebote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eigene Schätzungen, ein Gastro-Fachplaner und Angebote von Küchen- und Lüftungsbauern müssen sie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Baufeld 3: Große Gastro und 6 Wohnungen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Vorhaben auf einen Blick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3,53 Mio. €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13.429 €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+603 €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Ergebnis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+3.960 €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ohne Förderung im Plus, aber knapp.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ohne Förderung ca. 48.000 €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Eckgrundstück an der neuen Mitte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960 m²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Mischgebiet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Baureife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der Bebauungsplan vorgibt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Festsetzung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im B-Plan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Unser Entwurf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Grundflächenzahl (GRZ)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0,6 → max. 576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 Grundfläche (35 %)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Vollgeschosse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zwei (II im Kreis)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 und 1. OG, dazu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Traufhöhe / Höhe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6,50 m / 12,00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Hauptbaukörper 6,50 m, gesamt ca. 9,90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Dachform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laut Konzeptheft Mischgebiet, Details im 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Flachdach mit zurückgesetztem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Baufenster (geschätzt)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27 × 15–17 m = 400–460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24 × 14,2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Stellplätze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auf dem Grundstück, ausreichende Anzahl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10–13, Rest siehe Stellplatzfolie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Zählt das Staffelgeschoss (ca. 280 m², das sind 82 %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Geschosse plus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3A4047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6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Ebene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Nutzung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BGF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 ca. 290 m² mit Bar, Treppenhaus, Aufzug, Technik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 OG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85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Staffel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63 m², Dachterrassen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280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6 Wohnungen, ca. 445 m² Wohnfläche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960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BGF = Bruttogrundfläche, alle Geschossflächen zusammen. Das Staffelgeschoss springt zur Südseite um ca. 0,9 m und zur Ostseite um ca. 3 m zurück.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Skizzen der Geschosse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</a:t>
            </a:r>
            <a:endParaRPr lang="en-US" sz="1800" dirty="0"/>
          </a:p>
        </p:txBody>
      </p:sp>
      <p:sp>
        <p:nvSpPr>
          <p:cNvPr id="29" name="Baukörper Staffelgeschoss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Treppe"/>
          <p:cNvSpPr/>
          <p:nvPr/>
        </p:nvSpPr>
        <p:spPr>
          <a:xfrm>
            <a:off x="8019288" y="2103120"/>
            <a:ext cx="543154" cy="2006651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19288" y="2103120"/>
            <a:ext cx="543154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</a:t>
            </a:r>
            <a:endParaRPr lang="en-US" sz="1100" dirty="0"/>
          </a:p>
        </p:txBody>
      </p:sp>
      <p:sp>
        <p:nvSpPr>
          <p:cNvPr id="32" name="Raum WE 4 · 63 m²"/>
          <p:cNvSpPr/>
          <p:nvPr/>
        </p:nvSpPr>
        <p:spPr>
          <a:xfrm>
            <a:off x="8562442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562442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4 · 63 m²</a:t>
            </a:r>
            <a:endParaRPr lang="en-US" sz="1100" dirty="0"/>
          </a:p>
        </p:txBody>
      </p:sp>
      <p:sp>
        <p:nvSpPr>
          <p:cNvPr id="34" name="Raum WE 5 · 63 m²"/>
          <p:cNvSpPr/>
          <p:nvPr/>
        </p:nvSpPr>
        <p:spPr>
          <a:xfrm>
            <a:off x="9437522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437522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5 · 63 m²</a:t>
            </a:r>
            <a:endParaRPr lang="en-US" sz="1100" dirty="0"/>
          </a:p>
        </p:txBody>
      </p:sp>
      <p:sp>
        <p:nvSpPr>
          <p:cNvPr id="36" name="Raum WE 6 · 63 m²"/>
          <p:cNvSpPr/>
          <p:nvPr/>
        </p:nvSpPr>
        <p:spPr>
          <a:xfrm>
            <a:off x="10312603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312603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6 · 63 m²</a:t>
            </a:r>
            <a:endParaRPr lang="en-US" sz="1100" dirty="0"/>
          </a:p>
        </p:txBody>
      </p:sp>
      <p:sp>
        <p:nvSpPr>
          <p:cNvPr id="38" name="Raum Fläche"/>
          <p:cNvSpPr/>
          <p:nvPr/>
        </p:nvSpPr>
        <p:spPr>
          <a:xfrm>
            <a:off x="11187684" y="2103120"/>
            <a:ext cx="452628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Raum Fläche"/>
          <p:cNvSpPr/>
          <p:nvPr/>
        </p:nvSpPr>
        <p:spPr>
          <a:xfrm>
            <a:off x="8019288" y="4109771"/>
            <a:ext cx="3168396" cy="135788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Grundfläche 24 × 14,2 m = 340 m², das passt in das geschätzte Baufenster. Treppenhaus und Aufzug liegen am Westende und erschließen die Wohnungen getrennt von der Gastro. Die Staffel hat ca. 280 m² BGF, die beigen Flächen sind Dachterrassen.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Modern, Klinker, Glas und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Klinker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Staffelgeschoss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Zink und Glas, Dachterrassen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Balkone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Glas-EG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Große Gastro mit Bar, neu und modern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77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100 Plätze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634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Barhocker, Lounge, beleuchtete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3492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Dunkelgrün, Terrazzo, Eiche, Messing,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Visualisierungen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25880"/>
            <a:ext cx="5408676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31636" y="1325880"/>
            <a:ext cx="5408676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8640" y="3680460"/>
            <a:ext cx="5408676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31636" y="3680460"/>
            <a:ext cx="5408676" cy="2080260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Variante: Mittelgeschoss doppelt, vier Ebenen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11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 Ebenen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 Ebenen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Wohnungen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BGF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1.300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4.582.756 €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Rate (Plan)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17.445 €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Ergebnis bei 50.000 € Umsatz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−848 €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… mit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+1.769 €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Break-even-Umsatz,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41.419 €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44.200 €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zweite Mittelgeschoss bringt 3 weitere Wohnungen zu 950 €, kostet aber ca. 1,06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 sind der Knackpunkt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Vorschlag für die Stadt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Gesamtkosten ohne Förderung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Rechnung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Grundstück inkl. Steuer, Notar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 × 230 € + ca. 7 %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236.256 €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 ×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2.592.000 €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Baunebenkosten (Architekt, Statik, Gebühren)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15 % vom 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388.800 €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Gastro-Ausbau (Küche, Bar, Möbel, Technik)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Posten im Anhang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310.000 €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120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sind ca. 3.674 €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Finanzierung zu 100 % ohne Eigenkapital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in der Bauzeit (15 Monate)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74.409 €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90.441 €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Bereitstellungszinsen (3 % p. a. ab Monat 7)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24.681 €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24.681 €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im Aufschub-Jahr (keine Rate)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121.489 €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148.388 €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Kredit bei Start der Rate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3.747.636 €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3.790.566 €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Rate pro Monat (1 %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15.794 €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Zinsen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10.306 €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12.635 €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Tilgung (Rückzahlung der Schuld)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3.123 €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3.159 €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pro Monat übrig bleibt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 Monat, Plan, ohne Förderung, 50.000 € Umsatz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 Wohnungen: je 950 € Kaltmiete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+5.700 €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Gastro-Pacht: 290 m² × 12 €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Gastro-Gewinn nach Pacht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Rate (Zinsen und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Dein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Rücklagen (10 % der Miete und Pacht)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−918 €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Ergebnis pro Monat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Förderung entscheidet über das Ergebnis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15.794 €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−1.762 €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3.350.703 €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12.758 €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−972 €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3.174.350 €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12.086 €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14.215 €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−183 €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2.997.998 €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11.415 €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13.425 €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2.821.645 €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10.743 €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12.635 €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+1.397 €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2.645.292 €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10.072 €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+3.960 €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11.846 €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+2.186 €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5 Prozentpunkte Förderung steigt das Ergebnis um ca. 671 €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viel Umsatz braucht die Gastro?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pro Monat (Plan 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60.000 €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−922 €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+2.128 €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+3.653 €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−1.104 €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+3.471 €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+4.996 €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+1.092 €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+4.142 €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+5.667 €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+239 €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+1.764 €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+6.339 €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Plan, 3,3 %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48.023 €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43.620 €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41.419 €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39.217 €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Ausgang, 4,0 %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55.777 €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50.599 €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48.010 €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45.420 €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Weg zu Plus: Hebel nacheinander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Schritt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Ausgangslage (40.000 € Umsatz, keine Förderung)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−4.812 €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Baukosten 2.500 €/m² statt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−1.604 €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Gastro-Ausbau sparsam (245.000 €)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+491 €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−1.356 €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Gastro-Umsatz 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+2.016 €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Tilgung 0 % (nur Zinsen) in den ersten Jahren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+4.456 €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Lohn 4.000 € statt 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+6.456 €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Förderung, günstigere Baukosten und ein sparsamer Ausbau reichen im Plan für Plus.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Risiken und was wir dagegen tun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Gastro-Umsatz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Gastro braucht ab ca. 48.000 € Umsatz, bei 4 % Zins ca. 56.000 €.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ich von der Stadt brauche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Städtebauförderung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 Förderung bringen ca. +1.343 €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Grundstückspreis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Pacht oder Mietzuschuss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Zinsvorteil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0,5 % weniger Zins bringen ca. +1.658 €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Schritte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Anhang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Annahmen, Gastro-Kosten, Gastro-Ausbau, Mietdaten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Rechenannahmen und offene Punkte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960 m² BGF × 2.700 €,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Gastro: Kosten pro Monat bei 50.000 € Umsatz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4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Richtwert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Wareneinsatz (Einkauf Essen und Getränke)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28 %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Personal (ohne Chef-Lohn)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Pacht ans Haus (290 m² × 12 €)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Energie, Wasser, Müll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Reinigung, Wäsche, Verbrauchsmaterial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Werbung und Marketing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Reparaturen, Wartung, Kassensystem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Sonstiges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Versicherungen, GEMA, Gebühren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Steuerberater, Buchhaltung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38.230 €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Gewinn nach Pacht, vor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Gastro-Ausbau nach Posten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5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Küche (Herd, Kühlräume, Edelstahl, Spülküche)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Lüftung und Abluft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Theke und Bar (Zapfanlage, Kühlung, Backbar)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Möbel (ca. 100 Plätze, Lounge)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Beleuchtung und Deko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Wand, Boden, Decke, Akustik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Gäste-WC Ausstattung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Kasse, Technik, Musik, WLAN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Terrasse (Holzdeck, Möbel, Heizstrahler)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Planung und Genehmigung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Geschirr, Gläser, Besteck, Textilien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Eröffnung, Marketing, Warenerstbestückung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Puffer 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(im Modell: 310.000 €)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309.750 €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Baunebenkosten von 15 % fallen auf Möbel und Geräte nicht an, die Planung steckt als eigener Posten drin. Ein sparsamer Ausbau (ca. 245.000 €) steht auf der Pfad-Folie.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Mietdaten für Werlte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6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Quelle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für Werlte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ImmoScout24 (Wohnungen, Durchschnitt)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7,78 €/m²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miete-aktuell.de (Kaltmiete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8,13 €/m²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(14 Inserate, Spanne 6,09–14,48 €)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9,58 €/m²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(Neubau)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10,73–11,02 €/m²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Landkreis Emsland (ImmoScout24, Q2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8,10 €/m²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2026-10-14T11:09:46Z</dcterms:created>
  <dcterms:modified xsi:type="dcterms:W3CDTF">2026-10-14T11:09:46Z</dcterms:modified>
</cp:coreProperties>
</file>