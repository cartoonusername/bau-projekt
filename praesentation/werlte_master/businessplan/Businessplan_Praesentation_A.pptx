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Stellplätze</c:v>
                </c:pt>
              </c:strCache>
            </c:strRef>
          </c:tx>
          <c:spPr>
            <a:solidFill>
              <a:srgbClr val="2D4A3E"/>
            </a:solidFill>
          </c:spPr>
          <c:cat>
            <c:strRef>
              <c:f>Sheet1!$A$2:$A$4</c:f>
              <c:strCache>
                <c:ptCount val="3"/>
                <c:pt idx="0">
                  <c:v>Bedarf Gastro/Büro (untere Spanne)</c:v>
                </c:pt>
                <c:pt idx="1">
                  <c:v>Bedarf (obere Spanne)</c:v>
                </c:pt>
                <c:pt idx="2">
                  <c:v>gezeichnet A – B3 Standard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11.4</c:v>
                </c:pt>
                <c:pt idx="1">
                  <c:v>16.9</c:v>
                </c:pt>
                <c:pt idx="2">
                  <c:v>11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Anteil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Grundstück</c:v>
                </c:pt>
                <c:pt idx="1">
                  <c:v>Bau (netto Holz)</c:v>
                </c:pt>
                <c:pt idx="2">
                  <c:v>Nebenkosten + Standard</c:v>
                </c:pt>
                <c:pt idx="3">
                  <c:v>Ausbau + Außenanlagen</c:v>
                </c:pt>
                <c:pt idx="4">
                  <c:v>Finanzierung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236256.0</c:v>
                </c:pt>
                <c:pt idx="1">
                  <c:v>3743985.0</c:v>
                </c:pt>
                <c:pt idx="2">
                  <c:v>690765.2325</c:v>
                </c:pt>
                <c:pt idx="3">
                  <c:v>189885.0</c:v>
                </c:pt>
                <c:pt idx="4">
                  <c:v>277368.62957983767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 – B3 Standard</c:v>
                </c:pt>
              </c:strCache>
            </c:strRef>
          </c:tx>
          <c:marker>
            <c:symbol val="none"/>
          </c:marker>
          <c:cat>
            <c:strRef>
              <c:f>Sheet1!$A$2:$A$36</c:f>
              <c:strCache>
                <c:ptCount val="3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</c:strCache>
            </c:strRef>
          </c:cat>
          <c:val>
            <c:numRef>
              <c:f>Sheet1!$B$2:$B$36</c:f>
              <c:numCache>
                <c:formatCode>General</c:formatCode>
                <c:ptCount val="35"/>
                <c:pt idx="0">
                  <c:v>5086132</c:v>
                </c:pt>
                <c:pt idx="1">
                  <c:v>5032344</c:v>
                </c:pt>
                <c:pt idx="2">
                  <c:v>4976840</c:v>
                </c:pt>
                <c:pt idx="3">
                  <c:v>4919563</c:v>
                </c:pt>
                <c:pt idx="4">
                  <c:v>4860454</c:v>
                </c:pt>
                <c:pt idx="5">
                  <c:v>4799450</c:v>
                </c:pt>
                <c:pt idx="6">
                  <c:v>4736489</c:v>
                </c:pt>
                <c:pt idx="7">
                  <c:v>4671504</c:v>
                </c:pt>
                <c:pt idx="8">
                  <c:v>4604427</c:v>
                </c:pt>
                <c:pt idx="9">
                  <c:v>4535188</c:v>
                </c:pt>
                <c:pt idx="10">
                  <c:v>4463713</c:v>
                </c:pt>
                <c:pt idx="11">
                  <c:v>4389928</c:v>
                </c:pt>
                <c:pt idx="12">
                  <c:v>4313752</c:v>
                </c:pt>
                <c:pt idx="13">
                  <c:v>4235106</c:v>
                </c:pt>
                <c:pt idx="14">
                  <c:v>4153905</c:v>
                </c:pt>
                <c:pt idx="15">
                  <c:v>4070062</c:v>
                </c:pt>
                <c:pt idx="16">
                  <c:v>3983487</c:v>
                </c:pt>
                <c:pt idx="17">
                  <c:v>3894088</c:v>
                </c:pt>
                <c:pt idx="18">
                  <c:v>3801766</c:v>
                </c:pt>
                <c:pt idx="19">
                  <c:v>3706423</c:v>
                </c:pt>
                <c:pt idx="20">
                  <c:v>3607955</c:v>
                </c:pt>
                <c:pt idx="21">
                  <c:v>3506254</c:v>
                </c:pt>
                <c:pt idx="22">
                  <c:v>3401208</c:v>
                </c:pt>
                <c:pt idx="23">
                  <c:v>3292704</c:v>
                </c:pt>
                <c:pt idx="24">
                  <c:v>3180622</c:v>
                </c:pt>
                <c:pt idx="25">
                  <c:v>3064837</c:v>
                </c:pt>
                <c:pt idx="26">
                  <c:v>2945222</c:v>
                </c:pt>
                <c:pt idx="27">
                  <c:v>2821645</c:v>
                </c:pt>
                <c:pt idx="28">
                  <c:v>2693968</c:v>
                </c:pt>
                <c:pt idx="29">
                  <c:v>2562048</c:v>
                </c:pt>
                <c:pt idx="30">
                  <c:v>2425738</c:v>
                </c:pt>
                <c:pt idx="31">
                  <c:v>2284885</c:v>
                </c:pt>
                <c:pt idx="32">
                  <c:v>2139331</c:v>
                </c:pt>
                <c:pt idx="33">
                  <c:v>1988912</c:v>
                </c:pt>
                <c:pt idx="34">
                  <c:v>1833457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2D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99A3C"/>
                </a:solidFill>
                <a:latin typeface="Arial"/>
              </a:rPr>
              <a:t>NEUE MITTE WERLTE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3840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solidFill>
                  <a:srgbClr val="FFFFFF"/>
                </a:solidFill>
                <a:latin typeface="Georgia"/>
              </a:rPr>
              <a:t>Baufeld 3: Standardversion (B3)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6616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Arial"/>
              </a:rPr>
              <a:t>Businessplan für die Bank: Konzept, Finanzierung mit KfW-Krediten, Ertragswert und Abzahlungsplan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21208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Arial"/>
              </a:rPr>
              <a:t>Bessam Hasso, Werlte</a:t>
            </a:r>
          </a:p>
          <a:p>
            <a:r>
              <a:rPr sz="1000" b="0">
                <a:solidFill>
                  <a:srgbClr val="FFFFFF"/>
                </a:solidFill>
                <a:latin typeface="Arial"/>
              </a:rPr>
              <a:t>Bebauungsplan Nr. 123 (2023) und 1. Änderung (Entwurf 25.08.2026)</a:t>
            </a:r>
          </a:p>
          <a:p>
            <a:r>
              <a:rPr sz="1000" b="0">
                <a:solidFill>
                  <a:srgbClr val="FFFFFF"/>
                </a:solidFill>
                <a:latin typeface="Arial"/>
              </a:rPr>
              <a:t>Stand 27.10.2026 · alle Zahlen Planungsannahmen</a:t>
            </a:r>
          </a:p>
        </p:txBody>
      </p:sp>
      <p:pic>
        <p:nvPicPr>
          <p:cNvPr id="7" name="Picture 6" descr="hf_A_pers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53452"/>
            <a:ext cx="7436815" cy="41510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Das Vorhaben auf einen Blick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2697480" cy="114300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7043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8C3B2F"/>
                </a:solidFill>
                <a:latin typeface="Georgia"/>
              </a:rPr>
              <a:t>5,14 Mio. 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Gesamtkosten inkl. Finanzierung in Bau- und Anlaufzeit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097280"/>
            <a:ext cx="2697480" cy="114300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17043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8C3B2F"/>
                </a:solidFill>
                <a:latin typeface="Georgia"/>
              </a:rPr>
              <a:t>63 %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69164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des Darlehens über KfW 298 und 299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97280"/>
            <a:ext cx="2697480" cy="114300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17043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8C3B2F"/>
                </a:solidFill>
                <a:latin typeface="Georgia"/>
              </a:rPr>
              <a:t>17.706 €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9164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Kapitaldienst pro Monat (Zins + 1 % Tilgung)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097280"/>
            <a:ext cx="2697480" cy="114300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17043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D4A3E"/>
                </a:solidFill>
                <a:latin typeface="Georgia"/>
              </a:rPr>
              <a:t>+3.383 €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69164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Ergebnis pro Monat nach Kapitaldienst, ohne Lohn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2560320"/>
          <a:ext cx="11247120" cy="23042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811780"/>
                <a:gridCol w="84353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Projekt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Wert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Grundstück / EG / BGF gesamt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960 m² / 576 m² / 1.775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Nutzung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Gastro im ganzen EG (576 m²), im 1. OG 3 Büro-/Wohn-Einheiten über 3,00 m Anbau, 16 Wohnungen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Stellplätze (Hypothese 32 × 30 m)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11 rückseitig, teilweise überdacht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Kapitaldienstdeckung (DSCR)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1,19 gesamt, 0,73 nur Immobilie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Ertragswert / Beleihungsauslauf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3,10 Mio. € / 184 %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57200" y="4846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D4A3E"/>
                </a:solidFill>
                <a:latin typeface="Arial"/>
              </a:rPr>
              <a:t>Der Ertrag trägt die Raten nur zusammen mit dem Gastro-Gewinn. Die Bank wird wegen des Ertragswerts zusätzliche Sicherheiten oder Eigenkapital verlangen, siehe Folie Ertragswert. Mit 100 % Fremdkapital ist das Ergebnis klein.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Ein Eckgrundstück an der neuen Mitte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120640" cy="123444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8C3B2F"/>
                </a:solidFill>
                <a:latin typeface="Georgia"/>
              </a:rPr>
              <a:t>ca. 960 m²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Arial"/>
              </a:rPr>
              <a:t>Baufeld 3, östlich des Rathauses, südlich der Planstraße (Zuordnung und Zuschnitt nicht vermessen)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0320"/>
            <a:ext cx="5120640" cy="123444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8C3B2F"/>
                </a:solidFill>
                <a:latin typeface="Georgia"/>
              </a:rPr>
              <a:t>Mischgebiet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546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Arial"/>
              </a:rPr>
              <a:t>Gewerbe im EG erwünscht, Stellplätze auf dem Grundstück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5120640" cy="123444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8C3B2F"/>
                </a:solidFill>
                <a:latin typeface="Georgia"/>
              </a:rPr>
              <a:t>Baureife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262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Arial"/>
              </a:rPr>
              <a:t>laut Stadt vorhanden, Baubeginn jederzeit möglich (zu bestätigen)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22222"/>
                </a:solidFill>
                <a:latin typeface="Arial"/>
              </a:rPr>
              <a:t>Nov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Arial"/>
              </a:rPr>
              <a:t>Stellplatz alte Grundschule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48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22222"/>
                </a:solidFill>
                <a:latin typeface="Arial"/>
              </a:rPr>
              <a:t>ab März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14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Arial"/>
              </a:rPr>
              <a:t>Bau Planstraße (Erschließung)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22222"/>
                </a:solidFill>
                <a:latin typeface="Arial"/>
              </a:rPr>
              <a:t>Mitte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Arial"/>
              </a:rPr>
              <a:t>Unser Baubeginn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069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22222"/>
                </a:solidFill>
                <a:latin typeface="Arial"/>
              </a:rPr>
              <a:t>ab Juli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434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Arial"/>
              </a:rPr>
              <a:t>Kreisverkehr Loruper Straße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029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22222"/>
                </a:solidFill>
                <a:latin typeface="Arial"/>
              </a:rPr>
              <a:t>Ende 2028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394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Arial"/>
              </a:rPr>
              <a:t>Marktplatz, Rathaus fertig und unsere Eröffnung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Was der Bebauungsplan vorgibt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19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0326"/>
                <a:gridCol w="3460652"/>
                <a:gridCol w="2595489"/>
                <a:gridCol w="346065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Festsetzung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Plan 2023 (rechtskräftig, MI 3)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Entwurf 2026 (1. Änderung)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Unser Entwurf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Vollgeschosse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II bis III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II zwingend (MI 3 nicht erfasst)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EG, 1. OG und oberstes Geschoss (Holzbau)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Traufhöhe / Höhe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9,80 m / 15,00 m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6,50 m / 12,00 m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Attika +9,90 m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Grundflächenzahl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0,6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EG 576 m² = 60 % der Hypothese 960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Dachform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Hauptdach ≥ 38°, Flachdach nur untergeordnet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Dach ≥ 38°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Flachdach mit Staffel / Terrasse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Baugrenze MI 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10 m West, 3 m übrige Seiten; Bezug OK Fahrbahn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 m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Baufenster ≈ 27,7 × 15,9 m (abgeleitet)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Stellplätze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auf dem Grundstück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63 Plätze im Parkplatz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siehe Stellplatzfolie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572000"/>
            <a:ext cx="11247120" cy="146304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6634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8C3B2F"/>
                </a:solidFill>
                <a:latin typeface="Arial"/>
              </a:rPr>
              <a:t>Schriftlich klären:  </a:t>
            </a:r>
            <a:r>
              <a:rPr sz="1100">
                <a:solidFill>
                  <a:srgbClr val="222222"/>
                </a:solidFill>
                <a:latin typeface="Arial"/>
              </a:rPr>
              <a:t>Ist Baufeld 3 tatsächlich MI 3 / Flurstück 59/1? Passt das Gebäude in das Baufenster (EG und Vorbau liegen nach der Schätzung außerhalb)? Sind Flachdach/Staffel, Traufhöhe und Höhenbezug (OK Fahrbahn) befreit oder zulässig? Diese Folien enthalten keine Aussage zur baurechtlichen Zulässigkeit.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Oberstes Geschoss in Holzbau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657600" cy="114300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7043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8C3B2F"/>
                </a:solidFill>
                <a:latin typeface="Georgia"/>
              </a:rPr>
              <a:t>539 m²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oberstes Geschoss in Holzbau, 0,80 m rundum zurückgesetzt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097280"/>
            <a:ext cx="3657600" cy="114300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17043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D4A3E"/>
                </a:solidFill>
                <a:latin typeface="Georgia"/>
              </a:rPr>
              <a:t>215.640 €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6916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Ersparnis gegenüber Massivbau (400 € je m², Annahme)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097280"/>
            <a:ext cx="3657600" cy="114300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17043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8C3B2F"/>
                </a:solidFill>
                <a:latin typeface="Georgia"/>
              </a:rPr>
              <a:t>121 m²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6916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Dachterrasse (nicht in der BGF), Fläche OG1 minus oberstes Geschoss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560320"/>
            <a:ext cx="11247120" cy="274320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70048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222222"/>
                </a:solidFill>
                <a:latin typeface="Arial"/>
              </a:rPr>
              <a:t>•  Leichter und schneller: weniger Last auf dem Klinker-Geschoss, kürzere Bauzeit.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22222"/>
                </a:solidFill>
                <a:latin typeface="Arial"/>
              </a:rPr>
              <a:t>•  Zwei Partner aus dem Bekanntenkreis (Bauunternehmen unten, Zimmerei oben) können Preise und Termine gemeinsam angeben.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22222"/>
                </a:solidFill>
                <a:latin typeface="Arial"/>
              </a:rPr>
              <a:t>•  Holzbau hilft beim QNG-Nachweis und beim Effizienzhaus-40-Standard (KfW-Voraussetzung).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22222"/>
                </a:solidFill>
                <a:latin typeface="Arial"/>
              </a:rPr>
              <a:t>•  Brandschutz (Holzbau bis Gebäudeklasse 4, Aufzug und Treppenhaus massiv) und Schallschutz muss der Architekt nachweisen.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22222"/>
                </a:solidFill>
                <a:latin typeface="Arial"/>
              </a:rPr>
              <a:t>•  Der Abschlag von 400 €/m² ist eine Annahme aus dem früheren Plan, kein Angebot.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Zwei Geschosse plus oberstes Geschoss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6</a:t>
            </a:r>
          </a:p>
        </p:txBody>
      </p:sp>
      <p:pic>
        <p:nvPicPr>
          <p:cNvPr id="5" name="Picture 4" descr="schni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02690"/>
            <a:ext cx="6675120" cy="2795418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223760" y="1188720"/>
          <a:ext cx="4571998" cy="3429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74360"/>
                <a:gridCol w="2698229"/>
                <a:gridCol w="899409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Ebene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Nutzung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BGF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EG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Gastro ca. 440 m² mit Bar, Küche, dazu Büros, Treppenhaus, Aufzug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576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1. OG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Wohnungen, Flur, Kern; Anbau 3,00 m nach hinten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660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oberstes Geschoss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Wohnungen, oberstes Geschoss in Holzbau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539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Summe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1.775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223760" y="48463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BGF = Bruttogrundfläche aller Geschossflächen. Schnitt schematisch aus dem Geometriemodell; Geschosshöhen aus B3-Modell.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Skizzen der Geschosse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2222"/>
                </a:solidFill>
                <a:latin typeface="Arial"/>
              </a:rPr>
              <a:t>Erdgeschoss</a:t>
            </a:r>
          </a:p>
        </p:txBody>
      </p:sp>
      <p:pic>
        <p:nvPicPr>
          <p:cNvPr id="6" name="Picture 5" descr="plan_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76480"/>
            <a:ext cx="3657600" cy="31050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51960" y="1051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2222"/>
                </a:solidFill>
                <a:latin typeface="Arial"/>
              </a:rPr>
              <a:t>1. Obergeschoss</a:t>
            </a:r>
          </a:p>
        </p:txBody>
      </p:sp>
      <p:pic>
        <p:nvPicPr>
          <p:cNvPr id="8" name="Picture 7" descr="plan_o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876480"/>
            <a:ext cx="3657600" cy="31050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46720" y="1051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2222"/>
                </a:solidFill>
                <a:latin typeface="Arial"/>
              </a:rPr>
              <a:t>oberstes Geschoss</a:t>
            </a:r>
          </a:p>
        </p:txBody>
      </p:sp>
      <p:pic>
        <p:nvPicPr>
          <p:cNvPr id="10" name="Picture 9" descr="plan_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876480"/>
            <a:ext cx="3657600" cy="310503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54864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5577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  <a:latin typeface="Arial"/>
              </a:rPr>
              <a:t>Schematische Skizzen aus dem Geometriemodell. Raumaufteilung der Obergeschosse nach Planstand B3.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Modern, Klinker, Glas-EG und Staffelgeschoss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8</a:t>
            </a:r>
          </a:p>
        </p:txBody>
      </p:sp>
      <p:pic>
        <p:nvPicPr>
          <p:cNvPr id="5" name="Picture 4" descr="hf_A_pers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3635"/>
            <a:ext cx="5577840" cy="3113448"/>
          </a:xfrm>
          <a:prstGeom prst="rect">
            <a:avLst/>
          </a:prstGeom>
        </p:spPr>
      </p:pic>
      <p:pic>
        <p:nvPicPr>
          <p:cNvPr id="6" name="Picture 5" descr="hf_A_aeri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323635"/>
            <a:ext cx="5577840" cy="3113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C3B2F"/>
                </a:solidFill>
                <a:latin typeface="Georgia"/>
              </a:rPr>
              <a:t>Klinker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663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dunkel, Langformat, passend zum Umfeld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C3B2F"/>
                </a:solidFill>
                <a:latin typeface="Georgia"/>
              </a:rPr>
              <a:t>Oberstes Geschoss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51663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Holzbau, Terrasse rundum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C3B2F"/>
                </a:solidFill>
                <a:latin typeface="Georgia"/>
              </a:rPr>
              <a:t>Balkone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51663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bodentiefe Fenster, Milchglas-Brüstungen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C3B2F"/>
                </a:solidFill>
                <a:latin typeface="Georgia"/>
              </a:rPr>
              <a:t>Glas-EG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51663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Gastro mit Bar, Terrasse und Vordach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KI-Visualisierungen (Nano Banana Pro auf Basis der Geometrie-Renderings) zur Orientierung; Fassadenteilung und Details folgen mit dem Architekten.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Große Gastro mit Bar, neu und modern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9</a:t>
            </a:r>
          </a:p>
        </p:txBody>
      </p:sp>
      <p:pic>
        <p:nvPicPr>
          <p:cNvPr id="5" name="Picture 4" descr="gastro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1624"/>
            <a:ext cx="6766560" cy="3806190"/>
          </a:xfrm>
          <a:prstGeom prst="rect">
            <a:avLst/>
          </a:prstGeom>
        </p:spPr>
      </p:pic>
      <p:pic>
        <p:nvPicPr>
          <p:cNvPr id="6" name="Picture 5" descr="gastro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0779" y="1097280"/>
            <a:ext cx="4229400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36576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8C3B2F"/>
                </a:solidFill>
                <a:latin typeface="Georgia"/>
              </a:rPr>
              <a:t>ca. 120 Plätze innen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4206240"/>
            <a:ext cx="4297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Arial"/>
              </a:rPr>
              <a:t>plus ca. 44 auf der Terrasse/Arkade (Annahme)</a:t>
            </a:r>
          </a:p>
          <a:p>
            <a:r>
              <a:rPr sz="1100" b="0">
                <a:solidFill>
                  <a:srgbClr val="666666"/>
                </a:solidFill>
                <a:latin typeface="Arial"/>
              </a:rPr>
              <a:t>Bar mit Barhockern, Polsterbänke, Backbar</a:t>
            </a:r>
          </a:p>
          <a:p>
            <a:r>
              <a:rPr sz="1100" b="0">
                <a:solidFill>
                  <a:srgbClr val="666666"/>
                </a:solidFill>
                <a:latin typeface="Arial"/>
              </a:rPr>
              <a:t>Material: Olivgrün, Cognac-Samt, Bordeaux, Eiche, schwarzer Stahl</a:t>
            </a:r>
          </a:p>
          <a:p>
            <a:r>
              <a:rPr sz="1100" b="0">
                <a:solidFill>
                  <a:srgbClr val="666666"/>
                </a:solidFill>
                <a:latin typeface="Arial"/>
              </a:rPr>
              <a:t>Stimmungsbilder aus dem früheren Gastro-Konzept (KI-Visualisierung).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Ansichten aus dem Geometriemodell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10</a:t>
            </a:r>
          </a:p>
        </p:txBody>
      </p:sp>
      <p:pic>
        <p:nvPicPr>
          <p:cNvPr id="5" name="Picture 4" descr="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23851"/>
            <a:ext cx="5486400" cy="16328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337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Vorderansicht (Platzseite)</a:t>
            </a:r>
          </a:p>
        </p:txBody>
      </p:sp>
      <p:pic>
        <p:nvPicPr>
          <p:cNvPr id="7" name="Picture 6" descr="r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423851"/>
            <a:ext cx="5486400" cy="16328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3337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Rückansicht</a:t>
            </a:r>
          </a:p>
        </p:txBody>
      </p:sp>
      <p:pic>
        <p:nvPicPr>
          <p:cNvPr id="9" name="Picture 8" descr="w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20477"/>
            <a:ext cx="5486400" cy="21431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989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Westansicht</a:t>
            </a:r>
          </a:p>
        </p:txBody>
      </p:sp>
      <p:pic>
        <p:nvPicPr>
          <p:cNvPr id="11" name="Picture 10" descr="ea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820477"/>
            <a:ext cx="5486400" cy="21431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26480" y="5989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Ostansicht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Stellplätze sind der Knackpunkt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11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097280"/>
          <a:ext cx="59436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766560" y="1097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8C3B2F"/>
                </a:solidFill>
                <a:latin typeface="Georgia"/>
              </a:rPr>
              <a:t>Vorschlag für die Stadt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554480"/>
            <a:ext cx="4937760" cy="301752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664207"/>
            <a:ext cx="457200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222222"/>
                </a:solidFill>
                <a:latin typeface="Arial"/>
              </a:rPr>
              <a:t>•  Gezeichnet sind 11 rückseitige Stellplätze (2,50 × 5,00 m), 10 davon teilweise überdacht; der Nachweis Gastro/Büro nach § 47 NBauO (Richtzahlen) liegt bei 11,4–16,9.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222222"/>
                </a:solidFill>
                <a:latin typeface="Arial"/>
              </a:rPr>
              <a:t>•  Wohnen braucht seit 01.07.2024 keine Pflichtstellplätze; optional 0,5–1,5 je Wohnung.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222222"/>
                </a:solidFill>
                <a:latin typeface="Arial"/>
              </a:rPr>
              <a:t>•  Restplätze alternativ auf der öffentlichen Parkfläche per Vereinbarung oder Ablöse (Höhe nennt die Stadt).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47548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Auf dem aus den Stadtplänen abgeleiteten Flurstück 59/1 (≈ 42,3 × 22,7 m) sind diese Stellplätze nicht unterzubringen; die Zahlen gelten nur auf der Hypothese.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Flächen und Mieten: Wohnungen, Büros und Gastro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20" cy="49926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49424"/>
                <a:gridCol w="1499616"/>
                <a:gridCol w="1499616"/>
                <a:gridCol w="1499616"/>
                <a:gridCol w="2249424"/>
                <a:gridCol w="2249424"/>
              </a:tblGrid>
              <a:tr h="23774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Einheit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Geschoss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Fläche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Miete je m²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Kaltmiete / Monat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Kaltmiete / Jahr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WE 1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1. OG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46,8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11,18 €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523 €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6.280 €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WE 2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1. OG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46,8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11,18 €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523 €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6.280 €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WE 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1. OG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46,8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11,18 €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523 €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6.280 €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WE 4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1. OG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46,8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11,18 €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523 €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6.280 €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WE 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1. OG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46,8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11,18 €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523 €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6.280 €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WE 6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1. OG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58,5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11,18 €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654 €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7.850 €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WE 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1. OG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58,5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11,18 €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654 €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7.850 €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WE 8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1. OG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58,5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11,18 €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654 €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7.850 €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WE 9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1. OG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58,5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11,18 €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654 €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7.850 €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WE 10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Staffel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47,2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11,18 €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528 €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6.334 €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WE 11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Staffel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47,2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11,18 €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528 €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6.334 €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WE 12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Staffel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47,2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11,18 €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528 €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6.334 €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WE 13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Staffel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47,2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11,18 €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528 €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6.334 €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WE 14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Staffel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63,0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11,18 €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705 €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8.454 €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WE 15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Staffel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63,0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11,18 €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705 €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8.454 €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WE 16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Staffel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63,0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11,18 €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705 €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8.454 €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Summe Wohnen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846,0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9.458 €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113.499 €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Gastro (Pacht 10 €/m²)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EG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440,0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10,00 €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4.400 €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52.800 €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Büros (2 Ankermieter)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EG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56,3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9,75 €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549 €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6.587 €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Rohertrag gesamt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14.407 €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172.886 €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Gewerbeflächen: Gastro und Büros im Erdgeschoss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6583679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051495"/>
                <a:gridCol w="2532184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Gastro-Flächenbedarf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 – B3 Standard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Gastraum (Plätze innen)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120 Plätze / 280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Gastro-Mietfläche gesamt (Gastraum, Bar, Küche, Lager, WC)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440 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Terrasse / Arkade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44 Plätze (Annahme)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Büro netto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56,3 m², Miete 6.587 € / Jahr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0" y="1188720"/>
            <a:ext cx="4389120" cy="329184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280160"/>
            <a:ext cx="4114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8C3B2F"/>
                </a:solidFill>
                <a:latin typeface="Arial"/>
              </a:rPr>
              <a:t>Gastro:  </a:t>
            </a:r>
            <a:r>
              <a:rPr sz="1100">
                <a:solidFill>
                  <a:srgbClr val="222222"/>
                </a:solidFill>
                <a:latin typeface="Arial"/>
              </a:rPr>
              <a:t>Pacht 10 €/m² und Monat; Umsatz in diesem Plan proportional zu den Innenplätzen (342 € je Platz und Monat wie im früheren Plan, 190 Plätze = 65.010 €). Das ist eine Annahme ohne Marktbeleg. Das Büro (zwei Ankermieter) liegt im EG hinten statt im 1. OG.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6583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Das EG gehört der Gastro, Büros und Kern liegen rückseitig (Platzdaten aus dem Geometriemodell). Die Büros sind mit 9,50–10,00 €/m² und 10 Jahren Laufzeit angesetzt (Ankermieter, noch nicht vereinbart).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KfW-Kredite 298 und 299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20116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99308"/>
                <a:gridCol w="2699308"/>
                <a:gridCol w="2699308"/>
                <a:gridCol w="1799539"/>
                <a:gridCol w="1349654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Programm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Wofür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Rahmen (mit QNG)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Im Projekt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Zins (Annahme)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KfW 298 Klimafreundlicher Neubau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vermietete Wohnungen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bis 150.000 € je Wohnung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2.400.000 €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2,50 %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KfW 299 Klimafreundlicher Neubau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Gastro und Büros (Nichtwohngebäude)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bis 2.000 € je m² Nettogrundfläche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843.710 €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3,00 %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Hausbank (Rest)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Restfinanzierung inkl. Bauzeitzinsen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1.894.550 €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4,00 %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3474720"/>
            <a:ext cx="11247120" cy="146304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8C3B2F"/>
                </a:solidFill>
                <a:latin typeface="Arial"/>
              </a:rPr>
              <a:t>Voraussetzungen:  </a:t>
            </a:r>
            <a:r>
              <a:rPr sz="1100">
                <a:solidFill>
                  <a:srgbClr val="222222"/>
                </a:solidFill>
                <a:latin typeface="Arial"/>
              </a:rPr>
              <a:t>Effizienzhaus 40 (Gastro: Effizienzgebäude 40), QNG-Zertifikat für den vollen Rahmen, Heizung ohne Öl, Gas und Biomasse (z. B. Wärmepumpe), Energieeffizienz-Experte, Antrag vor Baubeginn über die Hausbank. Wohnteil (298) und Gastro/Büro (299) werden getrennt gefördert; die Kreditrahmen sind theoretische Obergrenzen (Nettogrundfläche = 85 % der Gewerbe-Nutzfläche).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120640"/>
            <a:ext cx="11247120" cy="91440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212079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8C3B2F"/>
                </a:solidFill>
                <a:latin typeface="Arial"/>
              </a:rPr>
              <a:t>Hinweis:  </a:t>
            </a:r>
            <a:r>
              <a:rPr sz="1100">
                <a:solidFill>
                  <a:srgbClr val="222222"/>
                </a:solidFill>
                <a:latin typeface="Arial"/>
              </a:rPr>
              <a:t>KfW-Zinsen schwanken in den Quellen zwischen 0,6 % und 3,05 %; die Konditionen sind Stand Oktober 2026 nicht bestätigt. Mehrkosten für Effizienzhaus 40/QNG sind mit 3 % angesetzt.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Gesamtkosten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7589519" cy="460857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254283"/>
                <a:gridCol w="2335236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Posten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 – B3 Standard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Grundstück inkl. Steuer und Notar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236.256 €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Bau, Massivbau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3.905.220 €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Abschlag Holzbau (oberstes Geschoss)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−215.640 €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Dachterrassen (nicht in BGF)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54.405 €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Baunebenkosten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561.598 €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Mehrkosten Effizienzhaus 40 und QNG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129.167 €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Ausbau Gastro und Büros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128.445 €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Außenanlagen, Stellplätze (hypothetische Fläche)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61.440 €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Finanzierungskosten (Bauzeit, Bereitstellung, Anlaufzeit)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277.369 €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Gesamtkosten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5.138.260 €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je m² BGF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2.895 €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0" y="1097280"/>
          <a:ext cx="356616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0" y="49377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Anteile A – B3 Standard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Rechenregeln wie im früheren Plan: Bau 2.200 €/m² BGF, Holzbau-Abschlag 400 €/m², Terrassen 450 €/m², Nebenkosten 15 %, Effizienzhaus 40/QNG +3 %, Ausbau 1.000 €/Gastro-Platz und 150 €/m² Büro, Außenanlagen 160 €/m² auf der hypothetischen Restfläche.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Finanzierungsplan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486400"/>
                <a:gridCol w="4114800"/>
                <a:gridCol w="16459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Mittelherkunft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 – B3 Standard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Zins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KfW 298 (vermietete Wohnungen)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2.400.000 € (47 %)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2,50 %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KfW 299 (Gastro und Büros)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843.710 € (16 %)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3,00 %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Hausbank-Darlehen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1.894.550 € (37 %)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4,00 %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Eigenkapital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Summe Finanzierung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5.138.260 €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Mischzins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3,14 %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Rate pro Monat (Zins + 1 % Tilgung)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17.706 €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5029200"/>
            <a:ext cx="11247120" cy="109728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120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8C3B2F"/>
                </a:solidFill>
                <a:latin typeface="Arial"/>
              </a:rPr>
              <a:t>Bau- und Anlaufzeit:  </a:t>
            </a:r>
            <a:r>
              <a:rPr sz="1100">
                <a:solidFill>
                  <a:srgbClr val="222222"/>
                </a:solidFill>
                <a:latin typeface="Arial"/>
              </a:rPr>
              <a:t>15 Monate Bau und 12 Monate Anlaufzeit kosten 277.369 € an Zinsen und Bereitstellungsgebühr, finanziert von der Hausbank. Die Gesamtkosten sind komplett durch Fremdkapital gedeckt (kein Eigenkapital).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Zinsberechnung und Rate je Darlehen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20" cy="14630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99360"/>
                <a:gridCol w="2082800"/>
                <a:gridCol w="1249680"/>
                <a:gridCol w="1249680"/>
                <a:gridCol w="2082800"/>
                <a:gridCol w="208280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Darlehen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Betrag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Zins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Tilgung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Rate / Monat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Rate / Jahr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KfW Wohnen (298)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2.400.000 €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2,50 %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1,00 %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7.000 €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84.000 €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KfW Gastro/Büro (299)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843.710 €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3,00 %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1,00 %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2.812 €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33.748 €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Hausbank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1.894.550 €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4,00 %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1,00 %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7.894 €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94.727 €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Summe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5.138.260 €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3,14 %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17.706 €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212.476 €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9260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22222"/>
                </a:solidFill>
                <a:latin typeface="Arial"/>
              </a:rPr>
              <a:t>Im ersten Jahr nach der Anlaufzeit: 160.348 € Zinsen und 52.128 € Tilgung.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Abzahlungsplan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18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097280"/>
          <a:ext cx="658368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0" y="1188720"/>
          <a:ext cx="4480560" cy="36210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44600"/>
                <a:gridCol w="995680"/>
                <a:gridCol w="995680"/>
                <a:gridCol w="124460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Jahr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Zinsen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Tilgung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Restschuld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160.348 €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52.128 €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5.086.132 €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158.688 €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53.788 €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5.032.344 €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156.972 €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55.504 €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4.976.840 €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153.366 €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59.109 €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4.860.454 €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10 (Ende Zinsbindung)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143.237 €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69.239 €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4.535.188 €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131.275 €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81.201 €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4.153.905 €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117.133 €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95.343 €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3.706.423 €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100.393 €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112.083 €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3.180.622 €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80.556 €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131.920 €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2.562.048 €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57.021 €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155.455 €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1.833.457 €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0" y="493776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Tabelle: A – B3 Standard.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22222"/>
                </a:solidFill>
                <a:latin typeface="Arial"/>
              </a:rPr>
              <a:t>Nach 10 Jahren Zinsbindung beträgt die Restschuld 4.535.188 €. Die Anschlussfinanzierung muss eingeplant werden.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Ertrag und Kapitaldienst pro Monat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19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7680959" cy="3840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955458"/>
                <a:gridCol w="2725501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Position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 – B3 Standard / Monat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Kaltmiete Wohnen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+9.458 €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Büromieten (Ankermieter)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+549 €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Pacht Gastro (10 €/m²)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+4.400 €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Rücklagen (10 % von Miete, Büro, Pacht)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−1.441 €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Nettoertrag Immobilie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+12.966 €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Betriebsergebnis Gastro nach Pacht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+8.123 €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Nettoertrag vor Kapitaldienst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+21.089 €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Kapitaldienst (Zinsen und Tilgung)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−17.706 €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Ergebnis nach Kapitaldienst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+3.383 €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321040" y="1097280"/>
            <a:ext cx="3474720" cy="356616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188720"/>
            <a:ext cx="320040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8C3B2F"/>
                </a:solidFill>
                <a:latin typeface="Arial"/>
              </a:rPr>
              <a:t>Kennzahlen:  </a:t>
            </a:r>
            <a:r>
              <a:rPr sz="1000">
                <a:solidFill>
                  <a:srgbClr val="222222"/>
                </a:solidFill>
                <a:latin typeface="Arial"/>
              </a:rPr>
              <a:t>DSCR gesamt / nur Immobilie: 1,19 / 0,73. Zinsdeckung: 1,58. Anfangsrendite (Immobilie): 3,03 %. Banken verlangen meist DSCR ≥ 1,2.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20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D4A3E"/>
                </a:solidFill>
                <a:latin typeface="Arial"/>
              </a:rPr>
              <a:t>Ohne den Gastro-Gewinn deckt die Immobilie allein die Raten nicht. Der Pachtvertrag mit einem tragfähigen Betreiber ist für die Bank entscheidend. Der Gastro-Umsatz ist proportional zu den Innenplätzen angesetzt (Annahme).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Gastro-Umsatz: Hauptfokus Abend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7863839" cy="3291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76600"/>
                <a:gridCol w="655320"/>
                <a:gridCol w="1179576"/>
                <a:gridCol w="655320"/>
                <a:gridCol w="1310640"/>
                <a:gridCol w="786383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Tagesteil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Tage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Gäste/Tag (skaliert)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Ø Bon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Umsatz/Monat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Anteil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Frühstück werktags (Di–Fr 08:00–11:00)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11 €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3.543 €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9 %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Brunch am Wochenende (Sa, So 09:00–14:00)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4.775 €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12 %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Mittag: Bowls, Salate, Suppe (Di–Fr 11:30–14:30)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5.583 €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14 %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Nachmittag: Kaffee, Kuchen, Snacks (Di–So 14:30–17:00)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2.299 €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6 %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Bar mit Snacks Di–Do, So (ab 17:00)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20 €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7.516 €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18 %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Bar Fr, Sa (bis 01:00)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26 €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13.301 €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32 %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Events: Live-Musik, Feiern (4 pro Monat)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40 €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4.042 €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Gastro-Umsatz pro Monat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41.059 €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100 %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503920" y="1097280"/>
            <a:ext cx="3291840" cy="292608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11887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8C3B2F"/>
                </a:solidFill>
                <a:latin typeface="Arial"/>
              </a:rPr>
              <a:t>Annahme:  </a:t>
            </a:r>
            <a:r>
              <a:rPr sz="1000">
                <a:solidFill>
                  <a:srgbClr val="222222"/>
                </a:solidFill>
                <a:latin typeface="Arial"/>
              </a:rPr>
              <a:t>Aufbau und Bon-Werte wie im früheren Plan (190 Plätze, 65.010 €), alle Gästezahlen mit dem Faktor 0,63 auf 120 Plätze skaliert. Das ist eine Rechenannahme, keine Prognose.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20624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ca. 4.106 € je Platz und Jahr (Branchen-Median Österreich ca. 12.000 €).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Wie viel Umsatz braucht die Gastro?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21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7498079" cy="2880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43150"/>
                <a:gridCol w="2343150"/>
                <a:gridCol w="2811779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Umsatz pro Monat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Gewinn vor Pacht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Gewinn nach Pacht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25.000 €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7.625 €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+3.225 €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30.000 €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9.150 €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+4.750 €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40.000 €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12.200 €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+7.800 €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50.000 €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15.250 €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+10.850 €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41.059 €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12.523 €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+8.123 €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65.000 €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19.825 €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+15.425 €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138160" y="1097280"/>
            <a:ext cx="3657600" cy="310896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188720"/>
            <a:ext cx="3383280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8C3B2F"/>
                </a:solidFill>
                <a:latin typeface="Arial"/>
              </a:rPr>
              <a:t>Betrieb allein:  </a:t>
            </a:r>
            <a:r>
              <a:rPr sz="1000">
                <a:solidFill>
                  <a:srgbClr val="222222"/>
                </a:solidFill>
                <a:latin typeface="Arial"/>
              </a:rPr>
              <a:t>Ab ca. 14.426 € Umsatz deckt der Betrieb seine Pacht.  Haus insgesamt: Ab ca. 29.967 € Umsatz sind alle Raten bezahlt (Marge vor Pacht 30,5 %).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Plan-Umsatz 41.059 € entspricht ca. 4.106 € je Sitzplatz und Jahr (120 Plätze).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Ertragswert und Beleihung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5760719" cy="26883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686860"/>
                <a:gridCol w="2073859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Ertragswert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 – B3 Standard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Rohertrag pro Jahr (Mieten und Pacht)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172.886 €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Bewirtschaftungskosten (13,75 %)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−23.772 €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Reinertrag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149.115 €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Bodenwert (960 m² × 230 €)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220.800 €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Gebäudeertragswert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2.876.243 €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Ertragswert gesamt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3.097.043 €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097280"/>
          <a:ext cx="5394959" cy="26883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452774"/>
                <a:gridCol w="1942185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Beleihung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 – B3 Standard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Sachwert (Boden + Herstellungskosten)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4.845.435 €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Beleihungswert (niedrigerer Wert, −10 %)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2.787.339 €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Gesamtkosten und Darlehen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5.138.260 €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Beleihungsauslauf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184 %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Ertragswert minus Gesamtkosten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−2.041.217 €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Betrag über 80 % Auslauf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2.908.389 €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389120"/>
            <a:ext cx="11338560" cy="155448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480559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8C3B2F"/>
                </a:solidFill>
                <a:latin typeface="Arial"/>
              </a:rPr>
              <a:t>Einordnung:  </a:t>
            </a:r>
            <a:r>
              <a:rPr sz="1100">
                <a:solidFill>
                  <a:srgbClr val="222222"/>
                </a:solidFill>
                <a:latin typeface="Arial"/>
              </a:rPr>
              <a:t>Die Mieten und die Pacht tragen einen Ertragswert von 3,10 Mio. €, die Kosten liegen bei 5,14 Mio. €. Eine Bank beleiht üblicherweise nur bis ca. 80 % des Beleihungswerts. Für die Finanzierung braucht es zusätzliche Sicherheiten (Grundschulden auf weitere Immobilien, Bürgschaft) oder Eigenkapital. Vereinfachte Wertermittlung, kein Gutachten (Liegenschaftszins Wohnen 3,85 %, Büro 5,35 %, Gastro 6,35 %, Restnutzungsdauer 60 Jahre).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Prognose und Belastungstest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23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17" cy="186537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13462"/>
                <a:gridCol w="1606731"/>
                <a:gridCol w="1606731"/>
                <a:gridCol w="1606731"/>
                <a:gridCol w="1606731"/>
                <a:gridCol w="1606731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Jahr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Nettoertrag vor Kapitaldienst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253.074 €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260.877 €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268.921 €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277.213 €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290.132 €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Kapitaldienst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−212.476 €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−212.476 €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−212.476 €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−212.476 €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−212.476 €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Ergebnis nach Kapitaldienst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+40.598 €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+48.401 €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+56.445 €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+64.737 €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22222"/>
                          </a:solidFill>
                          <a:latin typeface="Arial"/>
                        </a:rPr>
                        <a:t>+77.657 €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DSCR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1,19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1,23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1,27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1,30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1,37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Restschuld Jahresende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5.086.132 €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4.976.840 €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4.860.454 €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4.736.489 €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4.535.188 €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017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Prognose für A – B3 Standard, Ertragssteigerung 1,53 % p. a. (Annahme wie im früheren Plan)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383280"/>
          <a:ext cx="11247120" cy="27157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8435340"/>
                <a:gridCol w="2811780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Belastungstest (Ergebnis pro Monat)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 – B3 Standard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Plan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+3.383 €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Anschlusszins nach 10 Jahren +1 Prozentpunkt (auf Restschuld)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−396 €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Mieten Wohnen −10 %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+2.532 €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Gastro-Umsatz −20 %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+879 €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Gastro-Umsatz −40 %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−1.626 €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Baukosten +10 % (Kredit steigt entsprechend)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+1.708 €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Beide Büros leer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+2.889 €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Gastro fällt ganz aus (keine Pacht, kein Betriebsergebnis)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−8.700 €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Einfluss der Gastro auf das Ergebnis pro Person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24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17" cy="2880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13462"/>
                <a:gridCol w="1606731"/>
                <a:gridCol w="1606731"/>
                <a:gridCol w="1606731"/>
                <a:gridCol w="1606731"/>
                <a:gridCol w="1606731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Gastro-Szenario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Haus gesamt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 Person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2 Personen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4 Personen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8 Personen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Gastro fällt ganz aus (ohne Pacht)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−8.700 €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−8.700 €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−4.350 €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−2.175 €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−1.087 €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Gastro-Umsatz 20.000 €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−3.040 €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−3.040 €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−1.520 €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−760 €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−380 €</a:t>
                      </a:r>
                    </a:p>
                  </a:txBody>
                  <a:tcPr marL="54864" marR="54864" marT="22860" marB="22860" anchor="ctr">
                    <a:solidFill>
                      <a:srgbClr val="F8DDD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Gastro-Umsatz 30.000 €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+10 €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+10 €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+5 €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+3 €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+1 €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Gastro-Umsatz 40.000 €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+3.060 €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+3.060 €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+1.530 €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+765 €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+383 €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Gastro-Umsatz 50.000 €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+6.110 €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+6.110 €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+3.055 €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+1.528 €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+764 €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Plan: 41.059 €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+3.383 €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+3.383 €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+1.692 €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+846 €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+423 €</a:t>
                      </a:r>
                    </a:p>
                  </a:txBody>
                  <a:tcPr marL="54864" marR="54864" marT="22860" marB="22860" anchor="ctr">
                    <a:solidFill>
                      <a:srgbClr val="E3F1E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389120"/>
            <a:ext cx="11247120" cy="109728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480559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8C3B2F"/>
                </a:solidFill>
                <a:latin typeface="Arial"/>
              </a:rPr>
              <a:t>Aussage:  </a:t>
            </a:r>
            <a:r>
              <a:rPr sz="1100">
                <a:solidFill>
                  <a:srgbClr val="222222"/>
                </a:solidFill>
                <a:latin typeface="Arial"/>
              </a:rPr>
              <a:t>Gerechnet für A – B3 Standard. Ohne Gastro-Gewinn fehlen 8.700 € pro Monat, die Gastro macht also den Unterschied zwischen negativem und positivem Ergebnis.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Prüfung: ein 60-m²-Apartment als Airbnb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17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112327"/>
                <a:gridCol w="2044930"/>
                <a:gridCol w="2044930"/>
                <a:gridCol w="204493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Apartment 60 m²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Werlte amtlich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Emsland-Schnitt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Optimistisch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Auslastung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17,4 %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36,2 %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60,0 %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Preis pro Nacht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90 €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90 €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90 €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Netto Airbnb pro Monat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210 €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436 €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723 €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Netto langfristige Miete pro Monat (60 m² × 11,18 €)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604 €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604 €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604 €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Möblierung 36.000 € (Kapitaldienst pro Monat)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−150 €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−150 €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−150 €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Mehrertrag gegenüber langfristiger Miete pro Monat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−544 €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−318 €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−31 €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572000"/>
            <a:ext cx="11247120" cy="109728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663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8C3B2F"/>
                </a:solidFill>
                <a:latin typeface="Arial"/>
              </a:rPr>
              <a:t>Ergebnis:  </a:t>
            </a:r>
            <a:r>
              <a:rPr sz="1100">
                <a:solidFill>
                  <a:srgbClr val="222222"/>
                </a:solidFill>
                <a:latin typeface="Arial"/>
              </a:rPr>
              <a:t>Airbnb lohnt sich in Werlte nicht. Erst ab ca. 63 % Auslastung wäre es so gut wie die langfristige Miete, in Werlte liegt sie amtlich bei 17 %. Die Wohnungen bleiben langfristig vermietet (Werte aus dem früheren Plan, unverändert).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Risiken und was wir dagegen tun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486400" cy="155448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8C3B2F"/>
                </a:solidFill>
                <a:latin typeface="Arial"/>
              </a:rPr>
              <a:t>Sicherheiten und Beleihung:  </a:t>
            </a:r>
            <a:r>
              <a:rPr sz="1000">
                <a:solidFill>
                  <a:srgbClr val="222222"/>
                </a:solidFill>
                <a:latin typeface="Arial"/>
              </a:rPr>
              <a:t>Beleihungsauslauf 184 % bei 100 % Fremdfinanzierung. Gegenmaßnahme: Grundschulden auf weitere Immobilien, Bürgschaft oder Eigenkapital, Pachtvertrag mit Bonitätsnachweis.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97280"/>
            <a:ext cx="5486400" cy="155448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18872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8C3B2F"/>
                </a:solidFill>
                <a:latin typeface="Arial"/>
              </a:rPr>
              <a:t>Gastro-Umsatz:  </a:t>
            </a:r>
            <a:r>
              <a:rPr sz="1000">
                <a:solidFill>
                  <a:srgbClr val="222222"/>
                </a:solidFill>
                <a:latin typeface="Arial"/>
              </a:rPr>
              <a:t>Bei Ausfall der Gastro fehlen ca. 12.083 € pro Monat. Gegenmaßnahme: Konzept, erfahrener Betreiber, Pachtstaffel, Mietverträge über 10 Jahre mit Bonitätsprüfung.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88920"/>
            <a:ext cx="5486400" cy="155448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8036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8C3B2F"/>
                </a:solidFill>
                <a:latin typeface="Arial"/>
              </a:rPr>
              <a:t>Zins:  </a:t>
            </a:r>
            <a:r>
              <a:rPr sz="1000">
                <a:solidFill>
                  <a:srgbClr val="222222"/>
                </a:solidFill>
                <a:latin typeface="Arial"/>
              </a:rPr>
              <a:t>KfW-Zinsen und Rahmen sind Stand Oktober 2026 unsicher, nach 10 Jahren ist der Folgezins offen. Gegenmaßnahme: Zusage vor Baubeginn, Forward-Darlehen, Tilgungsaussetzung.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788920"/>
            <a:ext cx="5486400" cy="155448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88036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8C3B2F"/>
                </a:solidFill>
                <a:latin typeface="Arial"/>
              </a:rPr>
              <a:t>Genehmigung und Standard:  </a:t>
            </a:r>
            <a:r>
              <a:rPr sz="1000">
                <a:solidFill>
                  <a:srgbClr val="222222"/>
                </a:solidFill>
                <a:latin typeface="Arial"/>
              </a:rPr>
              <a:t>Baufenster, Dachform, Höhe und Geschosszahl sind mit der Stadt zu klären; KfW verlangt Effizienzhaus 40 mit QNG. Gegenmaßnahme: Vorabstimmung, Energieeffizienz-Experte früh einbinden.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80560"/>
            <a:ext cx="5486400" cy="155448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57200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8C3B2F"/>
                </a:solidFill>
                <a:latin typeface="Arial"/>
              </a:rPr>
              <a:t>Stellplätze:  </a:t>
            </a:r>
            <a:r>
              <a:rPr sz="1000">
                <a:solidFill>
                  <a:srgbClr val="222222"/>
                </a:solidFill>
                <a:latin typeface="Arial"/>
              </a:rPr>
              <a:t>Stellplätze nur auf der Hypothese nachgewiesen. Gegenmaßnahme: Vereinbarung über die öffentliche Parkfläche oder Ablöse.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Was ich von Stadt und Bank brauche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27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19" cy="4480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49193"/>
                <a:gridCol w="8097926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Anliegen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Von der Stadt: Genehmigung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Baufenster, Geschosse, Flachdach, Höhe und Höhenbezug schriftlich bestätigen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Von der Stadt: Stellplätze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Mitnutzung der öffentlichen Parkfläche oder faire Ablöse; Bestätigung der Stellplatzregelung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Von der Stadt: Grundstück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Kaufpreis 230 €/m² mit Baureife, Reservierung bis zur Finanzierungszusage; Zuschnitt und Baulinie zum Platz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Von der Bank: Darlehen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Finanzierung von 5,14 Mio. € mit KfW 298/299 und tilgungsfreier Anlaufzeit von 12 Monaten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Von der Bank: Sicherheiten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Gespräch über zusätzliche Grundschulden oder Bürgschaft wegen des Beleihungsauslaufs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Von der Bank: KfW-Antrag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Antrag für 298 und 299 vor Baubeginn über die Hausbank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Nächste Schritte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713232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16152"/>
            <a:ext cx="457200" cy="457200"/>
          </a:xfrm>
          <a:prstGeom prst="ellipse">
            <a:avLst/>
          </a:prstGeom>
          <a:solidFill>
            <a:srgbClr val="8C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188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2222"/>
                </a:solidFill>
                <a:latin typeface="Arial"/>
              </a:rPr>
              <a:t>Okt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18872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Arial"/>
              </a:rPr>
              <a:t>Gespräch mit der Stadt: Preis, Förderung, Stellplätze (Termin mit Herrn Keve bereits am 06.10. geführt, Folgetermin anfragen)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20240"/>
            <a:ext cx="11247120" cy="713232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2039112"/>
            <a:ext cx="457200" cy="457200"/>
          </a:xfrm>
          <a:prstGeom prst="ellipse">
            <a:avLst/>
          </a:prstGeom>
          <a:solidFill>
            <a:srgbClr val="8C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2222"/>
                </a:solidFill>
                <a:latin typeface="Arial"/>
              </a:rPr>
              <a:t>Nov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0116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Arial"/>
              </a:rPr>
              <a:t>Architekt, Baufenster, Höhen und Geschosse schriftlich klären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743200"/>
            <a:ext cx="11247120" cy="713232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2862072"/>
            <a:ext cx="457200" cy="457200"/>
          </a:xfrm>
          <a:prstGeom prst="ellipse">
            <a:avLst/>
          </a:prstGeom>
          <a:solidFill>
            <a:srgbClr val="8C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926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834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2222"/>
                </a:solidFill>
                <a:latin typeface="Arial"/>
              </a:rPr>
              <a:t>Dez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83464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Arial"/>
              </a:rPr>
              <a:t>Hausbank: Finanzierung, Anlaufzeit, KfW 298/299 und Sicherheiten klären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566160"/>
            <a:ext cx="11247120" cy="713232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" y="3685032"/>
            <a:ext cx="457200" cy="457200"/>
          </a:xfrm>
          <a:prstGeom prst="ellipse">
            <a:avLst/>
          </a:prstGeom>
          <a:solidFill>
            <a:srgbClr val="8C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490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2222"/>
                </a:solidFill>
                <a:latin typeface="Arial"/>
              </a:rPr>
              <a:t>Q1 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6576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Arial"/>
              </a:rPr>
              <a:t>Städtebaulicher Vertrag, Bauantrag, KfW-Antrag vor Baubeginn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389120"/>
            <a:ext cx="11247120" cy="713232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080" y="4507992"/>
            <a:ext cx="457200" cy="457200"/>
          </a:xfrm>
          <a:prstGeom prst="ellipse">
            <a:avLst/>
          </a:prstGeom>
          <a:solidFill>
            <a:srgbClr val="8C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572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480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2222"/>
                </a:solidFill>
                <a:latin typeface="Arial"/>
              </a:rPr>
              <a:t>Mitte 2027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4805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Arial"/>
              </a:rPr>
              <a:t>Baubeginn, 15 Monate Bauzeit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212080"/>
            <a:ext cx="11247120" cy="713232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" y="5330952"/>
            <a:ext cx="457200" cy="457200"/>
          </a:xfrm>
          <a:prstGeom prst="ellipse">
            <a:avLst/>
          </a:prstGeom>
          <a:solidFill>
            <a:srgbClr val="8C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394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303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2222"/>
                </a:solidFill>
                <a:latin typeface="Arial"/>
              </a:rPr>
              <a:t>Ende 2028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30352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Arial"/>
              </a:rPr>
              <a:t>Eröffnung zusammen mit der neuen Mitte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FFFFFF"/>
                </a:solidFill>
                <a:latin typeface="Georgia"/>
              </a:rPr>
              <a:t>Anhang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Arial"/>
              </a:rPr>
              <a:t>Annahmen, Gastro-Kosten, Gastro-Ausbau, Mietdaten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Rechenannahmen und offene Punkte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502920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07007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222222"/>
                </a:solidFill>
                <a:latin typeface="Arial"/>
              </a:rPr>
              <a:t>•  Grundstück 960 m² × 230 € plus ca. 7 % (5 % Grunderwerbsteuer, ca. 2 % Notar); Zuschnitt 32 × 30 m ist eine Hypothese.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222222"/>
                </a:solidFill>
                <a:latin typeface="Arial"/>
              </a:rPr>
              <a:t>•  Bau BGF × 2.200 €, oberstes Geschoss in Holzbau 400 €/m² günstiger, Terrassen 450 €/m², Baunebenkosten 15 %, Effizienzhaus 40/QNG +3 %, Außenanlagen 160 €/m² auf der Restfläche (384 bzw. 420 m², Hypothese).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222222"/>
                </a:solidFill>
                <a:latin typeface="Arial"/>
              </a:rPr>
              <a:t>•  100 % Fremdfinanzierung, 1 % Anfangstilgung, tilgungsfreie Anlaufzeit 12 Monate; Bauzeit 15 Monate, Bereitstellungszins 3 % p. a. ab Monat 7; Finanzierungskosten vereinfacht nachgerechnet (früherer Plan: 289.674 €, Nachrechnung 279.394 €, Abweichung 0,2 % der Gesamtkosten).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222222"/>
                </a:solidFill>
                <a:latin typeface="Arial"/>
              </a:rPr>
              <a:t>•  Zins KfW 298 2,5 %, KfW 299 3,0 %, Hausbank 4,0 % (Annahmen); KfW 299 = 2.000 € × 85 % der Gewerbe-Nutzfläche; KfW 298 = 150.000 € je Wohnung.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222222"/>
                </a:solidFill>
                <a:latin typeface="Arial"/>
              </a:rPr>
              <a:t>•  Wohnungen 11,18 €/m² Kaltmiete (früherer Planwert), Büro 9,75 €/m², Gastro-Pacht 10 €/m²; Rücklagen 10 % von Miete, Büro und Pacht; Lohn des Bauherrn nicht gerechnet.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222222"/>
                </a:solidFill>
                <a:latin typeface="Arial"/>
              </a:rPr>
              <a:t>•  Gastro-Umsatz proportional zu den Innenplätzen (342 €/Platz und Monat, Marge vor Pacht 30,5 %) – keine Marktbelege; Steuersatz 35 % und AfA 3 % nur für die Pro-Kopf-Rechnung.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222222"/>
                </a:solidFill>
                <a:latin typeface="Arial"/>
              </a:rPr>
              <a:t>•  Geometrie, Flächen und Wohnungen stammen aus dem Geometriemodell (A: B3-Stand v4; B: Entwurfsannahmen), Höhen bei B hypothetisch; Planungsrecht: B-Plan 2023 rechtskräftig, 1. Änderung nur Entwurf, Zuordnung Baufeld 3 unbestätigt.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222222"/>
                </a:solidFill>
                <a:latin typeface="Arial"/>
              </a:rPr>
              <a:t>•  Offen: Baufenster, Dach, Höhen, Stellplatzsatzung, Zins nach 10 Jahren, Sicherheiten, Betreiber, Bodengutachten.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Gastro: Kosten pro Monat bei 41.059 € Umsatz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31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45171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572000"/>
                <a:gridCol w="1828800"/>
                <a:gridCol w="182880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Posten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Richtwert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Betrag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Wareneinsatz (Einkauf Essen und Getränke)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ca. 28 %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11.497 €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Personal (ohne Chef-Lohn)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ca. 30 %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12.318 €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Pacht ans Haus (440 m² × 10 €)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4.400 €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Energie, Wasser, Müll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ca. 3 %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1.232 €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Reinigung, Wäsche, Verbrauchsmaterial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ca. 2 %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821 €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Werbung und Marketing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ca. 1,5 %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616 €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Reparaturen, Wartung, Kassensystem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ca. 1,5 %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616 €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Sonstiges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ca. 1,5 %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616 €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Versicherungen, GEMA, Gebühren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ca. 1 %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411 €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Steuerberater, Buchhaltung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ca. 1 %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411 €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Summe Kosten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32.936 €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Gewinn nach Pacht, vor Lohn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8.123 €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852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Die Richtwerte der Kostenquoten stammen aus dem früheren Plan; Marge hier ca. 30,5 % vor Pacht (Planwert 30,5 %, Rundung der Richtwerte).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Gastro-Ausbau nach Posten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32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686800" cy="460857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029200"/>
                <a:gridCol w="1828800"/>
                <a:gridCol w="182880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Posten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Betrag (früherer Plan)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skaliert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Küche (Bowl- und Snackküche, Kühlräume, Spülküche)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28.000 €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17.684 €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Lüftung und Abluft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23.000 €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14.526 €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Theke und Bar (Zapfanlage, Kühlung, Backbar, große Theke)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35.000 €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22.105 €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Möbel (ca. 120 Plätze)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36.000 €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22.737 €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Beleuchtung und Deko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10.000 €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6.316 €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Wand, Boden, Decke, Akustik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19.000 €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12.000 €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Gäste-WC Ausstattung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6.000 €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3.789 €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Kasse, Technik, Musik, WLAN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6.000 €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3.789 €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Terrasse/Arkade (Holzdeck, Möbel, Heizstrahler)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8.000 €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5.053 €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Planung und Genehmigung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6.000 €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3.789 €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Eröffnung, Marketing, Warenerstbestückung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4.000 €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2.526 €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Puffer 5 %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9.050 €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5.716 €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Summe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190.050 €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</a:rPr>
                        <a:t>120.032 €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669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Im Modell angesetzt: 1.000 € je Platz = 120.000 € bei 120 Plätzen. Die Posten sind aus dem früheren Plan proportional umgerechnet, kein Angebot.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8C3B2F"/>
                </a:solidFill>
                <a:latin typeface="Georgia"/>
              </a:rPr>
              <a:t>Mietdaten für Werlte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Für Bank und Stadt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33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7772400" cy="274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857750"/>
                <a:gridCol w="291465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Quelle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Wert für Werlte</a:t>
                      </a:r>
                    </a:p>
                  </a:txBody>
                  <a:tcPr marL="54864" marR="54864" marT="22860" marB="22860" anchor="ctr">
                    <a:solidFill>
                      <a:srgbClr val="2D4A3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ImmoScout24 (Wohnungen, Durchschnitt)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7,78 €/m²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miete-aktuell.de (Kaltmiete 2026)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8,13 €/m²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mietpreise.info (14 Inserate, Spanne 6,09–14,48 €)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9,58 €/m²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mietpreise.info (Neubau)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10,73–11,02 €/m²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Landkreis Emsland (ImmoScout24, Q2 2026)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8,10 €/m²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114800"/>
            <a:ext cx="11247120" cy="1188720"/>
          </a:xfrm>
          <a:prstGeom prst="roundRect">
            <a:avLst>
              <a:gd name="adj" fmla="val 6000"/>
            </a:avLst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206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8C3B2F"/>
                </a:solidFill>
                <a:latin typeface="Arial"/>
              </a:rPr>
              <a:t>Im Modell:  </a:t>
            </a:r>
            <a:r>
              <a:rPr sz="1100">
                <a:solidFill>
                  <a:srgbClr val="222222"/>
                </a:solidFill>
                <a:latin typeface="Arial"/>
              </a:rPr>
              <a:t>Wohnungen 11,18 €/m² Kaltmiete (Planwert des früheren Plans, zentrale Neubaulage). Büro 9,75 €/m² (9,50–10,00), Gastro-Pacht 10 €/m², ohne Marktdaten. Quellen: mietpreise.info/mietspiegel/werlte, miete-aktuell.de, immobilienscout24.de (Kreis Emsland), Abruf Oktober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