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2D4A3E"/>
            </a:solidFill>
          </c:spPr>
          <c:cat>
            <c:strRef>
              <c:f>Sheet1!$A$2:$A$6</c:f>
              <c:strCache>
                <c:ptCount val="5"/>
                <c:pt idx="0">
                  <c:v>Bedarf Gastro/Büro (untere Spanne)</c:v>
                </c:pt>
                <c:pt idx="1">
                  <c:v>Bedarf (obere Spanne)</c:v>
                </c:pt>
                <c:pt idx="2">
                  <c:v>gezeichnet B1 bündig</c:v>
                </c:pt>
                <c:pt idx="3">
                  <c:v>gezeichnet B2 Staffel 1,50 m</c:v>
                </c:pt>
                <c:pt idx="4">
                  <c:v>gezeichnet B3 Staffel 3,00 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9.7</c:v>
                </c:pt>
                <c:pt idx="1">
                  <c:v>14.3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Grundstück</c:v>
                </c:pt>
                <c:pt idx="1">
                  <c:v>Bau (netto Holz)</c:v>
                </c:pt>
                <c:pt idx="2">
                  <c:v>Nebenkosten + Standard</c:v>
                </c:pt>
                <c:pt idx="3">
                  <c:v>Ausbau + Außenanlagen</c:v>
                </c:pt>
                <c:pt idx="4">
                  <c:v>Finanzierung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236256.0</c:v>
                </c:pt>
                <c:pt idx="1">
                  <c:v>4093350.0</c:v>
                </c:pt>
                <c:pt idx="2">
                  <c:v>755223.075</c:v>
                </c:pt>
                <c:pt idx="3">
                  <c:v>174645.0</c:v>
                </c:pt>
                <c:pt idx="4">
                  <c:v>314973.35495086503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B1 bündig</c:v>
                </c:pt>
              </c:strCache>
            </c:strRef>
          </c:tx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5787543</c:v>
                </c:pt>
                <c:pt idx="1">
                  <c:v>5726157</c:v>
                </c:pt>
                <c:pt idx="2">
                  <c:v>5662684</c:v>
                </c:pt>
                <c:pt idx="3">
                  <c:v>5597052</c:v>
                </c:pt>
                <c:pt idx="4">
                  <c:v>5529183</c:v>
                </c:pt>
                <c:pt idx="5">
                  <c:v>5458997</c:v>
                </c:pt>
                <c:pt idx="6">
                  <c:v>5386413</c:v>
                </c:pt>
                <c:pt idx="7">
                  <c:v>5311344</c:v>
                </c:pt>
                <c:pt idx="8">
                  <c:v>5233701</c:v>
                </c:pt>
                <c:pt idx="9">
                  <c:v>5153393</c:v>
                </c:pt>
                <c:pt idx="10">
                  <c:v>5070324</c:v>
                </c:pt>
                <c:pt idx="11">
                  <c:v>4984394</c:v>
                </c:pt>
                <c:pt idx="12">
                  <c:v>4895502</c:v>
                </c:pt>
                <c:pt idx="13">
                  <c:v>4803541</c:v>
                </c:pt>
                <c:pt idx="14">
                  <c:v>4708399</c:v>
                </c:pt>
                <c:pt idx="15">
                  <c:v>4609963</c:v>
                </c:pt>
                <c:pt idx="16">
                  <c:v>4508113</c:v>
                </c:pt>
                <c:pt idx="17">
                  <c:v>4402726</c:v>
                </c:pt>
                <c:pt idx="18">
                  <c:v>4293674</c:v>
                </c:pt>
                <c:pt idx="19">
                  <c:v>4180825</c:v>
                </c:pt>
                <c:pt idx="20">
                  <c:v>4064041</c:v>
                </c:pt>
                <c:pt idx="21">
                  <c:v>3943178</c:v>
                </c:pt>
                <c:pt idx="22">
                  <c:v>3818088</c:v>
                </c:pt>
                <c:pt idx="23">
                  <c:v>3688619</c:v>
                </c:pt>
                <c:pt idx="24">
                  <c:v>3554609</c:v>
                </c:pt>
                <c:pt idx="25">
                  <c:v>3415894</c:v>
                </c:pt>
                <c:pt idx="26">
                  <c:v>3272301</c:v>
                </c:pt>
                <c:pt idx="27">
                  <c:v>3123653</c:v>
                </c:pt>
                <c:pt idx="28">
                  <c:v>2969763</c:v>
                </c:pt>
                <c:pt idx="29">
                  <c:v>2810442</c:v>
                </c:pt>
                <c:pt idx="30">
                  <c:v>2645488</c:v>
                </c:pt>
                <c:pt idx="31">
                  <c:v>2474695</c:v>
                </c:pt>
                <c:pt idx="32">
                  <c:v>2297849</c:v>
                </c:pt>
                <c:pt idx="33">
                  <c:v>2114727</c:v>
                </c:pt>
                <c:pt idx="34">
                  <c:v>1925097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B2 Staffel 1,50 m</c:v>
                </c:pt>
              </c:strCache>
            </c:strRef>
          </c:tx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5517851</c:v>
                </c:pt>
                <c:pt idx="1">
                  <c:v>5459352</c:v>
                </c:pt>
                <c:pt idx="2">
                  <c:v>5398886</c:v>
                </c:pt>
                <c:pt idx="3">
                  <c:v>5336382</c:v>
                </c:pt>
                <c:pt idx="4">
                  <c:v>5271769</c:v>
                </c:pt>
                <c:pt idx="5">
                  <c:v>5204972</c:v>
                </c:pt>
                <c:pt idx="6">
                  <c:v>5135914</c:v>
                </c:pt>
                <c:pt idx="7">
                  <c:v>5064515</c:v>
                </c:pt>
                <c:pt idx="8">
                  <c:v>4990692</c:v>
                </c:pt>
                <c:pt idx="9">
                  <c:v>4914359</c:v>
                </c:pt>
                <c:pt idx="10">
                  <c:v>4835427</c:v>
                </c:pt>
                <c:pt idx="11">
                  <c:v>4753804</c:v>
                </c:pt>
                <c:pt idx="12">
                  <c:v>4669393</c:v>
                </c:pt>
                <c:pt idx="13">
                  <c:v>4582095</c:v>
                </c:pt>
                <c:pt idx="14">
                  <c:v>4491807</c:v>
                </c:pt>
                <c:pt idx="15">
                  <c:v>4398423</c:v>
                </c:pt>
                <c:pt idx="16">
                  <c:v>4301831</c:v>
                </c:pt>
                <c:pt idx="17">
                  <c:v>4201916</c:v>
                </c:pt>
                <c:pt idx="18">
                  <c:v>4098559</c:v>
                </c:pt>
                <c:pt idx="19">
                  <c:v>3991636</c:v>
                </c:pt>
                <c:pt idx="20">
                  <c:v>3881019</c:v>
                </c:pt>
                <c:pt idx="21">
                  <c:v>3766576</c:v>
                </c:pt>
                <c:pt idx="22">
                  <c:v>3648167</c:v>
                </c:pt>
                <c:pt idx="23">
                  <c:v>3525651</c:v>
                </c:pt>
                <c:pt idx="24">
                  <c:v>3398877</c:v>
                </c:pt>
                <c:pt idx="25">
                  <c:v>3267693</c:v>
                </c:pt>
                <c:pt idx="26">
                  <c:v>3131939</c:v>
                </c:pt>
                <c:pt idx="27">
                  <c:v>2991448</c:v>
                </c:pt>
                <c:pt idx="28">
                  <c:v>2846048</c:v>
                </c:pt>
                <c:pt idx="29">
                  <c:v>2695562</c:v>
                </c:pt>
                <c:pt idx="30">
                  <c:v>2539804</c:v>
                </c:pt>
                <c:pt idx="31">
                  <c:v>2378581</c:v>
                </c:pt>
                <c:pt idx="32">
                  <c:v>2211696</c:v>
                </c:pt>
                <c:pt idx="33">
                  <c:v>2038939</c:v>
                </c:pt>
                <c:pt idx="34">
                  <c:v>1860098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B3 Staffel 3,00 m</c:v>
                </c:pt>
              </c:strCache>
            </c:strRef>
          </c:tx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5285767</c:v>
                </c:pt>
                <c:pt idx="1">
                  <c:v>5229686</c:v>
                </c:pt>
                <c:pt idx="2">
                  <c:v>5171686</c:v>
                </c:pt>
                <c:pt idx="3">
                  <c:v>5111700</c:v>
                </c:pt>
                <c:pt idx="4">
                  <c:v>5049657</c:v>
                </c:pt>
                <c:pt idx="5">
                  <c:v>4985483</c:v>
                </c:pt>
                <c:pt idx="6">
                  <c:v>4919102</c:v>
                </c:pt>
                <c:pt idx="7">
                  <c:v>4850434</c:v>
                </c:pt>
                <c:pt idx="8">
                  <c:v>4779398</c:v>
                </c:pt>
                <c:pt idx="9">
                  <c:v>4705908</c:v>
                </c:pt>
                <c:pt idx="10">
                  <c:v>4629877</c:v>
                </c:pt>
                <c:pt idx="11">
                  <c:v>4551211</c:v>
                </c:pt>
                <c:pt idx="12">
                  <c:v>4469817</c:v>
                </c:pt>
                <c:pt idx="13">
                  <c:v>4385596</c:v>
                </c:pt>
                <c:pt idx="14">
                  <c:v>4298445</c:v>
                </c:pt>
                <c:pt idx="15">
                  <c:v>4208259</c:v>
                </c:pt>
                <c:pt idx="16">
                  <c:v>4114927</c:v>
                </c:pt>
                <c:pt idx="17">
                  <c:v>4018336</c:v>
                </c:pt>
                <c:pt idx="18">
                  <c:v>3918366</c:v>
                </c:pt>
                <c:pt idx="19">
                  <c:v>3814894</c:v>
                </c:pt>
                <c:pt idx="20">
                  <c:v>3707795</c:v>
                </c:pt>
                <c:pt idx="21">
                  <c:v>3596934</c:v>
                </c:pt>
                <c:pt idx="22">
                  <c:v>3482175</c:v>
                </c:pt>
                <c:pt idx="23">
                  <c:v>3363375</c:v>
                </c:pt>
                <c:pt idx="24">
                  <c:v>3240387</c:v>
                </c:pt>
                <c:pt idx="25">
                  <c:v>3113057</c:v>
                </c:pt>
                <c:pt idx="26">
                  <c:v>2981225</c:v>
                </c:pt>
                <c:pt idx="27">
                  <c:v>2844728</c:v>
                </c:pt>
                <c:pt idx="28">
                  <c:v>2703393</c:v>
                </c:pt>
                <c:pt idx="29">
                  <c:v>2557042</c:v>
                </c:pt>
                <c:pt idx="30">
                  <c:v>2405490</c:v>
                </c:pt>
                <c:pt idx="31">
                  <c:v>2248547</c:v>
                </c:pt>
                <c:pt idx="32">
                  <c:v>2086013</c:v>
                </c:pt>
                <c:pt idx="33">
                  <c:v>1917681</c:v>
                </c:pt>
                <c:pt idx="34">
                  <c:v>1743338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9A3C"/>
                </a:solidFill>
                <a:latin typeface="Arial"/>
              </a:rPr>
              <a:t>NEUE MITTE WERLTE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FFFFFF"/>
                </a:solidFill>
                <a:latin typeface="Georgia"/>
              </a:rPr>
              <a:t>Baufeld 3: überdachte Stellplätze, größere Wohnungen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rial"/>
              </a:rPr>
              <a:t>Businessplan für die Bank: schmales Erdgeschoss, breitere Obergeschosse, drei Optionen – Finanzierung, Ertragswert, Abzahlungsplan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rial"/>
              </a:rPr>
              <a:t>Bessam Hasso, Werlte</a:t>
            </a:r>
          </a:p>
          <a:p>
            <a:r>
              <a:rPr sz="1000" b="0">
                <a:solidFill>
                  <a:srgbClr val="FFFFFF"/>
                </a:solidFill>
                <a:latin typeface="Arial"/>
              </a:rPr>
              <a:t>Bebauungsplan Nr. 123 (2023) und 1. Änderung (Entwurf 25.08.2026)</a:t>
            </a:r>
          </a:p>
          <a:p>
            <a:r>
              <a:rPr sz="1000" b="0">
                <a:solidFill>
                  <a:srgbClr val="FFFFFF"/>
                </a:solidFill>
                <a:latin typeface="Arial"/>
              </a:rPr>
              <a:t>Stand 27.10.2026 · alle Zahlen Planungsannahmen</a:t>
            </a:r>
          </a:p>
        </p:txBody>
      </p:sp>
      <p:pic>
        <p:nvPicPr>
          <p:cNvPr id="7" name="Picture 6" descr="_title_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25" y="0"/>
            <a:ext cx="743632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Das Vorhaben auf einen 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5,3–5,8 Mio.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Gesamtkosten inkl. Finanzierung in Bau- und Anlaufzeit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704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47–51 %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des Darlehens über KfW 298 und 299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704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19,4–21,1 T€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Kapitaldienst pro Monat (Zins + 1 % Tilgung)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0972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1704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D4A3E"/>
                </a:solidFill>
                <a:latin typeface="Georgia"/>
              </a:rPr>
              <a:t>-0,2 bis 0,4 T€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Ergebnis pro Monat nach Kapitaldienst, ohne Lohn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560320"/>
          <a:ext cx="1124712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9424"/>
                <a:gridCol w="2999232"/>
                <a:gridCol w="2999232"/>
                <a:gridCol w="299923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Projekt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Grundstück / EG / BGF gesamt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960 m² / 540 m² / 2.100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960 m² / 540 m² / 1.941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960 m² / 540 m² / 1.800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Nutzung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 EG, Büro, 14 Wohnungen (1.098 m²)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 EG, Büro, 14 Wohnungen (974 m²)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 EG, Büro, 12 Wohnungen (866 m²)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Stellplätze (Hypothese 32 × 30 m)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8, alle unter dem Vorbau überdacht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8, alle unter dem Vorbau überdacht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8, alle unter dem Vorbau überdacht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Kapitaldienstdeckung (DSCR)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1,02 gesamt, 0,70 nur Immobilie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1,01 gesamt, 0,68 nur Immobilie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0,99 gesamt, 0,65 nur Immobilie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Ertragswert / Beleihungsauslauf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3,67 Mio. € / 177 %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3,34 Mio. € / 186 %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3,04 Mio. € / 195 %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D4A3E"/>
                </a:solidFill>
                <a:latin typeface="Arial"/>
              </a:rPr>
              <a:t>Der Ertrag trägt die Raten nur zusammen mit dem Gastro-Gewinn. Die Bank wird wegen des Ertragswerts zusätzliche Sicherheiten oder Eigenkapital verlangen, siehe Folie Ertragswert. Mit 100 % Fremdkapital ist das Ergebnis klein.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Ein Eckgrundstück an der neuen Mitte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C3B2F"/>
                </a:solidFill>
                <a:latin typeface="Georgia"/>
              </a:rPr>
              <a:t>ca. 960 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Baufeld 3, östlich des Rathauses, südlich der Planstraße (Zuordnung und Zuschnitt nicht vermessen)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C3B2F"/>
                </a:solidFill>
                <a:latin typeface="Georgia"/>
              </a:rPr>
              <a:t>Mischgebiet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Gewerbe im EG erwünscht, Stellplätze auf dem Grundstück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C3B2F"/>
                </a:solidFill>
                <a:latin typeface="Georgia"/>
              </a:rPr>
              <a:t>Baureife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laut Stadt vorhanden, Baubeginn jederzeit möglich (zu bestätigen)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Nov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Stellplatz alte Grundschule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ab März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Bau Planstraße (Erschließung)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Mitte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Unser Baubeginn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ab Juli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Kreisverkehr Loruper Straße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Ende 2028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Marktplatz, Rathaus fertig und unsere Eröffnung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Was der Bebauungsplan vorgibt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9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0326"/>
                <a:gridCol w="3460652"/>
                <a:gridCol w="2595489"/>
                <a:gridCol w="34606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Festsetzung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Plan 2023 (rechtskräftig, MI 3)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Entwurf 2026 (1. Änderung)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Unser Entwurf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Vollgeschosse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II bis III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II zwingend (MI 3 nicht erfasst)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EG, 1. OG und oberstes Geschoss (Holzbau)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Traufhöhe / Höhe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9,80 m / 15,00 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6,50 m / 12,00 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Attika +12,00 m (hypothetisches Höhenschema)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Grundflächenzahl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0,6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EG 540 m² = 56 % der Hypothese 960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Dachform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Hauptdach ≥ 38°, Flachdach nur untergeordnet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Dach ≥ 38°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Flachdach mit Staffel / Terrasse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Baugrenze MI 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 m West, 3 m übrige Seiten; Bezug OK Fahrbahn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 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Baufenster ≈ 27,7 × 15,9 m (abgeleitet)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Stellplätze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auf dem Grundstück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63 Plätze im Parkplatz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siehe Stellplatzfolie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63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Schriftlich klären:  </a:t>
            </a:r>
            <a:r>
              <a:rPr sz="1100">
                <a:solidFill>
                  <a:srgbClr val="222222"/>
                </a:solidFill>
                <a:latin typeface="Arial"/>
              </a:rPr>
              <a:t>Ist Baufeld 3 tatsächlich MI 3 / Flurstück 59/1? Passt das Gebäude in das Baufenster (EG und Vorbau liegen nach der Schätzung außerhalb)? Sind Flachdach/Staffel, Traufhöhe und Höhenbezug (OK Fahrbahn) befreit oder zulässig? Diese Folien enthalten keine Aussage zur baurechtlichen Zulässigkeit.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Oberstes Geschoss in Holzbau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780 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B1 bündig: oberstes Geschoss, Ersparnis 312.000 €, Terrasse 0 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621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B2 Staffel 1,50 m: oberstes Geschoss, Ersparnis 248.400 €, Terrasse 159 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480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B3 Staffel 3,00 m: oberstes Geschoss, Ersparnis 192.000 €, Terrasse 300 m²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11247120" cy="27432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70048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Leichter und schneller: weniger Last auf dem Klinker-Geschoss, kürzere Bauzeit.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Zwei Partner aus dem Bekanntenkreis (Bauunternehmen unten, Zimmerei oben) können Preise und Termine gemeinsam angeben.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Holzbau hilft beim QNG-Nachweis und beim Effizienzhaus-40-Standard (KfW-Voraussetzung).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Brandschutz (Holzbau bis Gebäudeklasse 4, Aufzug und Treppenhaus massiv) und Schallschutz muss der Architekt nachweisen.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Der Abschlag von 400 €/m² ist eine Annahme aus dem früheren Plan, kein Angebot.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Schmales Erdgeschoss, breite Obergeschosse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schni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52013"/>
            <a:ext cx="6675120" cy="249677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0" y="1188720"/>
          <a:ext cx="4571997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99247"/>
                <a:gridCol w="1936376"/>
                <a:gridCol w="645458"/>
                <a:gridCol w="645458"/>
                <a:gridCol w="645458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Ebene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Nutzung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EG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 20 × 27 m (540 m², 60 % der Hypothese), Büro, Kern; Stellplätze im 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540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540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540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Wohnungen, kragt ringsum aus (West 1,0 / Platz 1,5 / Rück 1,5 / Ost 5,0 m), Säulen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780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780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780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oberstes Geschoss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Wohnungen, Holzbau, Staffel je Option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780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621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480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Summe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2.100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1.941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1.800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4846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BGF = Bruttogrundfläche aller Geschossflächen. Schnitt schematisch aus dem Geometriemodell; Geschosshöhen hypothetisch (Höhenschema 12,00 m), nicht gesichert.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Skizzen der Geschosse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Erdgeschoss</a:t>
            </a:r>
          </a:p>
        </p:txBody>
      </p:sp>
      <p:pic>
        <p:nvPicPr>
          <p:cNvPr id="6" name="Picture 5" descr="plan_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6480"/>
            <a:ext cx="3657600" cy="31050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196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1. Obergeschoss</a:t>
            </a:r>
          </a:p>
        </p:txBody>
      </p:sp>
      <p:pic>
        <p:nvPicPr>
          <p:cNvPr id="8" name="Picture 7" descr="plan_o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76480"/>
            <a:ext cx="3657600" cy="31050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oberstes Geschoss (B2 Staffel 1,50 m)</a:t>
            </a:r>
          </a:p>
        </p:txBody>
      </p:sp>
      <p:pic>
        <p:nvPicPr>
          <p:cNvPr id="10" name="Picture 9" descr="plan_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76480"/>
            <a:ext cx="3657600" cy="31050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54864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</a:rPr>
              <a:t>Schematische Skizzen aus dem Geometriemodell. Raumaufteilung der Obergeschosse ist NOCH OFFEN (keine Raumdaten); Zonen nur als Annahme.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Modern, Klinker, Glas-EG, Vorbau auf Säulen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pic>
        <p:nvPicPr>
          <p:cNvPr id="5" name="Picture 4" descr="R1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7780"/>
            <a:ext cx="3657600" cy="204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C3B2F"/>
                </a:solidFill>
                <a:latin typeface="Georgia"/>
              </a:rPr>
              <a:t>B1 bündig</a:t>
            </a:r>
          </a:p>
        </p:txBody>
      </p:sp>
      <p:pic>
        <p:nvPicPr>
          <p:cNvPr id="7" name="Picture 6" descr="R2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87780"/>
            <a:ext cx="3657600" cy="2042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6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C3B2F"/>
                </a:solidFill>
                <a:latin typeface="Georgia"/>
              </a:rPr>
              <a:t>B2 Staffel 1,50 m</a:t>
            </a:r>
          </a:p>
        </p:txBody>
      </p:sp>
      <p:pic>
        <p:nvPicPr>
          <p:cNvPr id="9" name="Picture 8" descr="R3_he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287780"/>
            <a:ext cx="3657600" cy="2042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C3B2F"/>
                </a:solidFill>
                <a:latin typeface="Georgia"/>
              </a:rPr>
              <a:t>B3 Staffel 3,00 m</a:t>
            </a:r>
          </a:p>
        </p:txBody>
      </p:sp>
      <p:pic>
        <p:nvPicPr>
          <p:cNvPr id="11" name="Picture 10" descr="R1_deta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39540"/>
            <a:ext cx="3657600" cy="2042160"/>
          </a:xfrm>
          <a:prstGeom prst="rect">
            <a:avLst/>
          </a:prstGeom>
        </p:spPr>
      </p:pic>
      <p:pic>
        <p:nvPicPr>
          <p:cNvPr id="12" name="Picture 11" descr="R2_detai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3939540"/>
            <a:ext cx="3657600" cy="2042160"/>
          </a:xfrm>
          <a:prstGeom prst="rect">
            <a:avLst/>
          </a:prstGeom>
        </p:spPr>
      </p:pic>
      <p:pic>
        <p:nvPicPr>
          <p:cNvPr id="13" name="Picture 12" descr="R3_detai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939540"/>
            <a:ext cx="3657600" cy="2042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KI-Visualisierungen (Nano Banana Pro auf Basis der Geometrie-Renderings) zur Orientierung; Fassadenteilung und Details folgen mit dem Architekten.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Vorbau auf Säulen: überdachte Stellplätze und Dachterrasse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R1_e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6340"/>
            <a:ext cx="3657600" cy="204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B1 bündig: Ostseite, Stellplätze unter dem Vorbau</a:t>
            </a:r>
          </a:p>
        </p:txBody>
      </p:sp>
      <p:pic>
        <p:nvPicPr>
          <p:cNvPr id="7" name="Picture 6" descr="R2_ea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96340"/>
            <a:ext cx="3657600" cy="2042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6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B2 Staffel 1,50 m: Ostseite, Stellplätze unter dem Vorbau</a:t>
            </a:r>
          </a:p>
        </p:txBody>
      </p:sp>
      <p:pic>
        <p:nvPicPr>
          <p:cNvPr id="9" name="Picture 8" descr="R3_ea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196340"/>
            <a:ext cx="3657600" cy="2042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B3 Staffel 3,00 m: Ostseite, Stellplätze unter dem Vorbau</a:t>
            </a:r>
          </a:p>
        </p:txBody>
      </p:sp>
      <p:pic>
        <p:nvPicPr>
          <p:cNvPr id="11" name="Picture 10" descr="R2_roo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70960"/>
            <a:ext cx="3657600" cy="2042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B2: Dachterrasse 1,50 m</a:t>
            </a:r>
          </a:p>
        </p:txBody>
      </p:sp>
      <p:pic>
        <p:nvPicPr>
          <p:cNvPr id="13" name="Picture 12" descr="R3_roo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3870960"/>
            <a:ext cx="3657600" cy="2042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5196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B3: Dachterrasse 3,00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931920"/>
            <a:ext cx="33832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B1:  </a:t>
            </a:r>
            <a:r>
              <a:rPr sz="1000">
                <a:solidFill>
                  <a:srgbClr val="222222"/>
                </a:solidFill>
                <a:latin typeface="Arial"/>
              </a:rPr>
              <a:t>oberstes Geschoss bündig, keine Dachterrasse. B2 und B3 bekommen eine umlaufende Dachterrasse mit Milchglas-Brüstung; Holzfassade im Staffelgeschoss.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KI-Visualisierungen im Stil der früheren Bilder; Details (Fenster, Brüstungen) folgen mit dem Architekten.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Gastro im schmalen Erdgeschoss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pic>
        <p:nvPicPr>
          <p:cNvPr id="5" name="Picture 4" descr="gastr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4"/>
            <a:ext cx="6766560" cy="3806190"/>
          </a:xfrm>
          <a:prstGeom prst="rect">
            <a:avLst/>
          </a:prstGeom>
        </p:spPr>
      </p:pic>
      <p:pic>
        <p:nvPicPr>
          <p:cNvPr id="6" name="Picture 5" descr="gastro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779" y="1097280"/>
            <a:ext cx="422940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3657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8C3B2F"/>
                </a:solidFill>
                <a:latin typeface="Georgia"/>
              </a:rPr>
              <a:t>ca. 99 Plätze innen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420624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plus ca. 22 auf der Terrasse/Arkade (Annahme)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Bar mit Barhockern, Polsterbänke, Backbar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Material: Olivgrün, Cognac-Samt, Bordeaux, Eiche, schwarzer Stahl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Stimmungsbilder aus dem früheren Gastro-Konzept (KI-Visualisierung).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Ansichten aus dem Geometriemodell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pic>
        <p:nvPicPr>
          <p:cNvPr id="5" name="Picture 4" descr="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5643"/>
            <a:ext cx="5486400" cy="2249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Vorderansicht (Platzseite) – B2 Staffel 1,50 m</a:t>
            </a:r>
          </a:p>
        </p:txBody>
      </p:sp>
      <p:pic>
        <p:nvPicPr>
          <p:cNvPr id="7" name="Picture 6" descr="r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15643"/>
            <a:ext cx="5486400" cy="2249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Rückansicht – B2 Staffel 1,50 m</a:t>
            </a:r>
          </a:p>
        </p:txBody>
      </p:sp>
      <p:pic>
        <p:nvPicPr>
          <p:cNvPr id="9" name="Picture 8" descr="w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67403"/>
            <a:ext cx="5486400" cy="2249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Westansicht – B2 Staffel 1,50 m</a:t>
            </a:r>
          </a:p>
        </p:txBody>
      </p:sp>
      <p:pic>
        <p:nvPicPr>
          <p:cNvPr id="11" name="Picture 10" descr="ea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67403"/>
            <a:ext cx="5486400" cy="2249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Ostansicht – B2 Staffel 1,50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Stellplätze sind der Knackpunkt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5943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C3B2F"/>
                </a:solidFill>
                <a:latin typeface="Georgia"/>
              </a:rPr>
              <a:t>Vorschlag für die Stadt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55448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664207"/>
            <a:ext cx="45720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Gezeichnet sind 8 Stellplätze auf der Hypothese 32 × 30 m, alle in der Ostreihe unter dem 5,0 m auskragenden Vorbau (Säulenpaare 5,4 m, Fahrgasse 6,00 m im Osten); zwei Plätze entfallen für Hintereingang und Büro-Eingang; Zufahrt von Süden angenommen.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Nachweis Gastro/Büro nach Richtzahlen 9,7–14,3; Wohnen seit 01.07.2024 ohne Pflicht, optional 0,5–1,5 je Wohnung.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Offen: Sackgasse/Wendebedarf, Feuerwehrzufahrt unter dem Vorbau.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Restplätze alternativ auf der öffentlichen Parkfläche per Vereinbarung oder Ablöse (Höhe nennt die Stadt).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7548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Auf dem aus den Stadtplänen abgeleiteten Flurstück 59/1 (≈ 42,3 × 22,7 m) sind diese Stellplätze nicht unterzubringen; die Zahlen gelten nur auf der Hypothese.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Flächen und Mieten: Wohnungen, Büros und Gastro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Kennwerte je Option (Wohnungen im Standardmix, Größen aus der Geometrie)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60652"/>
                <a:gridCol w="2595489"/>
                <a:gridCol w="2595489"/>
                <a:gridCol w="259548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Wohnungen (Anzahl / Fläche)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14 / 1.098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14 / 974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12 / 866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Wohnungsgrößen min–max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69–92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53–92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53–92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Kaltmiete Wohnen (11,18 €/m²) pro Jahr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147.335 €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130.685 €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116.169 €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Büro netto (9,75 €/m²) pro Jahr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56,3 m² / 6.587 €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56,3 m² / 6.587 €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56,3 m² / 6.587 €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Gastro-Pacht (10 €/m²) pro Jahr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372 m² / 44.640 €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372 m² / 44.640 €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372 m² / 44.640 €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Rohertrag gesamt pro Jahr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198.562 €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181.912 €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167.396 €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Gewerbeflächen: Gastro und Büros im Erdgeschoss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583677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9975"/>
                <a:gridCol w="1431234"/>
                <a:gridCol w="1431234"/>
                <a:gridCol w="143123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Gastro-Flächenbedarf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Gastraum (Plätze innen)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99 Plätze / 232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99 Plätze / 232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99 Plätze / 232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Gastro-Mietfläche gesamt (Gastraum, Bar, Küche, Lager, WC)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372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372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372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Terrasse / Arkade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22 Plätze (Annahme)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22 Plätze (Annahme)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22 Plätze (Annahme)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Büro netto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56,3 m², Miete 6.587 € / Jahr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56,3 m², Miete 6.587 € / Jahr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56,3 m², Miete 6.587 € / Jahr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188720"/>
            <a:ext cx="4389120" cy="32918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28016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Gastro:  </a:t>
            </a:r>
            <a:r>
              <a:rPr sz="1100">
                <a:solidFill>
                  <a:srgbClr val="222222"/>
                </a:solidFill>
                <a:latin typeface="Arial"/>
              </a:rPr>
              <a:t>Pacht 10 €/m² und Monat; Umsatz in diesem Plan proportional zu den Innenplätzen (342 € je Platz und Monat wie im früheren Plan, 190 Plätze = 65.010 €). Das ist eine Annahme ohne Marktbeleg. Das Büro (zwei Ankermieter) liegt im EG hinten statt im 1. 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Das EG gehört der Gastro, Büros und Kern liegen rückseitig (Platzdaten aus dem Geometriemodell). Die Büros sind mit 9,50–10,00 €/m² und 10 Jahren Laufzeit angesetzt (Ankermieter, noch nicht vereinbart).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KfW-Kredite 298 und 299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44930"/>
                <a:gridCol w="2044930"/>
                <a:gridCol w="2044930"/>
                <a:gridCol w="1363287"/>
                <a:gridCol w="1363287"/>
                <a:gridCol w="1363287"/>
                <a:gridCol w="1022465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Programm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Wofür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Rahmen (mit QNG)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 Projekt 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 Projekt 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 Projekt 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Zins (Annahme)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298 Klimafreundlicher Neubau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vermietete Wohnungen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bis 150.000 € je Wohnung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2.100.000 €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2.100.000 €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1.800.000 €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2,50 %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299 Klimafreundlicher Neubau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 und Büros (Nichtwohngebäude)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bis 2.000 € je m² Nettogrundfläche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Hausbank (Rest)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Restfinanzierung inkl. Bauzeitzinsen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3.018.805 €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2.746.337 €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2.811.887 €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47472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Voraussetzungen:  </a:t>
            </a:r>
            <a:r>
              <a:rPr sz="1100">
                <a:solidFill>
                  <a:srgbClr val="222222"/>
                </a:solidFill>
                <a:latin typeface="Arial"/>
              </a:rPr>
              <a:t>Effizienzhaus 40 (Gastro: Effizienzgebäude 40), QNG-Zertifikat für den vollen Rahmen, Heizung ohne Öl, Gas und Biomasse (z. B. Wärmepumpe), Energieeffizienz-Experte, Antrag vor Baubeginn über die Hausbank. Wohnteil (298) und Gastro/Büro (299) werden getrennt gefördert; die Kreditrahmen sind theoretische Obergrenzen (Nettogrundfläche = 85 % der Gewerbe-Nutzfläche).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21207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Hinweis:  </a:t>
            </a:r>
            <a:r>
              <a:rPr sz="1100">
                <a:solidFill>
                  <a:srgbClr val="222222"/>
                </a:solidFill>
                <a:latin typeface="Arial"/>
              </a:rPr>
              <a:t>KfW-Zinsen schwanken in den Quellen zwischen 0,6 % und 3,05 %; die Konditionen sind Stand Oktober 2026 nicht bestätigt. Mehrkosten für Effizienzhaus 40/QNG sind mit 3 % angesetzt.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Gesamtkosten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046718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48594"/>
                <a:gridCol w="1532708"/>
                <a:gridCol w="1532708"/>
                <a:gridCol w="15327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Grundstück inkl. Steuer und Notar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236.256 €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236.256 €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236.256 €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Bau, Massivbau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4.620.000 €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4.270.200 €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3.960.000 €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Abschlag Holzbau (oberstes Geschoss)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−312.000 €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−248.400 €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−192.000 €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Dachterrassen (nicht in BGF)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71.550 €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135.000 €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Baunebenkosten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646.200 €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614.002 €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585.450 €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Mehrkosten Effizienzhaus 40 und QNG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148.626 €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141.221 €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134.654 €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Ausbau Gastro und Büros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107.445 €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107.445 €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107.445 €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Außenanlagen, Stellplätze (hypothetische Fläche)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67.200 €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67.200 €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67.200 €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Finanzierungskosten (Bauzeit, Bereitstellung, Anlaufzeit)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333.188 €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314.973 €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305.993 €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Gesamtkosten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5.846.915 €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5.574.447 €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5.339.997 €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je m² BGF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2.784 €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2.872 €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2.967 €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0" y="1097280"/>
          <a:ext cx="35661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4937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Anteile B2 Staffel 1,50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Rechenregeln wie im früheren Plan: Bau 2.200 €/m² BGF, Holzbau-Abschlag 400 €/m², Terrassen 450 €/m², Nebenkosten 15 %, Effizienzhaus 40/QNG +3 %, Ausbau 1.000 €/Gastro-Platz und 150 €/m² Büro, Außenanlagen 160 €/m² auf der hypothetischen Restfläche.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Finanzierungsplan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68202"/>
                <a:gridCol w="2376152"/>
                <a:gridCol w="2376152"/>
                <a:gridCol w="2376152"/>
                <a:gridCol w="9504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Mittelherkunft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Zins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298 (vermietete Wohnungen)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2.100.000 € (36 %)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2.100.000 € (38 %)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1.800.000 € (34 %)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2,50 %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299 (Gastro und Büros)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 (12 %)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 (13 %)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 (14 %)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Hausbank-Darlehen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3.018.805 € (52 %)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2.746.337 € (49 %)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2.811.887 € (53 %)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Eigenkapital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 Finanzierung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5.846.915 €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5.574.447 €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5.339.997 €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Mischzins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3,34 %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3,30 %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3,36 %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Rate pro Monat (Zins + 1 % Tilgung)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21.130 €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19.995 €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19.393 €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Bau- und Anlaufzeit:  </a:t>
            </a:r>
            <a:r>
              <a:rPr sz="1100">
                <a:solidFill>
                  <a:srgbClr val="222222"/>
                </a:solidFill>
                <a:latin typeface="Arial"/>
              </a:rPr>
              <a:t>15 Monate Bau und 12 Monate Anlaufzeit kosten 333.188 € / 314.973 € / 305.993 € an Zinsen und Bereitstellungsgebühr, finanziert von der Hausbank. Die Gesamtkosten sind komplett durch Fremdkapital gedeckt (kein Eigenkapital).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Zinsberechnung und Rate je Darlehen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99360"/>
                <a:gridCol w="2082800"/>
                <a:gridCol w="1249680"/>
                <a:gridCol w="1249680"/>
                <a:gridCol w="2082800"/>
                <a:gridCol w="208280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Darlehen 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Betrag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Zins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Tilgung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 / 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Wohnen (298)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2.100.000 €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2,50 %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6.125 €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73.500 €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Gastro/Büro (299)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2.427 €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29.124 €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Hausbank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3.018.805 €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12.578 €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150.940 €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5.846.915 €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3,34 %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21.130 €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253.565 €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651760"/>
          <a:ext cx="1124712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99360"/>
                <a:gridCol w="2082800"/>
                <a:gridCol w="1249680"/>
                <a:gridCol w="1249680"/>
                <a:gridCol w="2082800"/>
                <a:gridCol w="208280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Darlehen 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Betrag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Zins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Tilgung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 / 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Wohnen (298)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2.100.000 €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2,50 %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6.125 €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73.500 €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Gastro/Büro (299)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2.427 €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29.124 €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Hausbank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2.746.337 €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11.443 €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137.317 €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5.574.447 €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3,30 %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19.995 €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239.941 €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206240"/>
          <a:ext cx="1124712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99360"/>
                <a:gridCol w="2082800"/>
                <a:gridCol w="1249680"/>
                <a:gridCol w="1249680"/>
                <a:gridCol w="2082800"/>
                <a:gridCol w="208280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Darlehen 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Betrag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Zins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Tilgung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 / 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Wohnen (298)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1.800.000 €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2,50 %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5.250 €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63.000 €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Gastro/Büro (299)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728.110 €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2.427 €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29.124 €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Hausbank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2.811.887 €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11.716 €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140.594 €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5.339.997 €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3,36 %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19.393 €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232.719 €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Im ersten Jahr nach der Anlaufzeit: 194.193 € Zinsen und 59.372 € Tilgung / 183.344 € Zinsen und 56.597 € Tilgung / 178.489 € Zinsen und 54.230 € Tilgung.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Abzahlungsplan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65836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188720"/>
          <a:ext cx="448056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44600"/>
                <a:gridCol w="995680"/>
                <a:gridCol w="995680"/>
                <a:gridCol w="12446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Zinsen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Tilgung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Restschuld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183.344 €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56.597 €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5.517.851 €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181.443 €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58.498 €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5.459.352 €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179.475 €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60.466 €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5.398.886 €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175.328 €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64.613 €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5.271.769 €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 (Ende Zinsbindung)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163.608 €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76.333 €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4.914.359 €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149.654 €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90.288 €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4.491.807 €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133.019 €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106.923 €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3.991.636 €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113.168 €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126.773 €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3.398.877 €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89.455 €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150.486 €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2.695.562 €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61.100 €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178.841 €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1.860.098 €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49377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Tabelle: B2 Staffel 1,50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Arial"/>
              </a:rPr>
              <a:t>Nach 10 Jahren Zinsbindung beträgt die Restschuld 5.153.393 € / 4.914.359 € / 4.705.908 €. Die Anschlussfinanzierung muss eingeplant werden.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Ertrag und Kapitaldienst pro Monat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680958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98475"/>
                <a:gridCol w="1594161"/>
                <a:gridCol w="1594161"/>
                <a:gridCol w="159416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B1 bündig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B2 Staffel 1,50 m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B3 Staffel 3,00 m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Kaltmiete Wohnen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+12.278 €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+10.890 €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+9.681 €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Büromieten (Ankermieter)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+549 €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+549 €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+549 €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Pacht Gastro (10 €/m²)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+3.720 €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+3.720 €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+3.720 €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Rücklagen (10 % von Miete, Büro, Pacht)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−1.655 €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−1.516 €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−1.395 €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Nettoertrag Immobilie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+14.892 €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+13.643 €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+12.555 €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Betriebsergebnis Gastro nach Pacht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+6.611 €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+6.611 €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+6.611 €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Nettoertrag vor 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+21.504 €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+20.255 €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+19.166 €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Kapitaldienst (Zinsen und Tilgung)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−21.130 €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−19.995 €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−19.393 €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Ergebnis nach 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+373 €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+260 €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−227 €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09728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188720"/>
            <a:ext cx="32004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Kennzahlen:  </a:t>
            </a:r>
            <a:r>
              <a:rPr sz="1000">
                <a:solidFill>
                  <a:srgbClr val="222222"/>
                </a:solidFill>
                <a:latin typeface="Arial"/>
              </a:rPr>
              <a:t>DSCR gesamt / nur Immobilie: 1,02 / 0,70 | 1,01 / 0,68 | 0,99 / 0,65. Zinsdeckung: 1,33 | 1,33 | 1,29. Anfangsrendite (Immobilie): 3,06 % | 2,94 % | 2,82 %. Banken verlangen meist DSCR ≥ 1,2.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D4A3E"/>
                </a:solidFill>
                <a:latin typeface="Arial"/>
              </a:rPr>
              <a:t>Ohne den Gastro-Gewinn deckt die Immobilie allein die Raten nicht. Der Pachtvertrag mit einem tragfähigen Betreiber ist für die Bank entscheidend. Der Gastro-Umsatz ist proportional zu den Innenplätzen angesetzt (Annahme).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Gastro-Umsatz: Hauptfokus Abend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863839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76600"/>
                <a:gridCol w="655320"/>
                <a:gridCol w="1179576"/>
                <a:gridCol w="655320"/>
                <a:gridCol w="1310640"/>
                <a:gridCol w="78638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Tagesteil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Tage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Gäste/Tag (skaliert)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Ø Bon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Umsatz/Monat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Anteil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Frühstück werktags (Di–Fr 08:00–11:00)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2.923 €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Brunch am Wochenende (Sa, So 09:00–14:00)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3.939 €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Mittag: Bowls, Salate, Suppe (Di–Fr 11:30–14:30)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4.606 €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Nachmittag: Kaffee, Kuchen, Snacks (Di–So 14:30–17:00)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1.897 €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Bar mit Snacks Di–Do, So (ab 17:00)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6.201 €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Bar Fr, Sa (bis 01:00)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10.973 €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Events: Live-Musik, Feiern (4 pro Monat)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3.335 €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Gastro-Umsatz pro Monat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33.874 €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097280"/>
            <a:ext cx="3291840" cy="29260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188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Annahme:  </a:t>
            </a:r>
            <a:r>
              <a:rPr sz="1000">
                <a:solidFill>
                  <a:srgbClr val="222222"/>
                </a:solidFill>
                <a:latin typeface="Arial"/>
              </a:rPr>
              <a:t>Aufbau und Bon-Werte wie im früheren Plan (190 Plätze, 65.010 €), alle Gästezahlen mit dem Faktor 0,52 auf 99 Plätze skaliert. Das ist eine Rechenannahme, keine Prognose. Für B gilt je Option derselbe Umsatz (gleiche Platzzahl).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206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ca. 4.106 € je Platz und Jahr (Branchen-Median Österreich ca. 12.000 €).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Wie viel Umsatz braucht die Gastro?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498077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38942"/>
                <a:gridCol w="1338942"/>
                <a:gridCol w="1606731"/>
                <a:gridCol w="1606731"/>
                <a:gridCol w="1606731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Umsatz pro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Gewinn vor Pacht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Gewinn nach Pacht 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Gewinn nach Pacht 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Gewinn nach Pacht 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25.000 €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7.625 €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+3.905 €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+3.905 €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+3.905 €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9.150 €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+5.430 €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+5.430 €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+5.430 €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12.200 €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+8.480 €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+8.480 €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+8.480 €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15.250 €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+11.530 €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+11.530 €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+11.530 €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33.874 €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10.332 €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+6.612 €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+6.612 €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+6.612 €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65.000 €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19.825 €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+16.105 €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+16.105 €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+16.105 €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09728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188720"/>
            <a:ext cx="33832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Betrieb allein:  </a:t>
            </a:r>
            <a:r>
              <a:rPr sz="1000">
                <a:solidFill>
                  <a:srgbClr val="222222"/>
                </a:solidFill>
                <a:latin typeface="Arial"/>
              </a:rPr>
              <a:t>Ab ca. 12.197 € / 12.197 € / 12.197 € Umsatz deckt der Betrieb seine Pacht.  Haus insgesamt: Ab ca. 32.650 € / 33.022 € / 34.618 € Umsatz sind alle Raten bezahlt (Marge vor Pacht 30,5 %).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Plan-Umsatz 33.874 € entspricht ca. 4.106 € je Sitzplatz und Jahr (99 Plätze).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Ertragswert und Beleihung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760719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3523"/>
                <a:gridCol w="1205732"/>
                <a:gridCol w="1205732"/>
                <a:gridCol w="120573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Ertragswert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Rohertrag pro Jahr (Mieten und Pacht)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198.562 €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181.912 €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167.396 €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Bewirtschaftungskosten (13,75 %)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−27.302 €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−25.013 €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−23.017 €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Reinertrag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171.259 €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156.899 €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144.379 €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Bodenwert (960 m² × 230 €)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220.800 €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220.800 €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220.800 €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Gebäudeertragswert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3.449.054 €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3.114.333 €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2.822.433 €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Ertragswert gesamt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3.669.854 €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3.335.133 €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3.043.233 €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097280"/>
          <a:ext cx="5394957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07426"/>
                <a:gridCol w="1129177"/>
                <a:gridCol w="1129177"/>
                <a:gridCol w="112917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Beleihung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Sachwert (Boden + Herstellungskosten)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5.498.271 €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5.244.018 €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5.018.548 €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Beleihungswert (niedrigerer Wert, −10 %)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3.302.869 €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3.001.620 €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2.738.910 €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Gesamtkosten und Darlehen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5.846.915 €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5.574.447 €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5.339.997 €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Beleihungsauslauf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177 %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186 %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195 %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Ertragswert minus Gesamtkosten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−2.177.061 €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−2.239.314 €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−2.296.764 €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Betrag über 80 % Auslauf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3.204.620 €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3.173.151 €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3.148.869 €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389120"/>
            <a:ext cx="1133856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480559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Einordnung:  </a:t>
            </a:r>
            <a:r>
              <a:rPr sz="1100">
                <a:solidFill>
                  <a:srgbClr val="222222"/>
                </a:solidFill>
                <a:latin typeface="Arial"/>
              </a:rPr>
              <a:t>Die Mieten und die Pacht tragen einen Ertragswert von 3,67 Mio. € / 3,34 Mio. € / 3,04 Mio. €, die Kosten liegen bei 5,85 Mio. € / 5,57 Mio. € / 5,34 Mio. €. Eine Bank beleiht üblicherweise nur bis ca. 80 % des Beleihungswerts. Für die Finanzierung braucht es zusätzliche Sicherheiten (Grundschulden auf weitere Immobilien, Bürgschaft) oder Eigenkapital. Vereinfachte Wertermittlung, kein Gutachten (Liegenschaftszins Wohnen 3,85 %, Büro 5,35 %, Gastro 6,35 %, Restnutzungsdauer 60 Jahre).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Prognose und Belastungstest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7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13462"/>
                <a:gridCol w="1606731"/>
                <a:gridCol w="1606731"/>
                <a:gridCol w="1606731"/>
                <a:gridCol w="1606731"/>
                <a:gridCol w="1606731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Nettoertrag vor 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243.059 €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250.553 €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258.279 €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266.242 €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278.651 €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−239.941 €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−239.941 €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−239.941 €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−239.941 €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−239.941 €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Ergebnis nach 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+3.117 €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+10.612 €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+18.337 €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+26.301 €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+38.710 €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DSCR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1,01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1,04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1,08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1,11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1,16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Restschuld Jahresende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5.517.851 €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5.398.886 €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5.271.769 €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5.135.914 €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4.914.359 €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Prognose für B2 Staffel 1,50 m, Ertragssteigerung 1,53 % p. a. (Annahme wie im früheren Plan)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11247120" cy="2715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23560"/>
                <a:gridCol w="1874520"/>
                <a:gridCol w="1874520"/>
                <a:gridCol w="187452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Belastungstest (Ergebnis pro Monat)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B1 bündig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B2 Staffel 1,50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B3 Staffel 3,00 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Plan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+373 €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+260 €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−227 €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Anschlusszins nach 10 Jahren +1 Prozentpunkt (auf Restschuld)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−3.921 €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−3.836 €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−4.149 €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Mieten Wohnen −10 %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−732 €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−720 €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−1.098 €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Gastro-Umsatz −20 %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−1.693 €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−1.807 €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−2.293 €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Gastro-Umsatz −40 %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−3.759 €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−3.873 €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−4.360 €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Baukosten +10 % (Kredit steigt entsprechend)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−1.619 €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−1.627 €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−2.055 €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Beide Büros leer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−121 €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−234 €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−721 €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 fällt ganz aus (keine Pacht, kein Betriebsergebnis)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−9.586 €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−9.700 €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−10.187 €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Einfluss der Gastro auf das Ergebnis pro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7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13462"/>
                <a:gridCol w="1606731"/>
                <a:gridCol w="1606731"/>
                <a:gridCol w="1606731"/>
                <a:gridCol w="1606731"/>
                <a:gridCol w="1606731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Gastro-Szenario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Haus gesamt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Person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 Personen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 Personen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8 Personen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 fällt ganz aus (ohne Pacht)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−9.700 €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−9.700 €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−4.850 €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−2.425 €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−1.212 €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Gastro-Umsatz 20.000 €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−3.972 €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−3.972 €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−1.986 €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−993 €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−496 €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Gastro-Umsatz 30.000 €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−922 €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−922 €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−461 €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−230 €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−115 €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Gastro-Umsatz 40.000 €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+2.128 €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+2.128 €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+1.064 €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+532 €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+266 €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Gastro-Umsatz 50.000 €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+5.178 €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+5.178 €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+2.589 €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+1.295 €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+647 €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Plan: 33.874 €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+260 €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+260 €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+130 €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+65 €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+32 €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8912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48055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Aussage:  </a:t>
            </a:r>
            <a:r>
              <a:rPr sz="1100">
                <a:solidFill>
                  <a:srgbClr val="222222"/>
                </a:solidFill>
                <a:latin typeface="Arial"/>
              </a:rPr>
              <a:t>Gerechnet für B2 Staffel 1,50 m. Ohne Gastro-Gewinn fehlen 9.700 € pro Monat, die Gastro macht also den Unterschied zwischen negativem und positivem Ergebnis.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Prüfung: ein 60-m²-Apartment als Airbnb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7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12327"/>
                <a:gridCol w="2044930"/>
                <a:gridCol w="2044930"/>
                <a:gridCol w="204493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Apartment 60 m²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Werlte amtlich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Emsland-Schnitt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Optimistisch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Auslastung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17,4 %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36,2 %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60,0 %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Preis pro Nacht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90 €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90 €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90 €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Netto Airbnb pro Monat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210 €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436 €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723 €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Netto langfristige Miete pro Monat (60 m² × 11,18 €)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Möblierung 36.000 € (Kapitaldienst pro Monat)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−150 €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−150 €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−150 €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Mehrertrag gegenüber langfristiger Miete pro Monat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−544 €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−318 €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−31 €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63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Ergebnis:  </a:t>
            </a:r>
            <a:r>
              <a:rPr sz="1100">
                <a:solidFill>
                  <a:srgbClr val="222222"/>
                </a:solidFill>
                <a:latin typeface="Arial"/>
              </a:rPr>
              <a:t>Airbnb lohnt sich in Werlte nicht. Erst ab ca. 63 % Auslastung wäre es so gut wie die langfristige Miete, in Werlte liegt sie amtlich bei 17 %. Die Wohnungen bleiben langfristig vermietet (Werte aus dem früheren Plan, unverändert).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Risiken und was wir dagegen tun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Sicherheiten und Beleihung:  </a:t>
            </a:r>
            <a:r>
              <a:rPr sz="1000">
                <a:solidFill>
                  <a:srgbClr val="222222"/>
                </a:solidFill>
                <a:latin typeface="Arial"/>
              </a:rPr>
              <a:t>Beleihungsauslauf 177 % / 186 % / 195 % bei 100 % Fremdfinanzierung. Gegenmaßnahme: Grundschulden auf weitere Immobilien, Bürgschaft oder Eigenkapital, Pachtvertrag mit Bonitätsnachweis.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Gastro-Umsatz:  </a:t>
            </a:r>
            <a:r>
              <a:rPr sz="1000">
                <a:solidFill>
                  <a:srgbClr val="222222"/>
                </a:solidFill>
                <a:latin typeface="Arial"/>
              </a:rPr>
              <a:t>Bei Ausfall der Gastro fehlen ca. 9.959 € / 9.959 € / 9.959 € pro Monat. Gegenmaßnahme: Konzept, erfahrener Betreiber, Pachtstaffel, Mietverträge über 10 Jahre mit Bonitätsprüfung.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Zins:  </a:t>
            </a:r>
            <a:r>
              <a:rPr sz="1000">
                <a:solidFill>
                  <a:srgbClr val="222222"/>
                </a:solidFill>
                <a:latin typeface="Arial"/>
              </a:rPr>
              <a:t>KfW-Zinsen und Rahmen sind Stand Oktober 2026 unsicher, nach 10 Jahren ist der Folgezins offen. Gegenmaßnahme: Zusage vor Baubeginn, Forward-Darlehen, Tilgungsaussetzung.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880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Genehmigung und Standard:  </a:t>
            </a:r>
            <a:r>
              <a:rPr sz="1000">
                <a:solidFill>
                  <a:srgbClr val="222222"/>
                </a:solidFill>
                <a:latin typeface="Arial"/>
              </a:rPr>
              <a:t>Baufenster, Dachform, Höhe und Geschosszahl sind mit der Stadt zu klären; KfW verlangt Effizienzhaus 40 mit QNG. Gegenmaßnahme: Vorabstimmung, Energieeffizienz-Experte früh einbinden.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Stellplätze und Statik:  </a:t>
            </a:r>
            <a:r>
              <a:rPr sz="1000">
                <a:solidFill>
                  <a:srgbClr val="222222"/>
                </a:solidFill>
                <a:latin typeface="Arial"/>
              </a:rPr>
              <a:t>Stellplätze nur auf der Hypothese nachgewiesen. Kragarme bis 5,0 m über drei Geschosse und Feuerwehrzufahrt unter dem Vorbau sind statisch und brandschutztechnisch zu prüfen.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Was ich von Stadt und Bank brauche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9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49193"/>
                <a:gridCol w="8097926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Anliegen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Stadt: Genehmigung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Baufenster, Geschosse, Flachdach, Höhe und Höhenbezug schriftlich bestätigen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Stadt: Stellplätze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Mitnutzung der öffentlichen Parkfläche oder faire Ablöse; Bestätigung der Stellplatzregelung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Stadt: Grundstück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Kaufpreis 230 €/m² mit Baureife, Reservierung bis zur Finanzierungszusage; Zuschnitt und Baulinie zum Platz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Bank: Darlehen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Finanzierung von 5,85 Mio. € / 5,57 Mio. € / 5,34 Mio. € mit KfW 298/299 und tilgungsfreier Anlaufzeit von 12 Monaten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Bank: Sicherheiten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Gespräch über zusätzliche Grundschulden oder Bürgschaft wegen des Beleihungsauslaufs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Bank: KfW-Antrag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Antrag für 298 und 299 vor Baubeginn über die Hausbank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Nächste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1615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Okt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188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Gespräch mit der Stadt: Preis, Förderung, Stellplätze (Termin mit Herrn Keve bereits am 06.10. geführt, Folgetermin anfragen)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Nov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116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Architekt, Baufenster, Höhen und Geschosse schriftlich klären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4320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Dez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346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Hausbank: Finanzierung, Anlaufzeit, KfW 298/299 und Sicherheiten klären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Q1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57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Städtebaulicher Vertrag, Bauantrag, KfW-Antrag vor Baubeginn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Mitte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805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Baubeginn, 15 Monate Bauzeit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533095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Ende 2028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3035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Eröffnung zusammen mit der neuen Mitte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FFFFFF"/>
                </a:solidFill>
                <a:latin typeface="Georgia"/>
              </a:rPr>
              <a:t>Anhang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rial"/>
              </a:rPr>
              <a:t>Annahmen, Gastro-Kosten, Gastro-Ausbau, Mietdaten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Rechenannahmen und offene Punkte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0292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07007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Grundstück 960 m² × 230 € plus ca. 7 % (5 % Grunderwerbsteuer, ca. 2 % Notar); Zuschnitt 32 × 30 m ist eine Hypothese.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Bau BGF × 2.200 €, oberstes Geschoss in Holzbau 400 €/m² günstiger, Terrassen 450 €/m², Baunebenkosten 15 %, Effizienzhaus 40/QNG +3 %, Außenanlagen 160 €/m² auf der Restfläche (384 bzw. 420 m², Hypothese).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100 % Fremdfinanzierung, 1 % Anfangstilgung, tilgungsfreie Anlaufzeit 12 Monate; Bauzeit 15 Monate, Bereitstellungszins 3 % p. a. ab Monat 7; Finanzierungskosten vereinfacht nachgerechnet (früherer Plan: 289.674 €, Nachrechnung 279.394 €, Abweichung 0,2 % der Gesamtkosten).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Zins KfW 298 2,5 %, KfW 299 3,0 %, Hausbank 4,0 % (Annahmen); KfW 299 = 2.000 € × 85 % der Gewerbe-Nutzfläche; KfW 298 = 150.000 € je Wohnung.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Wohnungen 11,18 €/m² Kaltmiete (früherer Planwert), Büro 9,75 €/m², Gastro-Pacht 10 €/m²; Rücklagen 10 % von Miete, Büro und Pacht; Lohn des Bauherrn nicht gerechnet.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Gastro-Umsatz proportional zu den Innenplätzen (342 €/Platz und Monat, Marge vor Pacht 30,5 %) – keine Marktbelege; Steuersatz 35 % und AfA 3 % nur für die Pro-Kopf-Rechnung.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Geometrie, Flächen und Wohnungen stammen aus dem Geometriemodell (A: B3-Stand v4; B: Entwurfsannahmen), Höhen bei B hypothetisch; Planungsrecht: B-Plan 2023 rechtskräftig, 1. Änderung nur Entwurf, Zuordnung Baufeld 3 unbestätigt.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Offen: Baufenster, Dach, Höhen, Stellplatzsatzung, Zins nach 10 Jahren, Sicherheiten, Betreiber, Bodengutachten.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Gastro: Kosten pro Monat bei 33.874 € Umsatz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4517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Richtwert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Betrag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Wareneinsatz (Einkauf Essen und Getränke)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28 %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9.485 €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Personal (ohne Chef-Lohn)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30 %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10.162 €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Pacht ans Haus (372 m² × 10 €)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3.720 €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Energie, Wasser, Müll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3 %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1.016 €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Reinigung, Wäsche, Verbrauchsmaterial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677 €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Werbung und Marketing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1,5 %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508 €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Reparaturen, Wartung, Kassensystem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1,5 %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508 €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Sonstiges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1,5 %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508 €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Versicherungen, GEMA, Gebühren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339 €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Steuerberater, Buchhaltung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339 €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 Kosten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27.262 €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Gewinn nach Pacht, vor Lohn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6.611 €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Die Richtwerte der Kostenquoten stammen aus dem früheren Plan; Marge hier ca. 30,5 % vor Pacht (Planwert 30,5 %, Rundung der Richtwerte).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Gastro-Ausbau nach Posten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68680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29200"/>
                <a:gridCol w="182880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Betrag (früherer Plan)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skaliert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Küche (Bowl- und Snackküche, Kühlräume, Spülküche)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28.000 €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14.589 €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Lüftung und Abluft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11.984 €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Theke und Bar (Zapfanlage, Kühlung, Backbar, große Theke)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35.000 €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18.237 €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Möbel (ca. 99 Plätze)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36.000 €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18.758 €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Beleuchtung und Deko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5.211 €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Wand, Boden, Decke, Akustik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19.000 €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9.900 €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Gäste-WC Ausstattung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3.126 €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Kasse, Technik, Musik, WLAN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3.126 €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Terrasse/Arkade (Holzdeck, Möbel, Heizstrahler)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4.168 €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Planung und Genehmigung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3.126 €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Eröffnung, Marketing, Warenerstbestückung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2.084 €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Puffer 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9.050 €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4.716 €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190.050 €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99.026 €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Im Modell angesetzt: 1.000 € je Platz = 99.000 € bei 99 Plätzen. Die Posten sind aus dem früheren Plan proportional umgerechnet, kein Angebot.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Mietdaten für Werlte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77240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857750"/>
                <a:gridCol w="291465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Quelle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Wert für Werlte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ImmoScout24 (Wohnungen, Durchschnitt)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7,78 €/m²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miete-aktuell.de (Kaltmiete 2026)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8,13 €/m²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mietpreise.info (14 Inserate, Spanne 6,09–14,48 €)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9,58 €/m²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mietpreise.info (Neubau)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10,73–11,02 €/m²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Landkreis Emsland (ImmoScout24, Q2 2026)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8,10 €/m²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1480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206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Im Modell:  </a:t>
            </a:r>
            <a:r>
              <a:rPr sz="1100">
                <a:solidFill>
                  <a:srgbClr val="222222"/>
                </a:solidFill>
                <a:latin typeface="Arial"/>
              </a:rPr>
              <a:t>Wohnungen 11,18 €/m² Kaltmiete (Planwert des früheren Plans, zentrale Neubaulage). Büro 9,75 €/m² (9,50–10,00), Gastro-Pacht 10 €/m², ohne Marktdaten. Quellen: mietpreise.info/mietspiegel/werlte, miete-aktuell.de, immobilienscout24.de (Kreis Emsland), Abruf Oktober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