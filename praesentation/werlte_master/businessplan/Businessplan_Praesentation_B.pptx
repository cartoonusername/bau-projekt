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2D4A3E"/>
            </a:solidFill>
          </c:spPr>
          <c:cat>
            <c:strRef>
              <c:f>Sheet1!$A$2:$A$6</c:f>
              <c:strCache>
                <c:ptCount val="5"/>
                <c:pt idx="0">
                  <c:v>Bedarf Gastro/Büro (untere Spanne)</c:v>
                </c:pt>
                <c:pt idx="1">
                  <c:v>Bedarf (obere Spanne)</c:v>
                </c:pt>
                <c:pt idx="2">
                  <c:v>gezeichnet B1 bündig</c:v>
                </c:pt>
                <c:pt idx="3">
                  <c:v>gezeichnet B2 Staffel 1,50 m</c:v>
                </c:pt>
                <c:pt idx="4">
                  <c:v>gezeichnet B3 Staffel 3,00 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9.7</c:v>
                </c:pt>
                <c:pt idx="1">
                  <c:v>14.3</c:v>
                </c:pt>
                <c:pt idx="2">
                  <c:v>13</c:v>
                </c:pt>
                <c:pt idx="3">
                  <c:v>13</c:v>
                </c:pt>
                <c:pt idx="4">
                  <c:v>13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Anteil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Grundstück</c:v>
                </c:pt>
                <c:pt idx="1">
                  <c:v>Bau (netto Holz)</c:v>
                </c:pt>
                <c:pt idx="2">
                  <c:v>Nebenkosten + Standard</c:v>
                </c:pt>
                <c:pt idx="3">
                  <c:v>Ausbau + Außenanlagen</c:v>
                </c:pt>
                <c:pt idx="4">
                  <c:v>Finanzierung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236256.0</c:v>
                </c:pt>
                <c:pt idx="1">
                  <c:v>3999375.0</c:v>
                </c:pt>
                <c:pt idx="2">
                  <c:v>737884.6875</c:v>
                </c:pt>
                <c:pt idx="3">
                  <c:v>174645.0</c:v>
                </c:pt>
                <c:pt idx="4">
                  <c:v>306889.5162732098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B1 bündig</c:v>
                </c:pt>
              </c:strCache>
            </c:strRef>
          </c:tx>
          <c:marker>
            <c:symbol val="none"/>
          </c:marker>
          <c:cat>
            <c:strRef>
              <c:f>Sheet1!$A$2:$A$36</c:f>
              <c:strCache>
                <c:ptCount val="3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5666819</c:v>
                </c:pt>
                <c:pt idx="1">
                  <c:v>5606727</c:v>
                </c:pt>
                <c:pt idx="2">
                  <c:v>5544602</c:v>
                </c:pt>
                <c:pt idx="3">
                  <c:v>5480372</c:v>
                </c:pt>
                <c:pt idx="4">
                  <c:v>5413964</c:v>
                </c:pt>
                <c:pt idx="5">
                  <c:v>5345300</c:v>
                </c:pt>
                <c:pt idx="6">
                  <c:v>5274300</c:v>
                </c:pt>
                <c:pt idx="7">
                  <c:v>5200880</c:v>
                </c:pt>
                <c:pt idx="8">
                  <c:v>5124955</c:v>
                </c:pt>
                <c:pt idx="9">
                  <c:v>5046435</c:v>
                </c:pt>
                <c:pt idx="10">
                  <c:v>4965228</c:v>
                </c:pt>
                <c:pt idx="11">
                  <c:v>4881238</c:v>
                </c:pt>
                <c:pt idx="12">
                  <c:v>4794365</c:v>
                </c:pt>
                <c:pt idx="13">
                  <c:v>4704506</c:v>
                </c:pt>
                <c:pt idx="14">
                  <c:v>4611553</c:v>
                </c:pt>
                <c:pt idx="15">
                  <c:v>4515396</c:v>
                </c:pt>
                <c:pt idx="16">
                  <c:v>4415920</c:v>
                </c:pt>
                <c:pt idx="17">
                  <c:v>4313004</c:v>
                </c:pt>
                <c:pt idx="18">
                  <c:v>4206525</c:v>
                </c:pt>
                <c:pt idx="19">
                  <c:v>4096355</c:v>
                </c:pt>
                <c:pt idx="20">
                  <c:v>3982360</c:v>
                </c:pt>
                <c:pt idx="21">
                  <c:v>3864402</c:v>
                </c:pt>
                <c:pt idx="22">
                  <c:v>3742336</c:v>
                </c:pt>
                <c:pt idx="23">
                  <c:v>3616015</c:v>
                </c:pt>
                <c:pt idx="24">
                  <c:v>3485284</c:v>
                </c:pt>
                <c:pt idx="25">
                  <c:v>3349982</c:v>
                </c:pt>
                <c:pt idx="26">
                  <c:v>3209943</c:v>
                </c:pt>
                <c:pt idx="27">
                  <c:v>3064995</c:v>
                </c:pt>
                <c:pt idx="28">
                  <c:v>2914959</c:v>
                </c:pt>
                <c:pt idx="29">
                  <c:v>2759648</c:v>
                </c:pt>
                <c:pt idx="30">
                  <c:v>2598871</c:v>
                </c:pt>
                <c:pt idx="31">
                  <c:v>2432426</c:v>
                </c:pt>
                <c:pt idx="32">
                  <c:v>2260107</c:v>
                </c:pt>
                <c:pt idx="33">
                  <c:v>2081699</c:v>
                </c:pt>
                <c:pt idx="34">
                  <c:v>1896976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B2 Staffel 1,50 m</c:v>
                </c:pt>
              </c:strCache>
            </c:strRef>
          </c:tx>
          <c:marker>
            <c:symbol val="none"/>
          </c:marker>
          <c:cat>
            <c:strRef>
              <c:f>Sheet1!$A$2:$A$36</c:f>
              <c:strCache>
                <c:ptCount val="3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5399670</c:v>
                </c:pt>
                <c:pt idx="1">
                  <c:v>5342438</c:v>
                </c:pt>
                <c:pt idx="2">
                  <c:v>5283291</c:v>
                </c:pt>
                <c:pt idx="3">
                  <c:v>5222160</c:v>
                </c:pt>
                <c:pt idx="4">
                  <c:v>5158977</c:v>
                </c:pt>
                <c:pt idx="5">
                  <c:v>5093670</c:v>
                </c:pt>
                <c:pt idx="6">
                  <c:v>5026163</c:v>
                </c:pt>
                <c:pt idx="7">
                  <c:v>4956379</c:v>
                </c:pt>
                <c:pt idx="8">
                  <c:v>4884237</c:v>
                </c:pt>
                <c:pt idx="9">
                  <c:v>4809656</c:v>
                </c:pt>
                <c:pt idx="10">
                  <c:v>4732547</c:v>
                </c:pt>
                <c:pt idx="11">
                  <c:v>4652822</c:v>
                </c:pt>
                <c:pt idx="12">
                  <c:v>4570388</c:v>
                </c:pt>
                <c:pt idx="13">
                  <c:v>4485148</c:v>
                </c:pt>
                <c:pt idx="14">
                  <c:v>4397004</c:v>
                </c:pt>
                <c:pt idx="15">
                  <c:v>4305851</c:v>
                </c:pt>
                <c:pt idx="16">
                  <c:v>4211583</c:v>
                </c:pt>
                <c:pt idx="17">
                  <c:v>4114087</c:v>
                </c:pt>
                <c:pt idx="18">
                  <c:v>4013249</c:v>
                </c:pt>
                <c:pt idx="19">
                  <c:v>3908950</c:v>
                </c:pt>
                <c:pt idx="20">
                  <c:v>3801065</c:v>
                </c:pt>
                <c:pt idx="21">
                  <c:v>3689465</c:v>
                </c:pt>
                <c:pt idx="22">
                  <c:v>3574018</c:v>
                </c:pt>
                <c:pt idx="23">
                  <c:v>3454584</c:v>
                </c:pt>
                <c:pt idx="24">
                  <c:v>3331021</c:v>
                </c:pt>
                <c:pt idx="25">
                  <c:v>3203179</c:v>
                </c:pt>
                <c:pt idx="26">
                  <c:v>3070905</c:v>
                </c:pt>
                <c:pt idx="27">
                  <c:v>2934037</c:v>
                </c:pt>
                <c:pt idx="28">
                  <c:v>2792410</c:v>
                </c:pt>
                <c:pt idx="29">
                  <c:v>2645852</c:v>
                </c:pt>
                <c:pt idx="30">
                  <c:v>2494183</c:v>
                </c:pt>
                <c:pt idx="31">
                  <c:v>2337219</c:v>
                </c:pt>
                <c:pt idx="32">
                  <c:v>2174766</c:v>
                </c:pt>
                <c:pt idx="33">
                  <c:v>2006626</c:v>
                </c:pt>
                <c:pt idx="34">
                  <c:v>1832590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B3 Staffel 3,00 m</c:v>
                </c:pt>
              </c:strCache>
            </c:strRef>
          </c:tx>
          <c:marker>
            <c:symbol val="none"/>
          </c:marker>
          <c:cat>
            <c:strRef>
              <c:f>Sheet1!$A$2:$A$36</c:f>
              <c:strCache>
                <c:ptCount val="3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5166593</c:v>
                </c:pt>
                <c:pt idx="1">
                  <c:v>5111823</c:v>
                </c:pt>
                <c:pt idx="2">
                  <c:v>5055214</c:v>
                </c:pt>
                <c:pt idx="3">
                  <c:v>4996700</c:v>
                </c:pt>
                <c:pt idx="4">
                  <c:v>4936215</c:v>
                </c:pt>
                <c:pt idx="5">
                  <c:v>4873689</c:v>
                </c:pt>
                <c:pt idx="6">
                  <c:v>4809051</c:v>
                </c:pt>
                <c:pt idx="7">
                  <c:v>4742225</c:v>
                </c:pt>
                <c:pt idx="8">
                  <c:v>4673135</c:v>
                </c:pt>
                <c:pt idx="9">
                  <c:v>4601700</c:v>
                </c:pt>
                <c:pt idx="10">
                  <c:v>4527836</c:v>
                </c:pt>
                <c:pt idx="11">
                  <c:v>4451459</c:v>
                </c:pt>
                <c:pt idx="12">
                  <c:v>4372478</c:v>
                </c:pt>
                <c:pt idx="13">
                  <c:v>4290801</c:v>
                </c:pt>
                <c:pt idx="14">
                  <c:v>4206331</c:v>
                </c:pt>
                <c:pt idx="15">
                  <c:v>4118970</c:v>
                </c:pt>
                <c:pt idx="16">
                  <c:v>4028613</c:v>
                </c:pt>
                <c:pt idx="17">
                  <c:v>3935154</c:v>
                </c:pt>
                <c:pt idx="18">
                  <c:v>3838481</c:v>
                </c:pt>
                <c:pt idx="19">
                  <c:v>3738479</c:v>
                </c:pt>
                <c:pt idx="20">
                  <c:v>3635029</c:v>
                </c:pt>
                <c:pt idx="21">
                  <c:v>3528006</c:v>
                </c:pt>
                <c:pt idx="22">
                  <c:v>3417283</c:v>
                </c:pt>
                <c:pt idx="23">
                  <c:v>3302725</c:v>
                </c:pt>
                <c:pt idx="24">
                  <c:v>3184195</c:v>
                </c:pt>
                <c:pt idx="25">
                  <c:v>3061548</c:v>
                </c:pt>
                <c:pt idx="26">
                  <c:v>2934637</c:v>
                </c:pt>
                <c:pt idx="27">
                  <c:v>2803306</c:v>
                </c:pt>
                <c:pt idx="28">
                  <c:v>2667395</c:v>
                </c:pt>
                <c:pt idx="29">
                  <c:v>2526739</c:v>
                </c:pt>
                <c:pt idx="30">
                  <c:v>2381164</c:v>
                </c:pt>
                <c:pt idx="31">
                  <c:v>2230493</c:v>
                </c:pt>
                <c:pt idx="32">
                  <c:v>2074538</c:v>
                </c:pt>
                <c:pt idx="33">
                  <c:v>1913108</c:v>
                </c:pt>
                <c:pt idx="34">
                  <c:v>1746003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Relationship Id="rId6" Type="http://schemas.openxmlformats.org/officeDocument/2006/relationships/image" Target="../media/image10.jpg"/><Relationship Id="rId7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Relationship Id="rId6" Type="http://schemas.openxmlformats.org/officeDocument/2006/relationships/image" Target="../media/image1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2D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9A3C"/>
                </a:solidFill>
                <a:latin typeface="Arial"/>
              </a:rPr>
              <a:t>NEUE MITTE WERLTE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840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>
                <a:solidFill>
                  <a:srgbClr val="FFFFFF"/>
                </a:solidFill>
                <a:latin typeface="Georgia"/>
              </a:rPr>
              <a:t>Baufeld 3: überdachte Stellplätze, größere Wohnungen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6616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FFFFFF"/>
                </a:solidFill>
                <a:latin typeface="Arial"/>
              </a:rPr>
              <a:t>Businessplan für die Bank: schmales Erdgeschoss, breitere Obergeschosse, drei Optionen – Finanzierung, Ertragswert, Abzahlungsplan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1208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FFFFFF"/>
                </a:solidFill>
                <a:latin typeface="Arial"/>
              </a:rPr>
              <a:t>Bessam Hasso, Werlte</a:t>
            </a:r>
          </a:p>
          <a:p>
            <a:r>
              <a:rPr sz="1000" b="0">
                <a:solidFill>
                  <a:srgbClr val="FFFFFF"/>
                </a:solidFill>
                <a:latin typeface="Arial"/>
              </a:rPr>
              <a:t>Bebauungsplan Nr. 123 (2023) und 1. Änderung (Entwurf 25.08.2026)</a:t>
            </a:r>
          </a:p>
          <a:p>
            <a:r>
              <a:rPr sz="1000" b="0">
                <a:solidFill>
                  <a:srgbClr val="FFFFFF"/>
                </a:solidFill>
                <a:latin typeface="Arial"/>
              </a:rPr>
              <a:t>Stand 27.10.2026 · alle Zahlen Planungsannahmen</a:t>
            </a:r>
          </a:p>
        </p:txBody>
      </p:sp>
      <p:pic>
        <p:nvPicPr>
          <p:cNvPr id="7" name="Picture 6" descr="_title_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25" y="0"/>
            <a:ext cx="7436323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Das Vorhaben auf einen 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7043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8C3B2F"/>
                </a:solidFill>
                <a:latin typeface="Georgia"/>
              </a:rPr>
              <a:t>5,2–5,7 Mio. 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Gesamtkosten inkl. Finanzierung in Bau- und Anlaufzeit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09728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117043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8C3B2F"/>
                </a:solidFill>
                <a:latin typeface="Georgia"/>
              </a:rPr>
              <a:t>50–52 %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69164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des Darlehens über KfW 298 und 299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09728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17043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8C3B2F"/>
                </a:solidFill>
                <a:latin typeface="Georgia"/>
              </a:rPr>
              <a:t>18,7–20,6 T€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69164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Kapitaldienst pro Monat (Zins + 1 % Tilgung)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109728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117043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2D4A3E"/>
                </a:solidFill>
                <a:latin typeface="Georgia"/>
              </a:rPr>
              <a:t>0,2 bis 0,5 T€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169164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Ergebnis pro Monat nach Kapitaldienst, ohne Lohn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2560320"/>
          <a:ext cx="11247120" cy="23042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249424"/>
                <a:gridCol w="2999232"/>
                <a:gridCol w="2999232"/>
                <a:gridCol w="2999232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Projekt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B1 bündig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B2 Staffel 1,50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B3 Staffel 3,00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Grundstück / EG / BGF gesamt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960 m² / 540 m² / 2.052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960 m² / 540 m² / 1.894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960 m² / 540 m² / 1.755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Nutzung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 EG, Büro, 14 Wohnungen (1.065 m²)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 EG, Büro, 14 Wohnungen (942 m²)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 EG, Büro, 13 Wohnungen (835 m²)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Stellplätze (Hypothese 32 × 30 m)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13, davon 8 voll überdacht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13, davon 8 voll überdacht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13, davon 8 voll überdacht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Kapitaldienstdeckung (DSCR)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1,03 gesamt, 0,71 nur Immobilie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1,02 gesamt, 0,69 nur Immobilie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1,01 gesamt, 0,66 nur Immobilie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Ertragswert / Beleihungsauslauf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3,59 Mio. € / 177 %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3,25 Mio. € / 186 %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2,97 Mio. € / 196 %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57200" y="4846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D4A3E"/>
                </a:solidFill>
                <a:latin typeface="Arial"/>
              </a:rPr>
              <a:t>Der Ertrag trägt die Raten nur zusammen mit dem Gastro-Gewinn. Die Bank wird wegen des Ertragswerts zusätzliche Sicherheiten oder Eigenkapital verlangen, siehe Folie Ertragswert. Mit 100 % Fremdkapital ist das Ergebnis klein.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Ein Eckgrundstück an der neuen Mitte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120640" cy="123444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8C3B2F"/>
                </a:solidFill>
                <a:latin typeface="Georgia"/>
              </a:rPr>
              <a:t>ca. 960 m²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Baufeld 3, östlich des Rathauses, südlich der Planstraße (Zuordnung und Zuschnitt nicht vermessen)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60320"/>
            <a:ext cx="5120640" cy="123444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8C3B2F"/>
                </a:solidFill>
                <a:latin typeface="Georgia"/>
              </a:rPr>
              <a:t>Mischgebiet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Gewerbe im EG erwünscht, Stellplätze auf dem Grundstück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931920"/>
            <a:ext cx="5120640" cy="123444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8C3B2F"/>
                </a:solidFill>
                <a:latin typeface="Georgia"/>
              </a:rPr>
              <a:t>Baureife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laut Stadt vorhanden, Baubeginn jederzeit möglich (zu bestätigen)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22222"/>
                </a:solidFill>
                <a:latin typeface="Arial"/>
              </a:rPr>
              <a:t>Nov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Stellplatz alte Grundschule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148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22222"/>
                </a:solidFill>
                <a:latin typeface="Arial"/>
              </a:rPr>
              <a:t>ab März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514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Bau Planstraße (Erschließung)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108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22222"/>
                </a:solidFill>
                <a:latin typeface="Arial"/>
              </a:rPr>
              <a:t>Mitte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474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Unser Baubeginn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069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22222"/>
                </a:solidFill>
                <a:latin typeface="Arial"/>
              </a:rPr>
              <a:t>ab Juli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434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Kreisverkehr Loruper Straße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029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22222"/>
                </a:solidFill>
                <a:latin typeface="Arial"/>
              </a:rPr>
              <a:t>Ende 2028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394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Marktplatz, Rathaus fertig und unsere Eröffnung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Was der Bebauungsplan vorgibt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47119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730326"/>
                <a:gridCol w="3460652"/>
                <a:gridCol w="2595489"/>
                <a:gridCol w="346065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Festsetzung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Plan 2023 (rechtskräftig, MI 3)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Entwurf 2026 (1. Änderung)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Unser Entwurf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Vollgeschosse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II bis III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II zwingend (MI 3 nicht erfasst)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EG, 1. OG und oberstes Geschoss (Holzbau)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Traufhöhe / Höhe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9,80 m / 15,00 m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6,50 m / 12,00 m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Attika +12,00 m (hypothetisches Höhenschema)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Grundflächenzahl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0,6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EG 540 m² = 56 % der Hypothese 960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Dachform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Hauptdach ≥ 38°, Flachdach nur untergeordnet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Dach ≥ 38°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Flachdach mit Staffel / Terrasse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Baugrenze MI 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10 m West, 3 m übrige Seiten; Bezug OK Fahrbahn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 m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Baufenster ≈ 27,7 × 15,9 m (abgeleitet)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Stellplätze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auf dem Grundstück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63 Plätze im Parkplatz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siehe Stellplatzfolie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572000"/>
            <a:ext cx="11247120" cy="146304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6634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Schriftlich klären:  </a:t>
            </a:r>
            <a:r>
              <a:rPr sz="1100">
                <a:solidFill>
                  <a:srgbClr val="222222"/>
                </a:solidFill>
                <a:latin typeface="Arial"/>
              </a:rPr>
              <a:t>Ist Baufeld 3 tatsächlich MI 3 / Flurstück 59/1? Passt das Gebäude in das Baufenster (EG und Vorbau liegen nach der Schätzung außerhalb)? Sind Flachdach/Staffel, Traufhöhe und Höhenbezug (OK Fahrbahn) befreit oder zulässig? Diese Folien enthalten keine Aussage zur baurechtlichen Zulässigkeit.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Oberstes Geschoss in Holzbau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7043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8C3B2F"/>
                </a:solidFill>
                <a:latin typeface="Georgia"/>
              </a:rPr>
              <a:t>756 m²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B1 bündig: oberstes Geschoss, Ersparnis 302.400 €, Terrasse 0 m²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097280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17043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8C3B2F"/>
                </a:solidFill>
                <a:latin typeface="Georgia"/>
              </a:rPr>
              <a:t>598 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69164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B2 Staffel 1,50 m: oberstes Geschoss, Ersparnis 239.400 €, Terrasse 158 m²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097280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17043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8C3B2F"/>
                </a:solidFill>
                <a:latin typeface="Georgia"/>
              </a:rPr>
              <a:t>459 m²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169164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B3 Staffel 3,00 m: oberstes Geschoss, Ersparnis 183.600 €, Terrasse 297 m²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560320"/>
            <a:ext cx="11247120" cy="27432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670048"/>
            <a:ext cx="10881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222222"/>
                </a:solidFill>
                <a:latin typeface="Arial"/>
              </a:rPr>
              <a:t>•  Leichter und schneller: weniger Last auf dem Klinker-Geschoss, kürzere Bauzeit.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22222"/>
                </a:solidFill>
                <a:latin typeface="Arial"/>
              </a:rPr>
              <a:t>•  Zwei Partner aus dem Bekanntenkreis (Bauunternehmen unten, Zimmerei oben) können Preise und Termine gemeinsam angeben.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22222"/>
                </a:solidFill>
                <a:latin typeface="Arial"/>
              </a:rPr>
              <a:t>•  Holzbau hilft beim QNG-Nachweis und beim Effizienzhaus-40-Standard (KfW-Voraussetzung).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22222"/>
                </a:solidFill>
                <a:latin typeface="Arial"/>
              </a:rPr>
              <a:t>•  Brandschutz (Holzbau bis Gebäudeklasse 4, Aufzug und Treppenhaus massiv) und Schallschutz muss der Architekt nachweisen.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22222"/>
                </a:solidFill>
                <a:latin typeface="Arial"/>
              </a:rPr>
              <a:t>•  Der Abschlag von 400 €/m² ist eine Annahme aus dem früheren Plan, kein Angebot.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Schmales Erdgeschoss, breite Obergeschosse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schni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2013"/>
            <a:ext cx="6675120" cy="2496772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23760" y="1188720"/>
          <a:ext cx="4571997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99247"/>
                <a:gridCol w="1936376"/>
                <a:gridCol w="645458"/>
                <a:gridCol w="645458"/>
                <a:gridCol w="645458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Ebene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Nutzung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B1 bündig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B2 Staffel 1,50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B3 Staffel 3,00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EG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Gastro 18 × 30 m (Platzseite 18 m), Büro, Kern; Stellplätze im Osten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540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540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540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1. OG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Wohnungen, kragt 1,0 / 1,5 / 5,0 m aus (West / Platz / Ost), Säulen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756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756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756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oberstes Geschoss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Wohnungen, Holzbau, Staffel je Option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756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598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459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Summe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2.052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1.894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1.755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23760" y="484632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BGF = Bruttogrundfläche aller Geschossflächen. Schnitt schematisch aus dem Geometriemodell; Geschosshöhen hypothetisch (Höhenschema 12,00 m), nicht gesichert.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Skizzen der Geschosse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Erdgeschoss</a:t>
            </a:r>
          </a:p>
        </p:txBody>
      </p:sp>
      <p:pic>
        <p:nvPicPr>
          <p:cNvPr id="6" name="Picture 5" descr="plan_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76480"/>
            <a:ext cx="3657600" cy="31050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51960" y="1051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1. Obergeschoss</a:t>
            </a:r>
          </a:p>
        </p:txBody>
      </p:sp>
      <p:pic>
        <p:nvPicPr>
          <p:cNvPr id="8" name="Picture 7" descr="plan_o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876480"/>
            <a:ext cx="3657600" cy="31050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46720" y="1051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oberstes Geschoss (B2 Staffel 1,50 m)</a:t>
            </a:r>
          </a:p>
        </p:txBody>
      </p:sp>
      <p:pic>
        <p:nvPicPr>
          <p:cNvPr id="10" name="Picture 9" descr="plan_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876480"/>
            <a:ext cx="3657600" cy="310503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57200" y="54864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5577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22222"/>
                </a:solidFill>
                <a:latin typeface="Arial"/>
              </a:rPr>
              <a:t>Schematische Skizzen aus dem Geometriemodell. Raumaufteilung der Obergeschosse ist NOCH OFFEN (keine Raumdaten); Zonen nur als Annahme.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Modern, Klinker, Glas-EG, Vorbau auf Säulen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B1_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7780"/>
            <a:ext cx="3657600" cy="2042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4747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8C3B2F"/>
                </a:solidFill>
                <a:latin typeface="Georgia"/>
              </a:rPr>
              <a:t>B1 bündig</a:t>
            </a:r>
          </a:p>
        </p:txBody>
      </p:sp>
      <p:pic>
        <p:nvPicPr>
          <p:cNvPr id="7" name="Picture 6" descr="B2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287780"/>
            <a:ext cx="3657600" cy="2042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251960" y="34747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8C3B2F"/>
                </a:solidFill>
                <a:latin typeface="Georgia"/>
              </a:rPr>
              <a:t>B2 Staffel 1,50 m</a:t>
            </a:r>
          </a:p>
        </p:txBody>
      </p:sp>
      <p:pic>
        <p:nvPicPr>
          <p:cNvPr id="9" name="Picture 8" descr="B3_he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287780"/>
            <a:ext cx="3657600" cy="2042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34747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8C3B2F"/>
                </a:solidFill>
                <a:latin typeface="Georgia"/>
              </a:rPr>
              <a:t>B3 Staffel 3,00 m</a:t>
            </a:r>
          </a:p>
        </p:txBody>
      </p:sp>
      <p:pic>
        <p:nvPicPr>
          <p:cNvPr id="11" name="Picture 10" descr="B1_detai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939540"/>
            <a:ext cx="3657600" cy="2042160"/>
          </a:xfrm>
          <a:prstGeom prst="rect">
            <a:avLst/>
          </a:prstGeom>
        </p:spPr>
      </p:pic>
      <p:pic>
        <p:nvPicPr>
          <p:cNvPr id="12" name="Picture 11" descr="B2_detail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1960" y="3939540"/>
            <a:ext cx="3657600" cy="2042160"/>
          </a:xfrm>
          <a:prstGeom prst="rect">
            <a:avLst/>
          </a:prstGeom>
        </p:spPr>
      </p:pic>
      <p:pic>
        <p:nvPicPr>
          <p:cNvPr id="13" name="Picture 12" descr="B3_detail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3939540"/>
            <a:ext cx="3657600" cy="20421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612648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KI-Visualisierungen (Nano Banana Pro auf Basis der Geometrie-Renderings) zur Orientierung; Fassadenteilung und Details folgen mit dem Architekten.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Vorbau auf Säulen: überdachte Stellplätze und Dachterrasse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B1_ea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96340"/>
            <a:ext cx="3657600" cy="2042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832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B1 bündig: Ostseite, Stellplätze unter dem Vorbau</a:t>
            </a:r>
          </a:p>
        </p:txBody>
      </p:sp>
      <p:pic>
        <p:nvPicPr>
          <p:cNvPr id="7" name="Picture 6" descr="B2_eas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196340"/>
            <a:ext cx="3657600" cy="2042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251960" y="33832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B2 Staffel 1,50 m: Ostseite, Stellplätze unter dem Vorbau</a:t>
            </a:r>
          </a:p>
        </p:txBody>
      </p:sp>
      <p:pic>
        <p:nvPicPr>
          <p:cNvPr id="9" name="Picture 8" descr="B3_ea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196340"/>
            <a:ext cx="3657600" cy="2042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33832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B3 Staffel 3,00 m: Ostseite, Stellplätze unter dem Vorbau</a:t>
            </a:r>
          </a:p>
        </p:txBody>
      </p:sp>
      <p:pic>
        <p:nvPicPr>
          <p:cNvPr id="11" name="Picture 10" descr="B2_roo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870960"/>
            <a:ext cx="3657600" cy="20421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989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B2: Dachterrasse 1,50 m</a:t>
            </a:r>
          </a:p>
        </p:txBody>
      </p:sp>
      <p:pic>
        <p:nvPicPr>
          <p:cNvPr id="13" name="Picture 12" descr="B3_roof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1960" y="3870960"/>
            <a:ext cx="3657600" cy="20421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51960" y="5989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B3: Dachterrasse 3,00 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3840480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3931920"/>
            <a:ext cx="338328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8C3B2F"/>
                </a:solidFill>
                <a:latin typeface="Arial"/>
              </a:rPr>
              <a:t>B1:  </a:t>
            </a:r>
            <a:r>
              <a:rPr sz="1000">
                <a:solidFill>
                  <a:srgbClr val="222222"/>
                </a:solidFill>
                <a:latin typeface="Arial"/>
              </a:rPr>
              <a:t>oberstes Geschoss bündig, keine Dachterrasse. B2 und B3 bekommen eine umlaufende Dachterrasse mit Milchglas-Brüstung; Holzfassade im Staffelgeschoss.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263640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Arial"/>
              </a:rPr>
              <a:t>KI-Visualisierungen im Stil der früheren Bilder; Details (Fenster, Brüstungen) folgen mit dem Architekten.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Gastro im schmalen Erdgeschoss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gastro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1624"/>
            <a:ext cx="6766560" cy="3806190"/>
          </a:xfrm>
          <a:prstGeom prst="rect">
            <a:avLst/>
          </a:prstGeom>
        </p:spPr>
      </p:pic>
      <p:pic>
        <p:nvPicPr>
          <p:cNvPr id="6" name="Picture 5" descr="gastro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779" y="1097280"/>
            <a:ext cx="4229400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36576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8C3B2F"/>
                </a:solidFill>
                <a:latin typeface="Georgia"/>
              </a:rPr>
              <a:t>ca. 99 Plätze innen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4206240"/>
            <a:ext cx="4297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plus ca. 25 auf der Terrasse/Arkade (Annahme)</a:t>
            </a:r>
          </a:p>
          <a:p>
            <a:r>
              <a:rPr sz="1100" b="0">
                <a:solidFill>
                  <a:srgbClr val="666666"/>
                </a:solidFill>
                <a:latin typeface="Arial"/>
              </a:rPr>
              <a:t>Bar mit Barhockern, Polsterbänke, Backbar</a:t>
            </a:r>
          </a:p>
          <a:p>
            <a:r>
              <a:rPr sz="1100" b="0">
                <a:solidFill>
                  <a:srgbClr val="666666"/>
                </a:solidFill>
                <a:latin typeface="Arial"/>
              </a:rPr>
              <a:t>Material: Olivgrün, Cognac-Samt, Bordeaux, Eiche, schwarzer Stahl</a:t>
            </a:r>
          </a:p>
          <a:p>
            <a:r>
              <a:rPr sz="1100" b="0">
                <a:solidFill>
                  <a:srgbClr val="666666"/>
                </a:solidFill>
                <a:latin typeface="Arial"/>
              </a:rPr>
              <a:t>Stimmungsbilder aus dem früheren Gastro-Konzept (KI-Visualisierung).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Ansichten aus dem Geometriemodell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fr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548640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Vorderansicht (Platzseite) – B2 Staffel 1,50 m</a:t>
            </a:r>
          </a:p>
        </p:txBody>
      </p:sp>
      <p:pic>
        <p:nvPicPr>
          <p:cNvPr id="7" name="Picture 6" descr="r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325880"/>
            <a:ext cx="5486400" cy="1828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0" y="33375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Rückansicht – B2 Staffel 1,50 m</a:t>
            </a:r>
          </a:p>
        </p:txBody>
      </p:sp>
      <p:pic>
        <p:nvPicPr>
          <p:cNvPr id="9" name="Picture 8" descr="w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25240"/>
            <a:ext cx="5486400" cy="21335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Westansicht – B2 Staffel 1,50 m</a:t>
            </a:r>
          </a:p>
        </p:txBody>
      </p:sp>
      <p:pic>
        <p:nvPicPr>
          <p:cNvPr id="11" name="Picture 10" descr="ea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825240"/>
            <a:ext cx="5486400" cy="21335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5989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Ostansicht – B2 Staffel 1,50 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Stellplätze sind der Knackpunkt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097280"/>
          <a:ext cx="59436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766560" y="10972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8C3B2F"/>
                </a:solidFill>
                <a:latin typeface="Georgia"/>
              </a:rPr>
              <a:t>Vorschlag für die Stadt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554480"/>
            <a:ext cx="4937760" cy="301752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1664207"/>
            <a:ext cx="457200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Gezeichnet sind 13 Stellplätze auf der Hypothese 32 × 30 m: 8 voll unter dem Vorbau (Ostreihe, Säulenpaare 5,4 m) und 5 Längsparker; Zufahrt von Süden angenommen.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Nachweis Gastro/Büro nach Richtzahlen 9,7–14,3; Wohnen seit 01.07.2024 ohne Pflicht, optional 0,5–1,5 je Wohnung.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Offen: Sackgasse/Wendebedarf, Feuerwehrzufahrt unter dem Vorbau.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Restplätze alternativ auf der öffentlichen Parkfläche per Vereinbarung oder Ablöse (Höhe nennt die Stadt).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475488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Auf dem aus den Stadtplänen abgeleiteten Flurstück 59/1 (≈ 42,3 × 22,7 m) sind diese Stellplätze nicht unterzubringen; die Zahlen gelten nur auf der Hypothese.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Flächen und Mieten: Wohnungen, Büros und Gastro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Kennwerte je Option (Wohnungen im Standardmix, Größen aus der Geometrie)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60652"/>
                <a:gridCol w="2595489"/>
                <a:gridCol w="2595489"/>
                <a:gridCol w="259548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B1 bündig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B2 Staffel 1,50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B3 Staffel 3,00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Wohnungen (Anzahl / Fläche)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14 / 1.065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14 / 942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13 / 835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Wohnungsgrößen min–max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66–89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51–89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50–89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Kaltmiete Wohnen (11,18 €/m²) pro Jahr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142.854 €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126.379 €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112.037 €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Büro netto (9,75 €/m²) pro Jahr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56,3 m² / 6.587 €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56,3 m² / 6.587 €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56,3 m² / 6.587 €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Gastro-Pacht (10 €/m²) pro Jahr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376 m² / 45.120 €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376 m² / 45.120 €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376 m² / 45.120 €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</a:rPr>
                        <a:t>Rohertrag gesamt pro Jahr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</a:rPr>
                        <a:t>194.561 €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</a:rPr>
                        <a:t>178.086 €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</a:rPr>
                        <a:t>163.744 €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Gewerbeflächen: Gastro und Büros im Erdgeschoss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6583677" cy="28346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289975"/>
                <a:gridCol w="1431234"/>
                <a:gridCol w="1431234"/>
                <a:gridCol w="1431234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Gastro-Flächenbedarf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B1 bündig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B2 Staffel 1,50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B3 Staffel 3,00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Gastraum (Plätze innen)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99 Plätze / 232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99 Plätze / 232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99 Plätze / 232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Gastro-Mietfläche gesamt (Gastraum, Bar, Küche, Lager, WC)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376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376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376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Terrasse / Arkade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25 Plätze (Annahme)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25 Plätze (Annahme)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25 Plätze (Annahme)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Büro netto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56,3 m², Miete 6.587 € / Jahr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56,3 m², Miete 6.587 € / Jahr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56,3 m², Miete 6.587 € / Jahr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0" y="1188720"/>
            <a:ext cx="4389120" cy="329184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280160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Gastro:  </a:t>
            </a:r>
            <a:r>
              <a:rPr sz="1100">
                <a:solidFill>
                  <a:srgbClr val="222222"/>
                </a:solidFill>
                <a:latin typeface="Arial"/>
              </a:rPr>
              <a:t>Pacht 10 €/m² und Monat; Umsatz in diesem Plan proportional zu den Innenplätzen (342 € je Platz und Monat wie im früheren Plan, 190 Plätze = 65.010 €). Das ist eine Annahme ohne Marktbeleg. Das Büro (zwei Ankermieter) liegt im EG hinten statt im 1. OG.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6583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Das EG gehört der Gastro, Büros und Kern liegen rückseitig (Platzdaten aus dem Geometriemodell). Die Büros sind mit 9,50–10,00 €/m² und 10 Jahren Laufzeit angesetzt (Ankermieter, noch nicht vereinbart).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KfW-Kredite 298 und 299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16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44930"/>
                <a:gridCol w="2044930"/>
                <a:gridCol w="2044930"/>
                <a:gridCol w="1363287"/>
                <a:gridCol w="1363287"/>
                <a:gridCol w="1363287"/>
                <a:gridCol w="1022465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Programm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Wofür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Rahmen (mit QNG)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Im Projekt B1 bündig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Im Projekt B2 Staffel 1,50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Im Projekt B3 Staffel 3,00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Zins (Annahme)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298 Klimafreundlicher Neubau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vermietete Wohnungen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bis 150.000 € je Wohnung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2.100.000 €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2.100.000 €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1.950.000 €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2,50 %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299 Klimafreundlicher Neubau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 und Büros (Nichtwohngebäude)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bis 2.000 € je m² Nettogrundfläche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734.910 €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734.910 €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734.910 €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Hausbank (Rest)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Restfinanzierung inkl. Bauzeitzinsen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2.890.039 €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2.620.140 €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2.534.676 €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3474720"/>
            <a:ext cx="11247120" cy="146304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5661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Voraussetzungen:  </a:t>
            </a:r>
            <a:r>
              <a:rPr sz="1100">
                <a:solidFill>
                  <a:srgbClr val="222222"/>
                </a:solidFill>
                <a:latin typeface="Arial"/>
              </a:rPr>
              <a:t>Effizienzhaus 40 (Gastro: Effizienzgebäude 40), QNG-Zertifikat für den vollen Rahmen, Heizung ohne Öl, Gas und Biomasse (z. B. Wärmepumpe), Energieeffizienz-Experte, Antrag vor Baubeginn über die Hausbank. Wohnteil (298) und Gastro/Büro (299) werden getrennt gefördert; die Kreditrahmen sind theoretische Obergrenzen (Nettogrundfläche = 85 % der Gewerbe-Nutzfläche).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120640"/>
            <a:ext cx="11247120" cy="9144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212079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Hinweis:  </a:t>
            </a:r>
            <a:r>
              <a:rPr sz="1100">
                <a:solidFill>
                  <a:srgbClr val="222222"/>
                </a:solidFill>
                <a:latin typeface="Arial"/>
              </a:rPr>
              <a:t>KfW-Zinsen schwanken in den Quellen zwischen 0,6 % und 3,05 %; die Konditionen sind Stand Oktober 2026 nicht bestätigt. Mehrkosten für Effizienzhaus 40/QNG sind mit 3 % angesetzt.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Gesamtkosten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046718" cy="460857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48594"/>
                <a:gridCol w="1532708"/>
                <a:gridCol w="1532708"/>
                <a:gridCol w="1532708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Posten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B1 bündig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B2 Staffel 1,50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B3 Staffel 3,00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Grundstück inkl. Steuer und Notar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236.256 €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236.256 €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236.256 €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Bau, Massivbau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4.514.400 €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4.167.900 €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3.861.000 €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Abschlag Holzbau (oberstes Geschoss)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−302.400 €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−239.400 €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−183.600 €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Dachterrassen (nicht in BGF)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70.875 €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133.650 €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Baunebenkosten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631.800 €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599.906 €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571.658 €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Mehrkosten Effizienzhaus 40 und QNG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145.314 €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137.978 €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131.481 €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Ausbau Gastro und Büros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107.445 €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107.445 €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107.445 €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Außenanlagen, Stellplätze (hypothetische Fläche)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67.200 €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67.200 €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67.200 €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Finanzierungskosten (Bauzeit, Bereitstellung, Anlaufzeit)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324.934 €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306.890 €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294.496 €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Gesamtkosten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5.724.949 €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5.455.050 €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5.219.586 €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je m² BGF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2.790 €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2.879 €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2.974 €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229600" y="1097280"/>
          <a:ext cx="356616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0" y="493776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Anteile B2 Staffel 1,50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Rechenregeln wie im früheren Plan: Bau 2.200 €/m² BGF, Holzbau-Abschlag 400 €/m², Terrassen 450 €/m², Nebenkosten 15 %, Effizienzhaus 40/QNG +3 %, Ausbau 1.000 €/Gastro-Platz und 150 €/m² Büro, Außenanlagen 160 €/m² auf der hypothetischen Restfläche.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Finanzierungsplan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18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168202"/>
                <a:gridCol w="2376152"/>
                <a:gridCol w="2376152"/>
                <a:gridCol w="2376152"/>
                <a:gridCol w="9504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Mittelherkunft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B1 bündig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B2 Staffel 1,50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B3 Staffel 3,00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Zins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298 (vermietete Wohnungen)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2.100.000 € (37 %)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2.100.000 € (38 %)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1.950.000 € (37 %)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2,50 %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299 (Gastro und Büros)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734.910 € (13 %)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734.910 € (13 %)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734.910 € (14 %)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Hausbank-Darlehen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2.890.039 € (50 %)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2.620.140 € (48 %)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2.534.676 € (49 %)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Eigenkapital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Summe Finanzierung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5.724.949 €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5.455.050 €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5.219.586 €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Mischzins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3,32 %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3,29 %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3,30 %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Rate pro Monat (Zins + 1 % Tilgung)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20.617 €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19.492 €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18.698 €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029200"/>
            <a:ext cx="11247120" cy="10972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120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Bau- und Anlaufzeit:  </a:t>
            </a:r>
            <a:r>
              <a:rPr sz="1100">
                <a:solidFill>
                  <a:srgbClr val="222222"/>
                </a:solidFill>
                <a:latin typeface="Arial"/>
              </a:rPr>
              <a:t>15 Monate Bau und 12 Monate Anlaufzeit kosten 324.934 € / 306.890 € / 294.496 € an Zinsen und Bereitstellungsgebühr, finanziert von der Hausbank. Die Gesamtkosten sind komplett durch Fremdkapital gedeckt (kein Eigenkapital).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Zinsberechnung und Rate je Darlehen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47120" cy="14630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99360"/>
                <a:gridCol w="2082800"/>
                <a:gridCol w="1249680"/>
                <a:gridCol w="1249680"/>
                <a:gridCol w="2082800"/>
                <a:gridCol w="208280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Darlehen B1 bündig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Betrag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Zins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Tilgung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Rate / Monat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Rate / Jahr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Wohnen (298)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2.100.000 €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2,50 %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6.125 €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73.500 €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Gastro/Büro (299)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734.910 €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2.450 €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29.396 €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Hausbank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2.890.039 €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12.042 €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144.502 €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Summe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5.724.949 €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3,32 %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20.617 €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247.398 €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2651760"/>
          <a:ext cx="11247120" cy="14630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99360"/>
                <a:gridCol w="2082800"/>
                <a:gridCol w="1249680"/>
                <a:gridCol w="1249680"/>
                <a:gridCol w="2082800"/>
                <a:gridCol w="208280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Darlehen B2 Staffel 1,50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Betrag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Zins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Tilgung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Rate / Monat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Rate / Jahr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Wohnen (298)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2.100.000 €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2,50 %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6.125 €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73.500 €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Gastro/Büro (299)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734.910 €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2.450 €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29.396 €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Hausbank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2.620.140 €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10.917 €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131.007 €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Summe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5.455.050 €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3,29 %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19.492 €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233.903 €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06240"/>
          <a:ext cx="11247120" cy="14630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99360"/>
                <a:gridCol w="2082800"/>
                <a:gridCol w="1249680"/>
                <a:gridCol w="1249680"/>
                <a:gridCol w="2082800"/>
                <a:gridCol w="208280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Darlehen B3 Staffel 3,00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Betrag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Zins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Tilgung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Rate / Monat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Rate / Jahr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Wohnen (298)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1.950.000 €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2,50 %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5.688 €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68.250 €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Gastro/Büro (299)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734.910 €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2.450 €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29.396 €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Hausbank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2.534.676 €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10.561 €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126.734 €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Summe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5.219.586 €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3,30 %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18.698 €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224.380 €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989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22222"/>
                </a:solidFill>
                <a:latin typeface="Arial"/>
              </a:rPr>
              <a:t>Im ersten Jahr nach der Anlaufzeit: 189.269 € Zinsen und 58.129 € Tilgung / 178.523 € Zinsen und 55.380 € Tilgung / 171.388 € Zinsen und 52.993 € Tilgung.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Abzahlungsplan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19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097280"/>
          <a:ext cx="658368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0" y="1188720"/>
          <a:ext cx="4480560" cy="362102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44600"/>
                <a:gridCol w="995680"/>
                <a:gridCol w="995680"/>
                <a:gridCol w="124460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Jahr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Zinsen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Tilgung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Restschuld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178.523 €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55.380 €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5.399.670 €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176.672 €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57.232 €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5.342.438 €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174.756 €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59.147 €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5.283.291 €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170.720 €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63.183 €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5.158.977 €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10 (Ende Zinsbindung)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159.322 €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74.582 €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4.809.656 €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145.759 €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88.144 €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4.397.004 €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129.604 €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104.299 €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3.908.950 €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110.340 €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123.563 €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3.331.021 €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87.345 €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146.558 €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2.645.852 €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59.868 €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174.036 €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1.832.590 €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0" y="49377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Tabelle: B2 Staffel 1,50 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60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2222"/>
                </a:solidFill>
                <a:latin typeface="Arial"/>
              </a:rPr>
              <a:t>Nach 10 Jahren Zinsbindung beträgt die Restschuld 5.046.435 € / 4.809.656 € / 4.601.700 €. Die Anschlussfinanzierung muss eingeplant werden.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Ertrag und Kapitaldienst pro Monat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680958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98475"/>
                <a:gridCol w="1594161"/>
                <a:gridCol w="1594161"/>
                <a:gridCol w="1594161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B1 bündig / Monat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B2 Staffel 1,50 m / Monat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B3 Staffel 3,00 m / Monat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Kaltmiete Wohnen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+11.904 €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+10.532 €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+9.336 €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Büromieten (Ankermieter)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+549 €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+549 €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+549 €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Pacht Gastro (10 €/m²)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+3.760 €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+3.760 €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+3.760 €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Rücklagen (10 % von Miete, Büro, Pacht)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−1.621 €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−1.484 €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−1.365 €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Nettoertrag Immobilie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+14.592 €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+13.356 €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+12.281 €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Betriebsergebnis Gastro nach Pacht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+6.571 €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+6.571 €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+6.571 €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Nettoertrag vor Kapitaldienst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+21.164 €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+19.928 €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+18.852 €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Kapitaldienst (Zinsen und Tilgung)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−20.617 €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−19.492 €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−18.698 €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Ergebnis nach Kapitaldienst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+547 €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+436 €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+154 €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321040" y="1097280"/>
            <a:ext cx="3474720" cy="356616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188720"/>
            <a:ext cx="3200400" cy="33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8C3B2F"/>
                </a:solidFill>
                <a:latin typeface="Arial"/>
              </a:rPr>
              <a:t>Kennzahlen:  </a:t>
            </a:r>
            <a:r>
              <a:rPr sz="1000">
                <a:solidFill>
                  <a:srgbClr val="222222"/>
                </a:solidFill>
                <a:latin typeface="Arial"/>
              </a:rPr>
              <a:t>DSCR gesamt / nur Immobilie: 1,03 / 0,71 | 1,02 / 0,69 | 1,01 / 0,66. Zinsdeckung: 1,34 | 1,34 | 1,32. Anfangsrendite (Immobilie): 3,06 % | 2,94 % | 2,82 %. Banken verlangen meist DSCR ≥ 1,2.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20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4A3E"/>
                </a:solidFill>
                <a:latin typeface="Arial"/>
              </a:rPr>
              <a:t>Ohne den Gastro-Gewinn deckt die Immobilie allein die Raten nicht. Der Pachtvertrag mit einem tragfähigen Betreiber ist für die Bank entscheidend. Der Gastro-Umsatz ist proportional zu den Innenplätzen angesetzt (Annahme).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Gastro-Umsatz: Hauptfokus Abend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863839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76600"/>
                <a:gridCol w="655320"/>
                <a:gridCol w="1179576"/>
                <a:gridCol w="655320"/>
                <a:gridCol w="1310640"/>
                <a:gridCol w="78638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Tagesteil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Tage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Gäste/Tag (skaliert)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Ø Bon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Umsatz/Monat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Anteil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Frühstück werktags (Di–Fr 08:00–11:00)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2.923 €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9 %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Brunch am Wochenende (Sa, So 09:00–14:00)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3.939 €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12 %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Mittag: Bowls, Salate, Suppe (Di–Fr 11:30–14:30)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4.606 €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14 %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Nachmittag: Kaffee, Kuchen, Snacks (Di–So 14:30–17:00)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1.897 €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Bar mit Snacks Di–Do, So (ab 17:00)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6.201 €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18 %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Bar Fr, Sa (bis 01:00)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10.973 €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32 %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Events: Live-Musik, Feiern (4 pro Monat)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3.335 €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Gastro-Umsatz pro Monat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33.874 €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100 %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503920" y="1097280"/>
            <a:ext cx="3291840" cy="29260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1080" y="11887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8C3B2F"/>
                </a:solidFill>
                <a:latin typeface="Arial"/>
              </a:rPr>
              <a:t>Annahme:  </a:t>
            </a:r>
            <a:r>
              <a:rPr sz="1000">
                <a:solidFill>
                  <a:srgbClr val="222222"/>
                </a:solidFill>
                <a:latin typeface="Arial"/>
              </a:rPr>
              <a:t>Aufbau und Bon-Werte wie im früheren Plan (190 Plätze, 65.010 €), alle Gästezahlen mit dem Faktor 0,52 auf 99 Plätze skaliert. Das ist eine Rechenannahme, keine Prognose. Für B gilt je Option derselbe Umsatz (gleiche Platzzahl).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420624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ca. 4.106 € je Platz und Jahr (Branchen-Median Österreich ca. 12.000 €).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Wie viel Umsatz braucht die Gastro?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498077" cy="2880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38942"/>
                <a:gridCol w="1338942"/>
                <a:gridCol w="1606731"/>
                <a:gridCol w="1606731"/>
                <a:gridCol w="1606731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Umsatz pro Monat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Gewinn vor Pacht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Gewinn nach Pacht B1 bündig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Gewinn nach Pacht B2 Staffel 1,50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Gewinn nach Pacht B3 Staffel 3,00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25.000 €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7.625 €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+3.865 €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+3.865 €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+3.865 €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9.150 €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+5.390 €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+5.390 €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+5.390 €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12.200 €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+8.440 €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+8.440 €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+8.440 €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15.250 €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+11.490 €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+11.490 €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+11.490 €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33.874 €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10.332 €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+6.572 €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+6.572 €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+6.572 €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65.000 €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19.825 €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+16.065 €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+16.065 €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+16.065 €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138160" y="1097280"/>
            <a:ext cx="3657600" cy="310896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75320" y="1188720"/>
            <a:ext cx="3383280" cy="2926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8C3B2F"/>
                </a:solidFill>
                <a:latin typeface="Arial"/>
              </a:rPr>
              <a:t>Betrieb allein:  </a:t>
            </a:r>
            <a:r>
              <a:rPr sz="1000">
                <a:solidFill>
                  <a:srgbClr val="222222"/>
                </a:solidFill>
                <a:latin typeface="Arial"/>
              </a:rPr>
              <a:t>Ab ca. 12.328 € / 12.328 € / 12.328 € Umsatz deckt der Betrieb seine Pacht.  Haus insgesamt: Ab ca. 32.080 € / 32.444 € / 33.369 € Umsatz sind alle Raten bezahlt (Marge vor Pacht 30,5 %).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Plan-Umsatz 33.874 € entspricht ca. 4.106 € je Sitzplatz und Jahr (99 Plätze).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Ertragswert und Beleihung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5760719" cy="26883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43523"/>
                <a:gridCol w="1205732"/>
                <a:gridCol w="1205732"/>
                <a:gridCol w="1205732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Ertragswert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B1 bündig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B2 Staffel 1,50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B3 Staffel 3,00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Rohertrag pro Jahr (Mieten und Pacht)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194.561 €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178.086 €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163.744 €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Bewirtschaftungskosten (13,75 %)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−26.752 €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−24.487 €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−22.515 €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Reinertrag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167.809 €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153.599 €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141.229 €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Bodenwert (960 m² × 230 €)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220.800 €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220.800 €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220.800 €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Gebäudeertragswert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3.365.300 €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3.034.065 €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2.745.650 €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Ertragswert gesamt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3.586.100 €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3.254.865 €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2.966.450 €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097280"/>
          <a:ext cx="5394957" cy="26883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07426"/>
                <a:gridCol w="1129177"/>
                <a:gridCol w="1129177"/>
                <a:gridCol w="1129177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Beleihung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B1 bündig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B2 Staffel 1,50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B3 Staffel 3,00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Sachwert (Boden + Herstellungskosten)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5.384.559 €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5.132.705 €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4.909.634 €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Beleihungswert (niedrigerer Wert, −10 %)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3.227.490 €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2.929.379 €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2.669.805 €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Gesamtkosten und Darlehen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5.724.949 €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5.455.050 €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5.219.586 €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Beleihungsauslauf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177 %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186 %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196 %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Ertragswert minus Gesamtkosten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−2.138.848 €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−2.200.185 €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−2.253.136 €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Betrag über 80 % Auslauf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3.142.956 €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3.111.547 €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3.083.742 €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389120"/>
            <a:ext cx="11338560" cy="15544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480559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Einordnung:  </a:t>
            </a:r>
            <a:r>
              <a:rPr sz="1100">
                <a:solidFill>
                  <a:srgbClr val="222222"/>
                </a:solidFill>
                <a:latin typeface="Arial"/>
              </a:rPr>
              <a:t>Die Mieten und die Pacht tragen einen Ertragswert von 3,59 Mio. € / 3,25 Mio. € / 2,97 Mio. €, die Kosten liegen bei 5,72 Mio. € / 5,46 Mio. € / 5,22 Mio. €. Eine Bank beleiht üblicherweise nur bis ca. 80 % des Beleihungswerts. Für die Finanzierung braucht es zusätzliche Sicherheiten (Grundschulden auf weitere Immobilien, Bürgschaft) oder Eigenkapital. Vereinfachte Wertermittlung, kein Gutachten (Liegenschaftszins Wohnen 3,85 %, Büro 5,35 %, Gastro 6,35 %, Restnutzungsdauer 60 Jahre).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Prognose und Belastungstest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47117" cy="186537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13462"/>
                <a:gridCol w="1606731"/>
                <a:gridCol w="1606731"/>
                <a:gridCol w="1606731"/>
                <a:gridCol w="1606731"/>
                <a:gridCol w="1606731"/>
              </a:tblGrid>
              <a:tr h="310896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Jahr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Nettoertrag vor Kapitaldienst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239.135 €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246.508 €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254.109 €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261.944 €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274.152 €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Kapitaldienst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−233.903 €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−233.903 €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−233.903 €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−233.903 €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−233.903 €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Ergebnis nach Kapitaldienst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+5.231 €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+12.605 €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+20.206 €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+28.041 €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+40.249 €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DSCR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1,02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1,05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1,09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1,12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1,17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Restschuld Jahresende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5.399.670 €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5.283.291 €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5.158.977 €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5.026.163 €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4.809.656 €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017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Prognose für B2 Staffel 1,50 m, Ertragssteigerung 1,53 % p. a. (Annahme wie im früheren Plan)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383280"/>
          <a:ext cx="11247120" cy="271576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623560"/>
                <a:gridCol w="1874520"/>
                <a:gridCol w="1874520"/>
                <a:gridCol w="1874520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Belastungstest (Ergebnis pro Monat)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B1 bündig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B2 Staffel 1,50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B3 Staffel 3,00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Plan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+547 €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+436 €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+154 €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Anschlusszins nach 10 Jahren +1 Prozentpunkt (auf Restschuld)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−3.658 €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−3.572 €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−3.681 €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Mieten Wohnen −10 %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−524 €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−512 €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−686 €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Gastro-Umsatz −20 %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−1.519 €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−1.630 €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−1.912 €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Gastro-Umsatz −40 %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−3.586 €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−3.697 €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−3.979 €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Baukosten +10 % (Kredit steigt entsprechend)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−1.398 €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−1.404 €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−1.610 €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Beide Büros leer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+53 €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−58 €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−340 €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Gastro fällt ganz aus (keine Pacht, kein Betriebsergebnis)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−9.408 €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−9.520 €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−9.802 €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Einfluss der Gastro auf das Ergebnis pro Person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47117" cy="2880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13462"/>
                <a:gridCol w="1606731"/>
                <a:gridCol w="1606731"/>
                <a:gridCol w="1606731"/>
                <a:gridCol w="1606731"/>
                <a:gridCol w="1606731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Gastro-Szenario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Haus gesamt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 Person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 Personen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4 Personen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8 Personen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 fällt ganz aus (ohne Pacht)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−9.520 €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−9.520 €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−4.760 €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−2.380 €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−1.190 €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Gastro-Umsatz 20.000 €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−3.796 €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−3.796 €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−1.898 €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−949 €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−474 €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Gastro-Umsatz 30.000 €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−746 €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−746 €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−373 €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−186 €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−93 €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Gastro-Umsatz 40.000 €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+2.304 €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+2.304 €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+1.152 €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+576 €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+288 €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Gastro-Umsatz 50.000 €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+5.354 €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+5.354 €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+2.677 €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+1.339 €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+669 €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Plan: 33.874 €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+436 €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+436 €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+218 €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+109 €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+54 €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389120"/>
            <a:ext cx="11247120" cy="10972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480559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Aussage:  </a:t>
            </a:r>
            <a:r>
              <a:rPr sz="1100">
                <a:solidFill>
                  <a:srgbClr val="222222"/>
                </a:solidFill>
                <a:latin typeface="Arial"/>
              </a:rPr>
              <a:t>Gerechnet für B2 Staffel 1,50 m. Ohne Gastro-Gewinn fehlen 9.520 € pro Monat, die Gastro macht also den Unterschied zwischen negativem und positivem Ergebnis.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Prüfung: ein 60-m²-Apartment als Airbnb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47117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112327"/>
                <a:gridCol w="2044930"/>
                <a:gridCol w="2044930"/>
                <a:gridCol w="204493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Apartment 60 m²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Werlte amtlich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Emsland-Schnitt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Optimistisch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Auslastung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17,4 %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36,2 %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60,0 %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Preis pro Nacht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90 €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90 €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90 €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Netto Airbnb pro Monat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210 €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436 €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723 €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Netto langfristige Miete pro Monat (60 m² × 11,18 €)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604 €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604 €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604 €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Möblierung 36.000 € (Kapitaldienst pro Monat)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−150 €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−150 €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−150 €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Mehrertrag gegenüber langfristiger Miete pro Monat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−544 €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−318 €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−31 €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572000"/>
            <a:ext cx="11247120" cy="10972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6634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Ergebnis:  </a:t>
            </a:r>
            <a:r>
              <a:rPr sz="1100">
                <a:solidFill>
                  <a:srgbClr val="222222"/>
                </a:solidFill>
                <a:latin typeface="Arial"/>
              </a:rPr>
              <a:t>Airbnb lohnt sich in Werlte nicht. Erst ab ca. 63 % Auslastung wäre es so gut wie die langfristige Miete, in Werlte liegt sie amtlich bei 17 %. Die Wohnungen bleiben langfristig vermietet (Werte aus dem früheren Plan, unverändert).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Risiken und was wir dagegen tun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8C3B2F"/>
                </a:solidFill>
                <a:latin typeface="Arial"/>
              </a:rPr>
              <a:t>Sicherheiten und Beleihung:  </a:t>
            </a:r>
            <a:r>
              <a:rPr sz="1000">
                <a:solidFill>
                  <a:srgbClr val="222222"/>
                </a:solidFill>
                <a:latin typeface="Arial"/>
              </a:rPr>
              <a:t>Beleihungsauslauf 177 % / 186 % / 196 % bei 100 % Fremdfinanzierung. Gegenmaßnahme: Grundschulden auf weitere Immobilien, Bürgschaft oder Eigenkapital, Pachtvertrag mit Bonitätsnachweis.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09728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18872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8C3B2F"/>
                </a:solidFill>
                <a:latin typeface="Arial"/>
              </a:rPr>
              <a:t>Gastro-Umsatz:  </a:t>
            </a:r>
            <a:r>
              <a:rPr sz="1000">
                <a:solidFill>
                  <a:srgbClr val="222222"/>
                </a:solidFill>
                <a:latin typeface="Arial"/>
              </a:rPr>
              <a:t>Bei Ausfall der Gastro fehlen ca. 9.955 € / 9.955 € / 9.955 € pro Monat. Gegenmaßnahme: Konzept, erfahrener Betreiber, Pachtstaffel, Mietverträge über 10 Jahre mit Bonitätsprüfung.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78892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88036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8C3B2F"/>
                </a:solidFill>
                <a:latin typeface="Arial"/>
              </a:rPr>
              <a:t>Zins:  </a:t>
            </a:r>
            <a:r>
              <a:rPr sz="1000">
                <a:solidFill>
                  <a:srgbClr val="222222"/>
                </a:solidFill>
                <a:latin typeface="Arial"/>
              </a:rPr>
              <a:t>KfW-Zinsen und Rahmen sind Stand Oktober 2026 unsicher, nach 10 Jahren ist der Folgezins offen. Gegenmaßnahme: Zusage vor Baubeginn, Forward-Darlehen, Tilgungsaussetzung.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78892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288036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8C3B2F"/>
                </a:solidFill>
                <a:latin typeface="Arial"/>
              </a:rPr>
              <a:t>Genehmigung und Standard:  </a:t>
            </a:r>
            <a:r>
              <a:rPr sz="1000">
                <a:solidFill>
                  <a:srgbClr val="222222"/>
                </a:solidFill>
                <a:latin typeface="Arial"/>
              </a:rPr>
              <a:t>Baufenster, Dachform, Höhe und Geschosszahl sind mit der Stadt zu klären; KfW verlangt Effizienzhaus 40 mit QNG. Gegenmaßnahme: Vorabstimmung, Energieeffizienz-Experte früh einbinden.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48056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57200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8C3B2F"/>
                </a:solidFill>
                <a:latin typeface="Arial"/>
              </a:rPr>
              <a:t>Stellplätze und Statik:  </a:t>
            </a:r>
            <a:r>
              <a:rPr sz="1000">
                <a:solidFill>
                  <a:srgbClr val="222222"/>
                </a:solidFill>
                <a:latin typeface="Arial"/>
              </a:rPr>
              <a:t>Stellplätze nur auf der Hypothese nachgewiesen. Kragarme bis 5,0 m über drei Geschosse und Feuerwehrzufahrt unter dem Vorbau sind statisch und brandschutztechnisch zu prüfen.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Was ich von Stadt und Bank brauche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47119" cy="4480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149193"/>
                <a:gridCol w="8097926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Anliegen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Von der Stadt: Genehmigung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Baufenster, Geschosse, Flachdach, Höhe und Höhenbezug schriftlich bestätigen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Von der Stadt: Stellplätze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Mitnutzung der öffentlichen Parkfläche oder faire Ablöse; Bestätigung der Stellplatzregelung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Von der Stadt: Grundstück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Kaufpreis 230 €/m² mit Baureife, Reservierung bis zur Finanzierungszusage; Zuschnitt und Baulinie zum Platz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Von der Bank: Darlehen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Finanzierung von 5,72 Mio. € / 5,46 Mio. € / 5,22 Mio. € mit KfW 298/299 und tilgungsfreier Anlaufzeit von 12 Monaten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Von der Bank: Sicherheiten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Gespräch über zusätzliche Grundschulden oder Bürgschaft wegen des Beleihungsauslaufs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Von der Bank: KfW-Antrag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Antrag für 298 und 299 vor Baubeginn über die Hausbank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Nächste Schritte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713232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16152"/>
            <a:ext cx="457200" cy="457200"/>
          </a:xfrm>
          <a:prstGeom prst="ellipse">
            <a:avLst/>
          </a:prstGeom>
          <a:solidFill>
            <a:srgbClr val="8C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188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Okt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18872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Gespräch mit der Stadt: Preis, Förderung, Stellplätze (Termin mit Herrn Keve bereits am 06.10. geführt, Folgetermin anfragen)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11247120" cy="713232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2039112"/>
            <a:ext cx="457200" cy="457200"/>
          </a:xfrm>
          <a:prstGeom prst="ellipse">
            <a:avLst/>
          </a:prstGeom>
          <a:solidFill>
            <a:srgbClr val="8C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03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Nov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01168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Architekt, Baufenster, Höhen und Geschosse schriftlich klären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43200"/>
            <a:ext cx="11247120" cy="713232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2862072"/>
            <a:ext cx="457200" cy="457200"/>
          </a:xfrm>
          <a:prstGeom prst="ellipse">
            <a:avLst/>
          </a:prstGeom>
          <a:solidFill>
            <a:srgbClr val="8C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926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834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Dez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283464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Hausbank: Finanzierung, Anlaufzeit, KfW 298/299 und Sicherheiten klären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566160"/>
            <a:ext cx="11247120" cy="713232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685032"/>
            <a:ext cx="457200" cy="457200"/>
          </a:xfrm>
          <a:prstGeom prst="ellipse">
            <a:avLst/>
          </a:prstGeom>
          <a:solidFill>
            <a:srgbClr val="8C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74903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657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Q1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65760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Städtebaulicher Vertrag, Bauantrag, KfW-Antrag vor Baubeginn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389120"/>
            <a:ext cx="11247120" cy="713232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0080" y="4507992"/>
            <a:ext cx="457200" cy="457200"/>
          </a:xfrm>
          <a:prstGeom prst="ellipse">
            <a:avLst/>
          </a:prstGeom>
          <a:solidFill>
            <a:srgbClr val="8C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572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4805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Mitte 2027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48056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Baubeginn, 15 Monate Bauzeit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212080"/>
            <a:ext cx="11247120" cy="713232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0080" y="5330952"/>
            <a:ext cx="457200" cy="457200"/>
          </a:xfrm>
          <a:prstGeom prst="ellipse">
            <a:avLst/>
          </a:prstGeom>
          <a:solidFill>
            <a:srgbClr val="8C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394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303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Ende 2028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30352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Eröffnung zusammen mit der neuen Mitte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D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FFFFFF"/>
                </a:solidFill>
                <a:latin typeface="Georgia"/>
              </a:rPr>
              <a:t>Anhang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Annahmen, Gastro-Kosten, Gastro-Ausbau, Mietdaten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Rechenannahmen und offene Punkte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31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50292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07007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Grundstück 960 m² × 230 € plus ca. 7 % (5 % Grunderwerbsteuer, ca. 2 % Notar); Zuschnitt 32 × 30 m ist eine Hypothese.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Bau BGF × 2.200 €, oberstes Geschoss in Holzbau 400 €/m² günstiger, Terrassen 450 €/m², Baunebenkosten 15 %, Effizienzhaus 40/QNG +3 %, Außenanlagen 160 €/m² auf der Restfläche (384 bzw. 420 m², Hypothese).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100 % Fremdfinanzierung, 1 % Anfangstilgung, tilgungsfreie Anlaufzeit 12 Monate; Bauzeit 15 Monate, Bereitstellungszins 3 % p. a. ab Monat 7; Finanzierungskosten vereinfacht nachgerechnet (früherer Plan: 289.674 €, Nachrechnung 279.394 €, Abweichung 0,2 % der Gesamtkosten).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Zins KfW 298 2,5 %, KfW 299 3,0 %, Hausbank 4,0 % (Annahmen); KfW 299 = 2.000 € × 85 % der Gewerbe-Nutzfläche; KfW 298 = 150.000 € je Wohnung.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Wohnungen 11,18 €/m² Kaltmiete (früherer Planwert), Büro 9,75 €/m², Gastro-Pacht 10 €/m²; Rücklagen 10 % von Miete, Büro und Pacht; Lohn des Bauherrn nicht gerechnet.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Gastro-Umsatz proportional zu den Innenplätzen (342 €/Platz und Monat, Marge vor Pacht 30,5 %) – keine Marktbelege; Steuersatz 35 % und AfA 3 % nur für die Pro-Kopf-Rechnung.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Geometrie, Flächen und Wohnungen stammen aus dem Geometriemodell (A: B3-Stand v4; B: Entwurfsannahmen), Höhen bei B hypothetisch; Planungsrecht: B-Plan 2023 rechtskräftig, 1. Änderung nur Entwurf, Zuordnung Baufeld 3 unbestätigt.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Offen: Baufenster, Dach, Höhen, Stellplatzsatzung, Zins nach 10 Jahren, Sicherheiten, Betreiber, Bodengutachten.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Gastro: Kosten pro Monat bei 33.874 € Umsatz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32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45171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572000"/>
                <a:gridCol w="18288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Posten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Richtwert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Betrag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Wareneinsatz (Einkauf Essen und Getränke)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28 %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9.485 €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Personal (ohne Chef-Lohn)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30 %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10.162 €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Pacht ans Haus (376 m² × 10 €)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3.760 €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Energie, Wasser, Müll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3 %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1.016 €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Reinigung, Wäsche, Verbrauchsmaterial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2 %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677 €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Werbung und Marketing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1,5 %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508 €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Reparaturen, Wartung, Kassensystem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1,5 %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508 €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Sonstiges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1,5 %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508 €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Versicherungen, GEMA, Gebühren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1 %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339 €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Steuerberater, Buchhaltung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1 %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339 €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Summe Kosten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27.302 €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Gewinn nach Pacht, vor Lohn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6.571 €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52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Die Richtwerte der Kostenquoten stammen aus dem früheren Plan; Marge hier ca. 30,5 % vor Pacht (Planwert 30,5 %, Rundung der Richtwerte).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Gastro-Ausbau nach Posten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33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686800" cy="460857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029200"/>
                <a:gridCol w="18288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Posten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Betrag (früherer Plan)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skaliert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Küche (Bowl- und Snackküche, Kühlräume, Spülküche)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28.000 €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14.589 €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Lüftung und Abluft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23.000 €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11.984 €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Theke und Bar (Zapfanlage, Kühlung, Backbar, große Theke)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35.000 €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18.237 €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Möbel (ca. 99 Plätze)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36.000 €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18.758 €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Beleuchtung und Deko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5.211 €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Wand, Boden, Decke, Akustik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19.000 €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9.900 €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Gäste-WC Ausstattung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3.126 €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Kasse, Technik, Musik, WLAN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3.126 €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Terrasse/Arkade (Holzdeck, Möbel, Heizstrahler)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8.000 €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4.168 €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Planung und Genehmigung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3.126 €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Eröffnung, Marketing, Warenerstbestückung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2.084 €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Puffer 5 %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9.050 €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4.716 €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Summe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190.050 €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99.026 €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6692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Im Modell angesetzt: 1.000 € je Platz = 99.000 € bei 99 Plätzen. Die Posten sind aus dem früheren Plan proportional umgerechnet, kein Angebot.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Mietdaten für Werlte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34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77240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857750"/>
                <a:gridCol w="291465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Quelle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Wert für Werlte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ImmoScout24 (Wohnungen, Durchschnitt)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7,78 €/m²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miete-aktuell.de (Kaltmiete 2026)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8,13 €/m²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mietpreise.info (14 Inserate, Spanne 6,09–14,48 €)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9,58 €/m²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mietpreise.info (Neubau)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10,73–11,02 €/m²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Landkreis Emsland (ImmoScout24, Q2 2026)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8,10 €/m²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114800"/>
            <a:ext cx="11247120" cy="118872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2062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Im Modell:  </a:t>
            </a:r>
            <a:r>
              <a:rPr sz="1100">
                <a:solidFill>
                  <a:srgbClr val="222222"/>
                </a:solidFill>
                <a:latin typeface="Arial"/>
              </a:rPr>
              <a:t>Wohnungen 11,18 €/m² Kaltmiete (Planwert des früheren Plans, zentrale Neubaulage). Büro 9,75 €/m² (9,50–10,00), Gastro-Pacht 10 €/m², ohne Marktdaten. Quellen: mietpreise.info/mietspiegel/werlte, miete-aktuell.de, immobilienscout24.de (Kreis Emsland), Abruf Oktober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