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Stellplätze</c:v>
                </c:pt>
              </c:strCache>
            </c:strRef>
          </c:tx>
          <c:spPr>
            <a:solidFill>
              <a:srgbClr val="8C3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3B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4A3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Bedarf (Annahme)</c:v>
                  </c:pt>
                  <c:pt idx="1">
                    <c:v>Platz auf dem Grundstück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F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Kosten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49A45"/>
              </a:solidFill>
              <a:effectLst/>
            </c:spPr>
          </c:dPt>
          <c:dPt>
            <c:idx val="1"/>
            <c:bubble3D val="0"/>
            <c:spPr>
              <a:solidFill>
                <a:srgbClr val="8C3B32"/>
              </a:solidFill>
              <a:effectLst/>
            </c:spPr>
          </c:dPt>
          <c:dPt>
            <c:idx val="2"/>
            <c:bubble3D val="0"/>
            <c:spPr>
              <a:solidFill>
                <a:srgbClr val="5B6770"/>
              </a:solidFill>
              <a:effectLst/>
            </c:spPr>
          </c:dPt>
          <c:dPt>
            <c:idx val="3"/>
            <c:bubble3D val="0"/>
            <c:spPr>
              <a:solidFill>
                <a:srgbClr val="2F4A3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Grundstück</c:v>
                </c:pt>
                <c:pt idx="1">
                  <c:v>Bau</c:v>
                </c:pt>
                <c:pt idx="2">
                  <c:v>Baunebenkosten</c:v>
                </c:pt>
                <c:pt idx="3">
                  <c:v>Gastro-Ausbau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236256</c:v>
                </c:pt>
                <c:pt idx="1">
                  <c:v>3236400</c:v>
                </c:pt>
                <c:pt idx="2">
                  <c:v>485460</c:v>
                </c:pt>
                <c:pt idx="3">
                  <c:v>150000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42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Euro pro Monat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Miete</c:v>
                  </c:pt>
                  <c:pt idx="1">
                    <c:v>Gastro</c:v>
                  </c:pt>
                  <c:pt idx="2">
                    <c:v>Rate</c:v>
                  </c:pt>
                  <c:pt idx="3">
                    <c:v>Rücklagen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13083</c:v>
                </c:pt>
                <c:pt idx="1">
                  <c:v>11770</c:v>
                </c:pt>
                <c:pt idx="2">
                  <c:v>-15639</c:v>
                </c:pt>
                <c:pt idx="3">
                  <c:v>-1308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 (3,3 %)</c:v>
                </c:pt>
              </c:strCache>
            </c:strRef>
          </c:tx>
          <c:spPr>
            <a:solidFill>
              <a:srgbClr val="2F4A3E"/>
            </a:solidFill>
            <a:ln w="38100" cap="flat">
              <a:solidFill>
                <a:srgbClr val="2F4A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F4A3E"/>
              </a:solidFill>
              <a:ln w="9525" cap="flat">
                <a:solidFill>
                  <a:srgbClr val="2F4A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0 %</c:v>
                  </c:pt>
                  <c:pt idx="1">
                    <c:v>5 %</c:v>
                  </c:pt>
                  <c:pt idx="2">
                    <c:v>10 %</c:v>
                  </c:pt>
                  <c:pt idx="3">
                    <c:v>15 %</c:v>
                  </c:pt>
                  <c:pt idx="4">
                    <c:v>20 %</c:v>
                  </c:pt>
                  <c:pt idx="5">
                    <c:v>25 %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7905</c:v>
                </c:pt>
                <c:pt idx="1">
                  <c:v>8687</c:v>
                </c:pt>
                <c:pt idx="2">
                  <c:v>9469</c:v>
                </c:pt>
                <c:pt idx="3">
                  <c:v>10251</c:v>
                </c:pt>
                <c:pt idx="4">
                  <c:v>11033</c:v>
                </c:pt>
                <c:pt idx="5">
                  <c:v>11815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Ausgang (4,0 %)</c:v>
                </c:pt>
              </c:strCache>
            </c:strRef>
          </c:tx>
          <c:spPr>
            <a:solidFill>
              <a:srgbClr val="8C3B32"/>
            </a:solidFill>
            <a:ln w="38100" cap="flat">
              <a:solidFill>
                <a:srgbClr val="8C3B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C3B32"/>
              </a:solidFill>
              <a:ln w="9525" cap="flat">
                <a:solidFill>
                  <a:srgbClr val="8C3B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0 %</c:v>
                  </c:pt>
                  <c:pt idx="1">
                    <c:v>5 %</c:v>
                  </c:pt>
                  <c:pt idx="2">
                    <c:v>10 %</c:v>
                  </c:pt>
                  <c:pt idx="3">
                    <c:v>15 %</c:v>
                  </c:pt>
                  <c:pt idx="4">
                    <c:v>20 %</c:v>
                  </c:pt>
                  <c:pt idx="5">
                    <c:v>25 %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5152</c:v>
                </c:pt>
                <c:pt idx="1">
                  <c:v>6072</c:v>
                </c:pt>
                <c:pt idx="2">
                  <c:v>6991</c:v>
                </c:pt>
                <c:pt idx="3">
                  <c:v>7911</c:v>
                </c:pt>
                <c:pt idx="4">
                  <c:v>8831</c:v>
                </c:pt>
                <c:pt idx="5">
                  <c:v>9750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F242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Titelfolie. Das Bild ist eine Referenzstudie.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Das Haus trägt sich mit Förderung und einer gut laufenden Gastro.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Quelle: Konzeptheft Neue Mitte Werlte (Seiten 13, 16 und 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Festsetzungen aus Bebauungsplan Nr. 123 (Entwurf). Zulässigkeit von Staffelgeschoss und Flachdach muss die Stadt schriftlich bestätigen.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Preise sind Annahmen und müssen durch Angebote der Zimmerei und des Bauunternehmens bestätigt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Schnitt schematisch. Hauptbaukörper bis 6,50 m, Staffelgeschoss bis ca. 9,60 m, Attika ca. 9,90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Schematische Skizzen, nicht maßstäblich genau. Aufteilung wird mit dem Architekten verfeinert.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Referenzstudie, rechts unsere Eckansicht als Skizze.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Konzeptskizze, Planung folgt mit dem Gastro-Fachplaner.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KI-Visualisierungen auf Basis der Skizzen, keine 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Bedarf nach groben Annahmen (1,5 pro Wohnung, 1 je 10 m² Gastraum bei ca. 200 m², 1 je 30 m² Büro). Die Stellplatzsatzung der Stadt gilt verbindlich.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Baukosten 2.200 €/m² (Holz-Staffel 400 € günstiger) und 15 % Baunebenkosten sind Annahmen des Bauherrn und müssen durch Angebote von Bauunternehmen und Zimmerei bestätigt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Zinsen in der Bauzeit und im Aufschub werden dem Kredit zugeschlagen. Der Aufschub von 12 Monaten muss mit der Bank verhandelt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Mieten: Wohnungen 11,18 €/m² (950 € für 85 m², Annahme des Bauherrn), Büro 10 €/m². Gastro-Marge nach Branchen-Richtwerten.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Gastro-Umsatz 50.000 €. Förderung als Zuschuss in Prozent der Kosten, der den Kredit von Anfang an verkleinert (Annahme).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Gastro-Marge vor Pacht 30,5 % vom Umsatz (Branchen-Richtwert, nicht aus Werlte). Break-even = Ergebnis (ohne Lohn des Bauherrn) genau null.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Startpunkt ist die vorsichtige Annahme von 40.000 € Umsatz ohne Förderung. Die Hebel sind Ziele für die Verhandlung, keine Zusagen.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 Partei bekommt einen eigenen Kredit ohne Eigenkapital. Preis = Selbstkosten, 3,3 % Zins, 1 % Tilgung, Miete 11,18 €/m², 10 % Rücklagen.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B, jede Wohnung mit eigenem Kredit ohne Eigenkapital und ohne Tilgung, Miete 11,18 €/m², 3,3 % Zins. Du trägst die Differenz zu deinen Selbstkosten.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B ohne Förderung, 2.200 €/m², Dauermiete 11,18 €/m², 3,3 % Zins, tilgungsfreie Jahre, 10 % Rücklagen. Käufer zahlen Notar (2 %) und Grunderwerbsteuer (5 %, Vater frei, bitte prüfen).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Reihenfolge ist ein Vorschlag, Notar, Bank und Bauamt bestimmen die Details. Keine Rechtsberatung.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Miete von 11,18 €/m² ist eine Annahme des Bauherrn, Marktdaten für Werlte liegen darunter.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Wirkungen gerechnet mit dem Modell (Plan 3,3 %, ohne Förderung als Basis).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Zeitplan der Stadt aus dem Konzeptheft, Bauantrag und Förderzusagen sind meine 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Zahlen sind Planungsannahmen, keine Zusagen.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Prozentwerte sind Branchen-Richtwerte aus meiner Einschätzung, nicht aus Quellen für Werlte.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Zielbudget des Bauherrn für einen einfachen Ausbau, Angebote von Küchen- und Lüftungsbauern müssen es bestätigen.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gibt keinen amtlichen Mietspiegel für Werlte, die Portale arbeiten mit kleinen Stichproben.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ist die Hauptvariante. Baufenster im Plan ca. 400–460 m² geschätzt, im Plan stehen zwei Vollgeschosse und 12 m Höhe, GRZ 0,6 erlaubt max. 576 m².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F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ußenansicht, modernes Haus mit Klinker und Glas-Erdgesch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MITTE WERLTE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7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Baufeld 3: Große Gastro, Büro und 8 Wohnungen</a:t>
            </a:r>
            <a:endParaRPr lang="en-US" sz="3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Baukonzept und Wirtschaftlichkeit (Variante B, 540 m² Grundfläche, ohne Förderung)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29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Bessam Hasso, Werlte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Bebauungsplan Nr. 123, 1. Änderung (Entwurf 25.08.2026)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Oktober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Vorhaben auf einen Blick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Kennzahl Gesamtkosten (ohne Bauzeitzinsen)"/>
          <p:cNvSpPr/>
          <p:nvPr/>
        </p:nvSpPr>
        <p:spPr>
          <a:xfrm>
            <a:off x="548640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4,11 Mio. €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Gesamtkosten (ohne Bauzeitzinsen)</a:t>
            </a:r>
            <a:endParaRPr lang="en-US" sz="1400" dirty="0"/>
          </a:p>
        </p:txBody>
      </p:sp>
      <p:sp>
        <p:nvSpPr>
          <p:cNvPr id="8" name="Kennzahl Wohnungen, dazu Gastro (ca. 290 m²) und Büro (ca. 150 m²) im EG"/>
          <p:cNvSpPr/>
          <p:nvPr/>
        </p:nvSpPr>
        <p:spPr>
          <a:xfrm>
            <a:off x="3367278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50158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550158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Wohnungen, dazu Gastro (ca. 290 m²) und Büro (ca. 150 m²) im EG</a:t>
            </a:r>
            <a:endParaRPr lang="en-US" sz="1400" dirty="0"/>
          </a:p>
        </p:txBody>
      </p:sp>
      <p:sp>
        <p:nvSpPr>
          <p:cNvPr id="11" name="Kennzahl Rate pro Monat (3,3 %, ohne Förderung)"/>
          <p:cNvSpPr/>
          <p:nvPr/>
        </p:nvSpPr>
        <p:spPr>
          <a:xfrm>
            <a:off x="6185916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68796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15.639 €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368796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pro Monat (3,3 %, ohne Förderung)</a:t>
            </a:r>
            <a:endParaRPr lang="en-US" sz="1400" dirty="0"/>
          </a:p>
        </p:txBody>
      </p:sp>
      <p:sp>
        <p:nvSpPr>
          <p:cNvPr id="14" name="Kennzahl Ergebnis pro Monat bei 50.000 € Umsatz"/>
          <p:cNvSpPr/>
          <p:nvPr/>
        </p:nvSpPr>
        <p:spPr>
          <a:xfrm>
            <a:off x="9004554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7434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+7.905 €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187434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pro Monat bei 50.000 € Umsatz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108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pro Monat (ohne Lohn des Bauherrn) bei 50.000 € Gastro-Umsatz (Plan, 3,3 % Zins)</a:t>
            </a:r>
            <a:endParaRPr lang="en-US" sz="1600" dirty="0"/>
          </a:p>
        </p:txBody>
      </p:sp>
      <p:graphicFrame>
        <p:nvGraphicFramePr>
          <p:cNvPr id="3" name="Tabelle Förderu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13332"/>
                <a:gridCol w="1513332"/>
                <a:gridCol w="1513332"/>
                <a:gridCol w="1513332"/>
                <a:gridCol w="1513332"/>
                <a:gridCol w="15133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+7.905 €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+8.687 €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+9.469 €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+10.251 €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+11.033 €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+11.815 €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548640" y="45720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Schon ohne Förderung im Plus.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Break-even-Umsatz ohne Förderung ca. 24.100 € im Monat. Dazu kommt eine Anlaufphase von 12 Monaten ohne Rate (Aufschub).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Eckgrundstück an der neuen Mitte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Fakt 1"/>
          <p:cNvSpPr/>
          <p:nvPr/>
        </p:nvSpPr>
        <p:spPr>
          <a:xfrm>
            <a:off x="548640" y="137160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960 m²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Baufeld 3, östlich des Rathauses, südlich der Planstraße</a:t>
            </a:r>
            <a:endParaRPr lang="en-US" sz="1400" dirty="0"/>
          </a:p>
        </p:txBody>
      </p:sp>
      <p:sp>
        <p:nvSpPr>
          <p:cNvPr id="8" name="Fakt 2"/>
          <p:cNvSpPr/>
          <p:nvPr/>
        </p:nvSpPr>
        <p:spPr>
          <a:xfrm>
            <a:off x="548640" y="265176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43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Mischgebiet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46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Gewerbe im EG erwünscht, Stellplätze auf dem Grundstück</a:t>
            </a:r>
            <a:endParaRPr lang="en-US" sz="1400" dirty="0"/>
          </a:p>
        </p:txBody>
      </p:sp>
      <p:sp>
        <p:nvSpPr>
          <p:cNvPr id="11" name="Fakt 3"/>
          <p:cNvSpPr/>
          <p:nvPr/>
        </p:nvSpPr>
        <p:spPr>
          <a:xfrm>
            <a:off x="548640" y="393192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Baureife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26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liegt vor, Baubeginn jederzeit möglich</a:t>
            </a:r>
            <a:endParaRPr lang="en-US" sz="1400" dirty="0"/>
          </a:p>
        </p:txBody>
      </p:sp>
      <p:sp>
        <p:nvSpPr>
          <p:cNvPr id="14" name="Zeitleiste"/>
          <p:cNvSpPr/>
          <p:nvPr/>
        </p:nvSpPr>
        <p:spPr>
          <a:xfrm>
            <a:off x="6263640" y="1508760"/>
            <a:ext cx="0" cy="40233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5" name="Punkt 1"/>
          <p:cNvSpPr/>
          <p:nvPr/>
        </p:nvSpPr>
        <p:spPr>
          <a:xfrm>
            <a:off x="6126480" y="141732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2026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Stellplatz alte Grundschule</a:t>
            </a:r>
            <a:endParaRPr lang="en-US" sz="1400" dirty="0"/>
          </a:p>
        </p:txBody>
      </p:sp>
      <p:sp>
        <p:nvSpPr>
          <p:cNvPr id="18" name="Punkt 2"/>
          <p:cNvSpPr/>
          <p:nvPr/>
        </p:nvSpPr>
        <p:spPr>
          <a:xfrm>
            <a:off x="6126480" y="228600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März 2027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Planstraße (Erschließung)</a:t>
            </a:r>
            <a:endParaRPr lang="en-US" sz="1400" dirty="0"/>
          </a:p>
        </p:txBody>
      </p:sp>
      <p:sp>
        <p:nvSpPr>
          <p:cNvPr id="21" name="Punkt 3"/>
          <p:cNvSpPr/>
          <p:nvPr/>
        </p:nvSpPr>
        <p:spPr>
          <a:xfrm>
            <a:off x="6126480" y="31546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 2027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Baubeginn</a:t>
            </a:r>
            <a:endParaRPr lang="en-US" sz="1400" dirty="0"/>
          </a:p>
        </p:txBody>
      </p:sp>
      <p:sp>
        <p:nvSpPr>
          <p:cNvPr id="24" name="Punkt 4"/>
          <p:cNvSpPr/>
          <p:nvPr/>
        </p:nvSpPr>
        <p:spPr>
          <a:xfrm>
            <a:off x="6126480" y="402336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Juli 2027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Kreisverkehr Loruper Straße</a:t>
            </a:r>
            <a:endParaRPr lang="en-US" sz="1400" dirty="0"/>
          </a:p>
        </p:txBody>
      </p:sp>
      <p:sp>
        <p:nvSpPr>
          <p:cNvPr id="27" name="Punkt 5"/>
          <p:cNvSpPr/>
          <p:nvPr/>
        </p:nvSpPr>
        <p:spPr>
          <a:xfrm>
            <a:off x="6126480" y="48920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2028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Marktplatz, Rathaus fertig und unsere Eröffnung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der Bebauungsplan vorgibt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graphicFrame>
        <p:nvGraphicFramePr>
          <p:cNvPr id="5" name="Tabelle B-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42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Festsetzung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 im B-Plan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Unser Entwurf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Grundflächenzahl (GRZ)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 → max. 576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 m² Grundfläche (56 %)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Vollgeschosse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zwei (II im Kreis)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 und 1. OG, dazu Staffelgeschoss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Traufhöhe / Höhe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6,50 m / 12,00 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Hauptbaukörper 6,50 m, gesamt ca. 9,90 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Dachform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laut Konzeptheft Mischgebiet, Details im 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Flachdach mit zurückgesetztem Staffelgeschoss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Baufenster (geschätzt)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 Plan geschätzt ca. 400–460 m², Stadt klären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30 × 18 m = 540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Stellplätze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auf dem Grundstück, ausreichende Anzahl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8–10, Rest siehe Stellplatzfolie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Klärungsbedarf"/>
          <p:cNvSpPr/>
          <p:nvPr/>
        </p:nvSpPr>
        <p:spPr>
          <a:xfrm>
            <a:off x="548640" y="4937760"/>
            <a:ext cx="110916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029200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Schriftlich klären: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Sind 540 m² Grundfläche zulässig (im Plan ist das Baufenster nach meiner Schätzung kleiner)? Zählt das Staffelgeschoss (ca. 460 m² in Holzbau, 85 % der Fläche darunter) als drittes Vollgeschoss? Ist die Flachdach-Lösung zulässig?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Staffelgeschoss in Holzbau mit Terrasse rundum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 und Stadt</a:t>
            </a:r>
            <a:endParaRPr lang="en-US" sz="1000" dirty="0"/>
          </a:p>
        </p:txBody>
      </p:sp>
      <p:graphicFrame>
        <p:nvGraphicFramePr>
          <p:cNvPr id="6" name="Tabelle Holzbau Rabat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118872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Bauunternehmer-Preisnachlass auf den 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(Plan)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Ergebnis/Monat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keiner (Annahme in der Rechnung)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4.108.116 €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+7.905 €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 (Bekanntenpreis, noch offen)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3.922.023 €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14.931 €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+8.613 €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 (Bekanntenpreis, noch offen)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3.735.930 €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14.224 €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+9.321 €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3657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bei 50.000 € Gastro-Umsatz und 3,3 % Zins. Ohne Holzbau und Terrasse wäre der Bau 151.600 € teurer, die Kosten lägen bei 4.282.456 €.</a:t>
            </a:r>
            <a:endParaRPr lang="en-US" sz="1400" dirty="0"/>
          </a:p>
        </p:txBody>
      </p:sp>
      <p:sp>
        <p:nvSpPr>
          <p:cNvPr id="7" name="Warum Holz oben"/>
          <p:cNvSpPr/>
          <p:nvPr/>
        </p:nvSpPr>
        <p:spPr>
          <a:xfrm>
            <a:off x="7863840" y="1371600"/>
            <a:ext cx="3776472" cy="4206240"/>
          </a:xfrm>
          <a:prstGeom prst="roundRect">
            <a:avLst>
              <a:gd name="adj" fmla="val 19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092440" y="1783080"/>
            <a:ext cx="3090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und schneller: weniger Last auf dem Klinker-Geschoss, kürzere Bauzeit.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Zimmerei kennt das Haus von Anfang an und plant das Penthouse mit der Terrasse rundum.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Partner (Bauunternehmen unten, Zimmerei oben) können Preise und Termine gemeinsam angeben.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Brandschutz (Holzbau bis Gebäudeklasse 4, Aufzug und Treppenhaus massiv) und Schallschutz muss der Architekt nachweisen.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46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Staffelgeschoss springt nur rundum ca. 0,8 m zurück: schmale Terrasse ca. 72 m² um die drei Penthouses, kein Teil der BGF.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Zwei Geschosse plus Staffelgeschoss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Gelände"/>
          <p:cNvSpPr/>
          <p:nvPr/>
        </p:nvSpPr>
        <p:spPr>
          <a:xfrm>
            <a:off x="1280160" y="5852160"/>
            <a:ext cx="5486400" cy="548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chnitt EG"/>
          <p:cNvSpPr/>
          <p:nvPr/>
        </p:nvSpPr>
        <p:spPr>
          <a:xfrm>
            <a:off x="1554480" y="4892040"/>
            <a:ext cx="4937760" cy="877824"/>
          </a:xfrm>
          <a:prstGeom prst="rect">
            <a:avLst/>
          </a:prstGeom>
          <a:solidFill>
            <a:srgbClr val="F4D58F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chnitt OG"/>
          <p:cNvSpPr/>
          <p:nvPr/>
        </p:nvSpPr>
        <p:spPr>
          <a:xfrm>
            <a:off x="1554480" y="4069080"/>
            <a:ext cx="4937760" cy="822960"/>
          </a:xfrm>
          <a:prstGeom prst="rect">
            <a:avLst/>
          </a:prstGeom>
          <a:solidFill>
            <a:srgbClr val="9A403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chnitt Staffel"/>
          <p:cNvSpPr/>
          <p:nvPr/>
        </p:nvSpPr>
        <p:spPr>
          <a:xfrm>
            <a:off x="1554480" y="3218688"/>
            <a:ext cx="4498848" cy="850392"/>
          </a:xfrm>
          <a:prstGeom prst="rect">
            <a:avLst/>
          </a:prstGeom>
          <a:solidFill>
            <a:srgbClr val="7A5C3A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chnitt Dach"/>
          <p:cNvSpPr/>
          <p:nvPr/>
        </p:nvSpPr>
        <p:spPr>
          <a:xfrm>
            <a:off x="1371600" y="3136392"/>
            <a:ext cx="4864608" cy="82296"/>
          </a:xfrm>
          <a:prstGeom prst="rect">
            <a:avLst/>
          </a:prstGeom>
          <a:solidFill>
            <a:srgbClr val="D6D1C8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Brüstung"/>
          <p:cNvSpPr/>
          <p:nvPr/>
        </p:nvSpPr>
        <p:spPr>
          <a:xfrm>
            <a:off x="6053328" y="3767328"/>
            <a:ext cx="246888" cy="301752"/>
          </a:xfrm>
          <a:prstGeom prst="rect">
            <a:avLst/>
          </a:prstGeom>
          <a:solidFill>
            <a:srgbClr val="CFE0E8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554480" y="4892040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 Gastro, Büro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4069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OG · 5 Wohnungen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3218688"/>
            <a:ext cx="44988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Staffelgeschoss · 3 Wohnungen</a:t>
            </a:r>
            <a:endParaRPr lang="en-US" sz="1400" dirty="0"/>
          </a:p>
        </p:txBody>
      </p:sp>
      <p:sp>
        <p:nvSpPr>
          <p:cNvPr id="14" name="Marke ca. 9,90 m"/>
          <p:cNvSpPr/>
          <p:nvPr/>
        </p:nvSpPr>
        <p:spPr>
          <a:xfrm>
            <a:off x="1097280" y="3136392"/>
            <a:ext cx="566928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48640" y="2953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9,90 m</a:t>
            </a:r>
            <a:endParaRPr lang="en-US" sz="1200" dirty="0"/>
          </a:p>
        </p:txBody>
      </p:sp>
      <p:sp>
        <p:nvSpPr>
          <p:cNvPr id="16" name="Marke 6,50 m"/>
          <p:cNvSpPr/>
          <p:nvPr/>
        </p:nvSpPr>
        <p:spPr>
          <a:xfrm>
            <a:off x="1097280" y="4069080"/>
            <a:ext cx="566928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48640" y="3886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6,50 m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5943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5943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</a:t>
            </a:r>
            <a:endParaRPr lang="en-US" sz="1200" dirty="0"/>
          </a:p>
        </p:txBody>
      </p:sp>
      <p:graphicFrame>
        <p:nvGraphicFramePr>
          <p:cNvPr id="7" name="Tabelle Fläch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463040"/>
          <a:ext cx="459943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8503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Ebene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Nutzung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ca. 290 m² mit Bar, Büro ca. 150 m², Treppenhaus, Aufzug, Technik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Wohnungen à ca. 83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Penthouses à ca. 103 m², Holzbau, schmale Terrasse rundum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Wohnungen, ca. 725 m² Wohnfläche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7040880" y="4937760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BGF = Bruttogrundfläche, alle Geschossflächen zusammen. Das Staffelgeschoss in Holzbau springt rundum nur ca. 0,8 m zurück, so entsteht eine schmale Terrasse von ca. 72 m² um die Penthouses.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Skizzen der Geschosse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Erdgeschoss</a:t>
            </a:r>
            <a:endParaRPr lang="en-US" sz="1800" dirty="0"/>
          </a:p>
        </p:txBody>
      </p:sp>
      <p:sp>
        <p:nvSpPr>
          <p:cNvPr id="6" name="Baukörper Erdgeschoss"/>
          <p:cNvSpPr/>
          <p:nvPr/>
        </p:nvSpPr>
        <p:spPr>
          <a:xfrm>
            <a:off x="548640" y="2011680"/>
            <a:ext cx="3621024" cy="235549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7" name="Raum Treppe, Aufzug"/>
          <p:cNvSpPr/>
          <p:nvPr/>
        </p:nvSpPr>
        <p:spPr>
          <a:xfrm>
            <a:off x="548640" y="2103120"/>
            <a:ext cx="482803" cy="2172614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03120"/>
            <a:ext cx="482803" cy="2172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Treppe, Aufzug</a:t>
            </a:r>
            <a:endParaRPr lang="en-US" sz="1100" dirty="0"/>
          </a:p>
        </p:txBody>
      </p:sp>
      <p:sp>
        <p:nvSpPr>
          <p:cNvPr id="9" name="Raum Büro ca. 150 m²"/>
          <p:cNvSpPr/>
          <p:nvPr/>
        </p:nvSpPr>
        <p:spPr>
          <a:xfrm>
            <a:off x="1031443" y="2103120"/>
            <a:ext cx="1001817" cy="2172614"/>
          </a:xfrm>
          <a:prstGeom prst="rect">
            <a:avLst/>
          </a:prstGeom>
          <a:solidFill>
            <a:srgbClr val="5B7D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31443" y="2103120"/>
            <a:ext cx="1001817" cy="2172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150 m²</a:t>
            </a:r>
            <a:endParaRPr lang="en-US" sz="1100" dirty="0"/>
          </a:p>
        </p:txBody>
      </p:sp>
      <p:sp>
        <p:nvSpPr>
          <p:cNvPr id="11" name="Raum Fläche"/>
          <p:cNvSpPr/>
          <p:nvPr/>
        </p:nvSpPr>
        <p:spPr>
          <a:xfrm>
            <a:off x="2033260" y="2103120"/>
            <a:ext cx="2136404" cy="2172614"/>
          </a:xfrm>
          <a:prstGeom prst="rect">
            <a:avLst/>
          </a:prstGeom>
          <a:solidFill>
            <a:srgbClr val="F2D4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Raum Bar"/>
          <p:cNvSpPr/>
          <p:nvPr/>
        </p:nvSpPr>
        <p:spPr>
          <a:xfrm>
            <a:off x="2093610" y="2151400"/>
            <a:ext cx="506943" cy="217261"/>
          </a:xfrm>
          <a:prstGeom prst="rect">
            <a:avLst/>
          </a:prstGeom>
          <a:solidFill>
            <a:srgbClr val="B8865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93610" y="2151400"/>
            <a:ext cx="506943" cy="217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100" dirty="0"/>
          </a:p>
        </p:txBody>
      </p:sp>
      <p:sp>
        <p:nvSpPr>
          <p:cNvPr id="14" name="Raum Küche"/>
          <p:cNvSpPr/>
          <p:nvPr/>
        </p:nvSpPr>
        <p:spPr>
          <a:xfrm>
            <a:off x="3179917" y="2103120"/>
            <a:ext cx="989747" cy="506943"/>
          </a:xfrm>
          <a:prstGeom prst="rect">
            <a:avLst/>
          </a:prstGeom>
          <a:solidFill>
            <a:srgbClr val="7E8A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179917" y="2103120"/>
            <a:ext cx="989747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Küche</a:t>
            </a:r>
            <a:endParaRPr lang="en-US" sz="1100" dirty="0"/>
          </a:p>
        </p:txBody>
      </p:sp>
      <p:sp>
        <p:nvSpPr>
          <p:cNvPr id="16" name="Raum WC"/>
          <p:cNvSpPr/>
          <p:nvPr/>
        </p:nvSpPr>
        <p:spPr>
          <a:xfrm>
            <a:off x="2672974" y="2103120"/>
            <a:ext cx="506943" cy="506943"/>
          </a:xfrm>
          <a:prstGeom prst="rect">
            <a:avLst/>
          </a:prstGeom>
          <a:solidFill>
            <a:srgbClr val="A6AD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672974" y="2103120"/>
            <a:ext cx="506943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</a:t>
            </a:r>
            <a:endParaRPr lang="en-US" sz="1100" dirty="0"/>
          </a:p>
        </p:txBody>
      </p:sp>
      <p:sp>
        <p:nvSpPr>
          <p:cNvPr id="18" name="Raum Gastraum, ca. 100 Plätze"/>
          <p:cNvSpPr/>
          <p:nvPr/>
        </p:nvSpPr>
        <p:spPr>
          <a:xfrm>
            <a:off x="2359152" y="3008376"/>
            <a:ext cx="1689811" cy="784555"/>
          </a:xfrm>
          <a:prstGeom prst="rect">
            <a:avLst/>
          </a:prstGeom>
          <a:solidFill>
            <a:srgbClr val="E7BE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359152" y="3008376"/>
            <a:ext cx="1689811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Gastraum, ca. 100 Plätze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283964" y="137160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Obergeschoss</a:t>
            </a:r>
            <a:endParaRPr lang="en-US" sz="1800" dirty="0"/>
          </a:p>
        </p:txBody>
      </p:sp>
      <p:sp>
        <p:nvSpPr>
          <p:cNvPr id="21" name="Baukörper 1. Obergeschoss"/>
          <p:cNvSpPr/>
          <p:nvPr/>
        </p:nvSpPr>
        <p:spPr>
          <a:xfrm>
            <a:off x="4283964" y="2011680"/>
            <a:ext cx="3621024" cy="235549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22" name="Raum Treppe, Aufzug"/>
          <p:cNvSpPr/>
          <p:nvPr/>
        </p:nvSpPr>
        <p:spPr>
          <a:xfrm>
            <a:off x="4283964" y="2103120"/>
            <a:ext cx="482803" cy="2172614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83964" y="2103120"/>
            <a:ext cx="482803" cy="2172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Treppe, Aufzug</a:t>
            </a:r>
            <a:endParaRPr lang="en-US" sz="1100" dirty="0"/>
          </a:p>
        </p:txBody>
      </p:sp>
      <p:sp>
        <p:nvSpPr>
          <p:cNvPr id="24" name="Raum WE 1 83 m²"/>
          <p:cNvSpPr/>
          <p:nvPr/>
        </p:nvSpPr>
        <p:spPr>
          <a:xfrm>
            <a:off x="4766767" y="2103120"/>
            <a:ext cx="627644" cy="2172614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766767" y="2103120"/>
            <a:ext cx="627644" cy="2172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m²</a:t>
            </a:r>
            <a:endParaRPr lang="en-US" sz="1100" dirty="0"/>
          </a:p>
        </p:txBody>
      </p:sp>
      <p:sp>
        <p:nvSpPr>
          <p:cNvPr id="26" name="Raum WE 2 83 m²"/>
          <p:cNvSpPr/>
          <p:nvPr/>
        </p:nvSpPr>
        <p:spPr>
          <a:xfrm>
            <a:off x="5394411" y="2103120"/>
            <a:ext cx="627644" cy="2172614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394411" y="2103120"/>
            <a:ext cx="627644" cy="2172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m²</a:t>
            </a:r>
            <a:endParaRPr lang="en-US" sz="1100" dirty="0"/>
          </a:p>
        </p:txBody>
      </p:sp>
      <p:sp>
        <p:nvSpPr>
          <p:cNvPr id="28" name="Raum WE 3 83 m²"/>
          <p:cNvSpPr/>
          <p:nvPr/>
        </p:nvSpPr>
        <p:spPr>
          <a:xfrm>
            <a:off x="6022056" y="2103120"/>
            <a:ext cx="627644" cy="2172614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22056" y="2103120"/>
            <a:ext cx="627644" cy="2172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m²</a:t>
            </a:r>
            <a:endParaRPr lang="en-US" sz="1100" dirty="0"/>
          </a:p>
        </p:txBody>
      </p:sp>
      <p:sp>
        <p:nvSpPr>
          <p:cNvPr id="30" name="Raum WE 4 83 m²"/>
          <p:cNvSpPr/>
          <p:nvPr/>
        </p:nvSpPr>
        <p:spPr>
          <a:xfrm>
            <a:off x="6649700" y="2103120"/>
            <a:ext cx="627644" cy="2172614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649700" y="2103120"/>
            <a:ext cx="627644" cy="2172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m²</a:t>
            </a:r>
            <a:endParaRPr lang="en-US" sz="1100" dirty="0"/>
          </a:p>
        </p:txBody>
      </p:sp>
      <p:sp>
        <p:nvSpPr>
          <p:cNvPr id="32" name="Raum WE 5 83 m²"/>
          <p:cNvSpPr/>
          <p:nvPr/>
        </p:nvSpPr>
        <p:spPr>
          <a:xfrm>
            <a:off x="7277344" y="2103120"/>
            <a:ext cx="627644" cy="2172614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277344" y="2103120"/>
            <a:ext cx="627644" cy="2172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m²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019288" y="137160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 (Holzbau)</a:t>
            </a:r>
            <a:endParaRPr lang="en-US" sz="1800" dirty="0"/>
          </a:p>
        </p:txBody>
      </p:sp>
      <p:sp>
        <p:nvSpPr>
          <p:cNvPr id="35" name="Baukörper Staffel (Holzbau)"/>
          <p:cNvSpPr/>
          <p:nvPr/>
        </p:nvSpPr>
        <p:spPr>
          <a:xfrm>
            <a:off x="8019288" y="2011680"/>
            <a:ext cx="3621024" cy="235549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36" name="Raum Fläche"/>
          <p:cNvSpPr/>
          <p:nvPr/>
        </p:nvSpPr>
        <p:spPr>
          <a:xfrm>
            <a:off x="8019288" y="2103120"/>
            <a:ext cx="3621024" cy="2172614"/>
          </a:xfrm>
          <a:prstGeom prst="rect">
            <a:avLst/>
          </a:prstGeom>
          <a:solidFill>
            <a:srgbClr val="C9C4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Raum Treppe"/>
          <p:cNvSpPr/>
          <p:nvPr/>
        </p:nvSpPr>
        <p:spPr>
          <a:xfrm>
            <a:off x="8115849" y="2199681"/>
            <a:ext cx="410383" cy="1979493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115849" y="2199681"/>
            <a:ext cx="410383" cy="1979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</a:t>
            </a:r>
            <a:endParaRPr lang="en-US" sz="1100" dirty="0"/>
          </a:p>
        </p:txBody>
      </p:sp>
      <p:sp>
        <p:nvSpPr>
          <p:cNvPr id="39" name="Raum WE 6 103 m²"/>
          <p:cNvSpPr/>
          <p:nvPr/>
        </p:nvSpPr>
        <p:spPr>
          <a:xfrm>
            <a:off x="8526231" y="2199681"/>
            <a:ext cx="1005438" cy="1979493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526231" y="2199681"/>
            <a:ext cx="1005438" cy="1979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m²</a:t>
            </a:r>
            <a:endParaRPr lang="en-US" sz="1100" dirty="0"/>
          </a:p>
        </p:txBody>
      </p:sp>
      <p:sp>
        <p:nvSpPr>
          <p:cNvPr id="41" name="Raum WE 7 103 m²"/>
          <p:cNvSpPr/>
          <p:nvPr/>
        </p:nvSpPr>
        <p:spPr>
          <a:xfrm>
            <a:off x="9531669" y="2199681"/>
            <a:ext cx="1005438" cy="1979493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531669" y="2199681"/>
            <a:ext cx="1005438" cy="1979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m²</a:t>
            </a:r>
            <a:endParaRPr lang="en-US" sz="1100" dirty="0"/>
          </a:p>
        </p:txBody>
      </p:sp>
      <p:sp>
        <p:nvSpPr>
          <p:cNvPr id="43" name="Raum WE 8 103 m²"/>
          <p:cNvSpPr/>
          <p:nvPr/>
        </p:nvSpPr>
        <p:spPr>
          <a:xfrm>
            <a:off x="10537107" y="2199681"/>
            <a:ext cx="1005438" cy="1979493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537107" y="2199681"/>
            <a:ext cx="1005438" cy="1979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m²</a:t>
            </a:r>
            <a:endParaRPr lang="en-US" sz="1100" dirty="0"/>
          </a:p>
        </p:txBody>
      </p:sp>
      <p:sp>
        <p:nvSpPr>
          <p:cNvPr id="45" name="Hinweis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77240" y="49834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Grundfläche ca. 30 × 18 m = 540 m² (GRZ 0,6 erlaubt max. 576 m²). Treppenhaus und Aufzug liegen am Westende und erschließen die Wohnungen getrennt von Gastro und Büro. Die Staffel in Holzbau hat ca. 460 m² BGF, die beige Fläche ist die schmale Terrasse (ca. 72 m²) rundum um die Penthouses.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Modern, Klinker, Milchglas und Staffelgeschoss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Visualisierung Außenansic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3008376"/>
          </a:xfrm>
          <a:prstGeom prst="rect">
            <a:avLst/>
          </a:prstGeom>
        </p:spPr>
      </p:pic>
      <p:pic>
        <p:nvPicPr>
          <p:cNvPr id="6" name="Image 1" descr="Eckansicht als Skizze: Flachdach mit Staffelgeschoss, Balkone, vollverglastes Erdgeschos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394960" cy="337413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4343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KI-Visualisierung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6217920" y="4681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Skizze (Eckansicht)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Klinker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dunkel, Langformat, passend zum Umfeld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333756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Staffelgeschoss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333756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Holzbau, Terrasse rundum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Balkone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12648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bodentiefe Fenster, Milchglas-Brüstungen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91540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Glas-EG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91540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 mit Bar, Terrasse und Vordach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Große Gastro mit Bar, neu und modern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Konzeptskizze: Grundriss der Gastro mit Bar, Wandansicht und Materialpalett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7498080" cy="4686300"/>
          </a:xfrm>
          <a:prstGeom prst="rect">
            <a:avLst/>
          </a:prstGeom>
        </p:spPr>
      </p:pic>
      <p:pic>
        <p:nvPicPr>
          <p:cNvPr id="6" name="Image 1" descr="Visualisierung Innenrau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280160"/>
            <a:ext cx="3319272" cy="222199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321040" y="354787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KI-Visualisierung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8321040" y="393192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100 Plätze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8321040" y="431596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innen, plus ca. 32 auf der Terrasse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8321040" y="470916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8321040" y="500176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Barhocker, Polsterbänke, Backbar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548640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321040" y="568756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Olivgrün, Cognac-Samt, Bordeaux, Eiche, schwarzer Stahl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Visualisierungen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Visualisierung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514344" cy="2080260"/>
          </a:xfrm>
          <a:prstGeom prst="rect">
            <a:avLst/>
          </a:prstGeom>
        </p:spPr>
      </p:pic>
      <p:pic>
        <p:nvPicPr>
          <p:cNvPr id="6" name="Image 1" descr="Visualisierung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04" y="1325880"/>
            <a:ext cx="3514344" cy="2080260"/>
          </a:xfrm>
          <a:prstGeom prst="rect">
            <a:avLst/>
          </a:prstGeom>
        </p:spPr>
      </p:pic>
      <p:pic>
        <p:nvPicPr>
          <p:cNvPr id="7" name="Image 2" descr="Visualisierung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968" y="1325880"/>
            <a:ext cx="3514344" cy="2080260"/>
          </a:xfrm>
          <a:prstGeom prst="rect">
            <a:avLst/>
          </a:prstGeom>
        </p:spPr>
      </p:pic>
      <p:pic>
        <p:nvPicPr>
          <p:cNvPr id="8" name="Image 3" descr="Visualisierung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80460"/>
            <a:ext cx="3514344" cy="2080260"/>
          </a:xfrm>
          <a:prstGeom prst="rect">
            <a:avLst/>
          </a:prstGeom>
        </p:spPr>
      </p:pic>
      <p:pic>
        <p:nvPicPr>
          <p:cNvPr id="9" name="Image 4" descr="Visualisierung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304" y="3680460"/>
            <a:ext cx="3514344" cy="208026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KI-generierte Visualisierungen zur Orientierung (neu erzeugt, mit Milchglas-Brüstungen), Maße und Details folgen mit dem Architekten.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Stellplätze sind der Knackpunkt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graphicFrame>
        <p:nvGraphicFramePr>
          <p:cNvPr id="5" name="Diagramm Stellplätze" descr=""/>
          <p:cNvGraphicFramePr/>
          <p:nvPr/>
        </p:nvGraphicFramePr>
        <p:xfrm>
          <a:off x="548640" y="137160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Vorschlag für die Stadt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187452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Bedarf ca. 37 Stellplätze, auf dem Grundstück passen bei 540 m² Gebäude nur ca. 8–10.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Restplätze auf der öffentlichen Parkfläche nebenan (im Plan eingezeichnet) per Vereinbarung nutzen, besonders am Abend.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 Ablöse statt Bau, die Höhe muss die Stadt nennen.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Klären, ob der 10 m breite Grünstreifen teils befestigt werden darf.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Gesamtkosten ohne Förderung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3" name="Tabelle Kos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9456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Rechnung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Grundstück inkl. Steuer, Notar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 m² × 230 € + ca. 7 %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236.256 €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Bau, Massivbau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1.540 m² × 2.200 €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3.388.000 €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Abschlag Holzbau (Staffelgeschoss)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 m² × 400 € günstiger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− 184.000 €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Dachterrasse rundum (schmal)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 m² × 450 €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Baunebenkosten (Architekt, Statik, Gebühren)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 vom 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485.460 €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Gastro-Ausbau (Küche, Bar, Möbel, Technik)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Annahme, Posten im Anhang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4.108.116 €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Diagramm Kosten" descr=""/>
          <p:cNvGraphicFramePr/>
          <p:nvPr/>
        </p:nvGraphicFramePr>
        <p:xfrm>
          <a:off x="7772400" y="1280160"/>
          <a:ext cx="3931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3035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sind ca. 2.668 € pro m² BGF.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Finanzierung zu 100 % ohne Eigenkapital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4" name="Tabelle Finanzieru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5895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(3,3 %)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Ausgang (4,0 %)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4.108.116 €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4.108.116 €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Zinsen in der Bauzeit (15 Monate)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85.793 €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104.275 €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Bereitstellungszinsen (3 % p. a. ab Monat 7)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29.039 €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29.039 €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Zinsen im Aufschub-Jahr (keine Rate)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141.485 €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172.802 €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Kredit bei Start der Rate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4.364.433 €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4.414.232 €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pro Monat (1 % Tilgung)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18.393 €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 davon Zinsen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12.002 €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 davon Tilgung (Rückzahlung der Schuld)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3.637 €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e"/>
          <p:cNvSpPr/>
          <p:nvPr/>
        </p:nvSpPr>
        <p:spPr>
          <a:xfrm>
            <a:off x="8503920" y="1371600"/>
            <a:ext cx="3136392" cy="4114800"/>
          </a:xfrm>
          <a:prstGeom prst="roundRect">
            <a:avLst>
              <a:gd name="adj" fmla="val 23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732520" y="1554480"/>
            <a:ext cx="26791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Annahmen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Baubeginn Mitte 2027, 15 Monate Bauzeit, gleichmäßiger Abruf.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Plan: 3,3 % Mischzins aus Förderkrediten (Annahme).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Ausgang: 4,0 % bei 10 Jahren Zinsbindung (Stand 17.09.2026).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pro Monat übrig bleibt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5" name="Tabelle Cashflo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Monat, Plan, ohne Förderung, 50.000 € Umsatz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Wohnungen (725 m² × 11,18 €) und Büro (150 m² × 10 €)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+9.603 €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Gastro-Pacht: 290 m² × 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+3.480 €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Gastro-Gewinn nach Pacht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+11.770 €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(Zinsen und Tilgung)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−15.639 €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Dein Lohn (wird vorerst nicht gerechnet)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Rücklagen (10 % der Miete und Pacht)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−1.308 €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+7.905 €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Diagramm Cashflow" descr=""/>
          <p:cNvGraphicFramePr/>
          <p:nvPr/>
        </p:nvGraphicFramePr>
        <p:xfrm>
          <a:off x="7406640" y="1280160"/>
          <a:ext cx="4297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Lohn des Bauherrn. Die ca. 3.600 € Tilgung in der Rate sind Vermögensaufbau (Schuld sinkt), kein Verlust.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Förderung entscheidet über das Ergebnis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graphicFrame>
        <p:nvGraphicFramePr>
          <p:cNvPr id="16" name="Tabelle Szenari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1920240"/>
                <a:gridCol w="2103120"/>
                <a:gridCol w="192024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(3,3 %)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(3,3 %)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(4,0 %)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(4,0 %)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4.108.116 €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+7.905 €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18.393 €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+5.152 €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3.902.710 €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14.857 €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+8.687 €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17.473 €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+6.072 €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3.697.304 €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14.075 €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+9.469 €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+6.991 €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3.491.899 €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13.293 €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+10.251 €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15.634 €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+7.911 €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3.286.493 €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12.511 €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+11.033 €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+8.831 €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3.081.087 €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11.729 €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+11.815 €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13.794 €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+9.750 €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Diagramm Förderung" descr=""/>
          <p:cNvGraphicFramePr/>
          <p:nvPr/>
        </p:nvGraphicFramePr>
        <p:xfrm>
          <a:off x="548640" y="4343400"/>
          <a:ext cx="6858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7680960" y="4572000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5 Prozentpunkte Förderung steigt das Ergebnis um ca. 782 € im Monat. Gastro-Umsatz 50.000 €, nach Rücklagen, ohne Lohn.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viel Umsatz braucht die Gastro?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7" name="Tabelle Umsat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9966"/>
                <a:gridCol w="1559966"/>
                <a:gridCol w="1559966"/>
                <a:gridCol w="1559966"/>
                <a:gridCol w="155996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pro Monat (Plan 3,3 %)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 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+4.855 €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+6.380 €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+7.905 €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+9.430 €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+10.955 €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 10 %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+6.419 €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+7.944 €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+9.469 €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+10.994 €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+12.519 €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 15 %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+7.201 €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+8.726 €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+10.251 €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+11.776 €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+13.301 €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 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+7.983 €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+9.508 €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+11.033 €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+12.558 €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+14.083 €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Break-even-Umsatz (Ergebnis = 0, ohne Lohn)</a:t>
            </a:r>
            <a:endParaRPr lang="en-US" sz="1800" dirty="0"/>
          </a:p>
        </p:txBody>
      </p:sp>
      <p:graphicFrame>
        <p:nvGraphicFramePr>
          <p:cNvPr id="33" name="Tabelle Break-ev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49958"/>
                <a:gridCol w="1949958"/>
                <a:gridCol w="1949958"/>
                <a:gridCol w="194995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Plan, 3,3 %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24.081 €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18.953 €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16.389 €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Ausgang, 4,0 %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33.108 €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27.078 €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24.063 €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Weg zu Plus: Hebel nacheinander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graphicFrame>
        <p:nvGraphicFramePr>
          <p:cNvPr id="18" name="Tabelle Pfa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1463040"/>
                <a:gridCol w="14630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Schritt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(3,3 %)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Ausgang (4,0 %)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Ausgangslage (40.000 € Umsatz, keine Förderung)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+4.855 €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+2.102 €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+ 15 % Förderung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+7.201 €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+4.861 €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Baukosten 2.000 €/m² statt 2.200 € (Bekanntenpreis)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+8.346 €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+6.207 €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Gastro-Ausbau nur 100.000 € statt 150.000 €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+8.508 €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+6.397 €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Gastro-Umsatz 45.000 €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+10.033 €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+7.922 €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Tilgung 0 % (nur Zinsen) in den ersten Jahren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+12.821 €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+10.742 €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Fazit Pfad"/>
          <p:cNvSpPr/>
          <p:nvPr/>
        </p:nvSpPr>
        <p:spPr>
          <a:xfrm>
            <a:off x="8595360" y="1280160"/>
            <a:ext cx="3044952" cy="4297680"/>
          </a:xfrm>
          <a:prstGeom prst="roundRect">
            <a:avLst>
              <a:gd name="adj" fmla="val 24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823960" y="1463040"/>
            <a:ext cx="258775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Mindestpaket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Lohn des Bauherrn liegt schon die Ausgangslage mit 40.000 € Umsatz im Plus, Förderung und günstige Preise geben zusätzlichen Puffer.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Konto, kein Gewinn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Tilgung 0 % verbessert das Konto, nicht das Haus.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303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Grundsteuer, Gebäudeversicherung und Betriebskosten legt ihr über die Nebenkosten auf die Mieter um. Hausverwaltung und Instandhaltung (nicht umlagefähig) deckt die Rücklage von 10 %.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Verkauf an die Familie: Rechnung je Partei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Verwandten und die Bank</a:t>
            </a:r>
            <a:endParaRPr lang="en-US" sz="1000" dirty="0"/>
          </a:p>
        </p:txBody>
      </p:sp>
      <p:graphicFrame>
        <p:nvGraphicFramePr>
          <p:cNvPr id="19" name="Tabelle Verkauf je Parte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2377440"/>
                <a:gridCol w="231343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OG, 83 m² (5×)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Staffel, 103 m² (3×)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Du: Gastro und Büro im EG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(Selbstkosten)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289.809 €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353.343 €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1.599.043 €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je m² Wohnfläche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3.492 €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3.419 €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pro Monat (3,3 % + 1 % Tilgung)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6.087 €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Einnahme pro Monat (nach 10 % Rücklagen)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−268 €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+10.513 €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Preis, bei dem das Ergebnis 0 € ist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206.428 €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256.998 €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Lücke zum Selbstkostenpreis (ohne Eigenkapital)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83.381 €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96.345 €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mit 15 % Förderung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16636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Rechnung für den Gastro-Teil gilt bei 50.000 € Umsatz ohne Lohn des Bauherrn, Break-even ab 16.000 €. Die Wohnungen tragen sich bei 11,18 €/m² Miete (Büro 10 €/m²) erst ab einem Preis von ca. 2.640 € je m².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Penthouse (103 m²) bringt bei 11,18 €/m² 1.155 € Miete, eine OG-Wohnung (83 m²) 928 €.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Ziel: 250 € Plus für jede Wohnung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Verwandten und die Bank</a:t>
            </a:r>
            <a:endParaRPr lang="en-US" sz="1000" dirty="0"/>
          </a:p>
        </p:txBody>
      </p:sp>
      <p:graphicFrame>
        <p:nvGraphicFramePr>
          <p:cNvPr id="20" name="Tabelle Ziel 250 Euro Pl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2194560"/>
                <a:gridCol w="2194560"/>
                <a:gridCol w="20391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OG, 83 m² (5×)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Staffel, 103 m² (3×)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Verkaufspreis an die Verwandten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200.194 €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Deine Selbstkosten je Einheit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289.809 €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353.343 €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1.599.043 €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je m² Wohnfläche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2.615 €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Nachlass, den du trägst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89.615 €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 697.503 €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Einnahme pro Monat (Miete nach 10 % Rücklagen / Gastro-Gewinn)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pro Monat (Zinsen)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−789 €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−8.125 €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+7.125 €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12064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Anteil: Rate für das Gastro-EG 6.087 € (1 % Tilgung) plus Zinsen für die Differenz 2.038 €. Der Verkaufspreis liegt bei ca. 2.412 € je m² (OG) und 2.615 € je m² (Staffel).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4,0 % Zins sinkt der Preis für 250 € Plus auf ca. 163.297 € (1.967 € je m²), dein Ergebnis auf +4.397 €.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Verkaufsplan: wer bekommt welche Wohnung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Verwandten und die Bank</a:t>
            </a:r>
            <a:endParaRPr lang="en-US" sz="1000" dirty="0"/>
          </a:p>
        </p:txBody>
      </p:sp>
      <p:graphicFrame>
        <p:nvGraphicFramePr>
          <p:cNvPr id="21" name="Tabelle Verkaufs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280160"/>
                <a:gridCol w="1234440"/>
                <a:gridCol w="1188720"/>
                <a:gridCol w="1143000"/>
                <a:gridCol w="1143000"/>
                <a:gridCol w="126187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Partei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Wohnung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Verkaufspreis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Selbstkosten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Differenz (du)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Notar, Steuer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(Zinsen)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OG, 83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246.604 €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289.809 €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43.205 €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4.932 €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Bruder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OG, 83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235.080 €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289.809 €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54.728 €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16.456 €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 (Wohnung 1, eigene)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OG, 83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289.809 €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289.809 €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 (Wohnung 2, vermietet)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OG, 83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289.809 €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289.809 €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 (Wohnung 3, vermietet)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OG, 83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289.809 €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289.809 €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Onkel 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Staffel, 103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300.507 €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353.343 €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52.836 €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Onkel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Staffel, 103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300.507 €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353.343 €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52.836 €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Onkel 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Staffel, 103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300.507 €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353.343 €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52.836 €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70916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behältst drei OG-Wohnungen (eine zum Wohnen, zwei vermietet, ohne Notar und Steuer). Die Wohnungen von Vater, Bruder und den drei Onkeln werden so gesenkt, dass jede mindestens +100 € im Monat hat. Die Differenz von 256.442 € trägst du, die Zinsen darauf kosten 749 € im Monat.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Ergebnis: Gastro 15.250 € minus Rate für das EG 6.087 € minus Zinsen auf die Differenz 749 € plus deine drei eigenen Wohnungen −35 € = +8.378 € pro Monat (ohne Lohn).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Verkaufsplan: Ablauf und offene Punkte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Verwandten und die Bank</a:t>
            </a:r>
            <a:endParaRPr lang="en-US" sz="1000" dirty="0"/>
          </a:p>
        </p:txBody>
      </p:sp>
      <p:sp>
        <p:nvSpPr>
          <p:cNvPr id="5" name="Schritt 1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3075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Förderung und Preise klären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307592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Stadt: Städtebauförderung und Grundstückspreis. Bauunternehmen und Zimmerei: Festpreis je m².</a:t>
            </a:r>
            <a:endParaRPr lang="en-US" sz="1250" dirty="0"/>
          </a:p>
        </p:txBody>
      </p:sp>
      <p:sp>
        <p:nvSpPr>
          <p:cNvPr id="9" name="Schritt 2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0848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Bauvoranfrage / Bauantrag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2084832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Staffelgeschoss, Flachdach, Höhe und Stellplätze schriftlich bestätigen lassen.</a:t>
            </a:r>
            <a:endParaRPr lang="en-US" sz="1250" dirty="0"/>
          </a:p>
        </p:txBody>
      </p:sp>
      <p:sp>
        <p:nvSpPr>
          <p:cNvPr id="13" name="Schritt 3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8620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Teilungserklärung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2862072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Aufteilung in Wohnungseigentum (8 Wohnungen, Büro und Gastro im EG), Hausverwaltung bestimmen.</a:t>
            </a:r>
            <a:endParaRPr lang="en-US" sz="1250" dirty="0"/>
          </a:p>
        </p:txBody>
      </p:sp>
      <p:sp>
        <p:nvSpPr>
          <p:cNvPr id="17" name="Schritt 4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36393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Finanzierung je Käufer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3639312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Bankzusage für jeden Käufer, ohne Eigenkapital und nach den neuen Käufen der letzten zwei Jahre schwer.</a:t>
            </a:r>
            <a:endParaRPr lang="en-US" sz="1250" dirty="0"/>
          </a:p>
        </p:txBody>
      </p:sp>
      <p:sp>
        <p:nvSpPr>
          <p:cNvPr id="21" name="Schritt 5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234440" y="44165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Notarverträge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663440" y="4416552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Verkauf vor dem Bau gilt als Bauträgergeschäft, Erlaubnis nach § 34c GewO und Sicherheiten klären.</a:t>
            </a:r>
            <a:endParaRPr lang="en-US" sz="1250" dirty="0"/>
          </a:p>
        </p:txBody>
      </p:sp>
      <p:sp>
        <p:nvSpPr>
          <p:cNvPr id="25" name="Schritt 6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5193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und Übergabe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663440" y="5193792"/>
            <a:ext cx="6976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Bauzeit ca. 15 Monate, danach Abnahme und Übergabe, Vermietung der Wohnungen.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Risiken und was wir dagegen tun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sp>
        <p:nvSpPr>
          <p:cNvPr id="5" name="Risiko 1"/>
          <p:cNvSpPr/>
          <p:nvPr/>
        </p:nvSpPr>
        <p:spPr>
          <a:xfrm>
            <a:off x="548640" y="137160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Miete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1168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11,18 €/m² liegt am oberen Rand der Portalwerte für Neubau in Werlte (ca. 10,7–11,0 €/m²), der Altbestand liegt bei 8–10 €/m². Gegenmaßnahme: Vergleichsangebote, Vorvermietung.</a:t>
            </a:r>
            <a:endParaRPr lang="en-US" sz="1400" dirty="0"/>
          </a:p>
        </p:txBody>
      </p:sp>
      <p:sp>
        <p:nvSpPr>
          <p:cNvPr id="8" name="Risiko 2"/>
          <p:cNvSpPr/>
          <p:nvPr/>
        </p:nvSpPr>
        <p:spPr>
          <a:xfrm>
            <a:off x="6277356" y="137160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5956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Gastro-Umsatz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505956" y="201168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Gastro braucht ab ca. 24.000 € Umsatz, bei 4 % Zins ca. 33.000 €. Gegenmaßnahme: Konzept, Pacht-Staffel, Lohn des Bauherrn bewusst ausgeklammert.</a:t>
            </a:r>
            <a:endParaRPr lang="en-US" sz="1400" dirty="0"/>
          </a:p>
        </p:txBody>
      </p:sp>
      <p:sp>
        <p:nvSpPr>
          <p:cNvPr id="11" name="Risiko 3"/>
          <p:cNvSpPr/>
          <p:nvPr/>
        </p:nvSpPr>
        <p:spPr>
          <a:xfrm>
            <a:off x="548640" y="370332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8404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34340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10 Jahren Zinsbindung ist der Folgezins offen. Gegenmaßnahme: Förderkredite, Forward-Darlehen, Tilgungsaussetzung.</a:t>
            </a:r>
            <a:endParaRPr lang="en-US" sz="1400" dirty="0"/>
          </a:p>
        </p:txBody>
      </p:sp>
      <p:sp>
        <p:nvSpPr>
          <p:cNvPr id="14" name="Risiko 4"/>
          <p:cNvSpPr/>
          <p:nvPr/>
        </p:nvSpPr>
        <p:spPr>
          <a:xfrm>
            <a:off x="6277356" y="370332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5956" y="38404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Genehmigung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505956" y="434340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540 m² Grundfläche, Staffelgeschoss und Flachdach müssen von der Stadt bestätigt werden. Gegenmaßnahme: Vorabstimmung, Plan B mit Variante A (340 m²) oder Satteldach.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ich von der Stadt brauche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Forderung 1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Städtebauförderung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10 % Förderung bringen ca. +1.564 € im Monat</a:t>
            </a:r>
            <a:endParaRPr lang="en-US" sz="1400" dirty="0"/>
          </a:p>
        </p:txBody>
      </p:sp>
      <p:sp>
        <p:nvSpPr>
          <p:cNvPr id="8" name="Forderung 2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5956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Grundstückspreis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505956" y="196596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30 € weniger pro m² bringen ca. +119 € im Monat</a:t>
            </a:r>
            <a:endParaRPr lang="en-US" sz="1400" dirty="0"/>
          </a:p>
        </p:txBody>
      </p:sp>
      <p:sp>
        <p:nvSpPr>
          <p:cNvPr id="11" name="Forderung 3"/>
          <p:cNvSpPr/>
          <p:nvPr/>
        </p:nvSpPr>
        <p:spPr>
          <a:xfrm>
            <a:off x="548640" y="288036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1752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Pacht oder Mietzuschuss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47472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1.000 € Zuschuss im Monat sind 1.000 € mehr im Monat</a:t>
            </a:r>
            <a:endParaRPr lang="en-US" sz="1400" dirty="0"/>
          </a:p>
        </p:txBody>
      </p:sp>
      <p:sp>
        <p:nvSpPr>
          <p:cNvPr id="14" name="Forderung 4"/>
          <p:cNvSpPr/>
          <p:nvPr/>
        </p:nvSpPr>
        <p:spPr>
          <a:xfrm>
            <a:off x="6277356" y="288036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5956" y="301752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Stellplätze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505956" y="347472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Mitnutzung der öffentlichen Parkfläche oder faire Ablöse</a:t>
            </a:r>
            <a:endParaRPr lang="en-US" sz="1400" dirty="0"/>
          </a:p>
        </p:txBody>
      </p:sp>
      <p:sp>
        <p:nvSpPr>
          <p:cNvPr id="17" name="Forderung 5"/>
          <p:cNvSpPr/>
          <p:nvPr/>
        </p:nvSpPr>
        <p:spPr>
          <a:xfrm>
            <a:off x="548640" y="438912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5262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Genehmigung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98348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540 m² Grundfläche, Staffelgeschoss, Flachdach und Höhe schriftlich bestätigen</a:t>
            </a:r>
            <a:endParaRPr lang="en-US" sz="1400" dirty="0"/>
          </a:p>
        </p:txBody>
      </p:sp>
      <p:sp>
        <p:nvSpPr>
          <p:cNvPr id="20" name="Forderung 6"/>
          <p:cNvSpPr/>
          <p:nvPr/>
        </p:nvSpPr>
        <p:spPr>
          <a:xfrm>
            <a:off x="6277356" y="438912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05956" y="45262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Zinsvorteil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6505956" y="498348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0,5 % weniger Zins bringen ca. +1.930 € im Monat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Nächste Schritte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Schritt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89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 2026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1389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Gespräch mit der Stadt: Preis, Förderung, Stellplätze</a:t>
            </a:r>
            <a:endParaRPr lang="en-US" sz="1600" dirty="0"/>
          </a:p>
        </p:txBody>
      </p:sp>
      <p:sp>
        <p:nvSpPr>
          <p:cNvPr id="9" name="Schritt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167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2026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2167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Architekt, Baufenster, Höhen und Geschosse schriftlich klären</a:t>
            </a:r>
            <a:endParaRPr lang="en-US" sz="1600" dirty="0"/>
          </a:p>
        </p:txBody>
      </p:sp>
      <p:sp>
        <p:nvSpPr>
          <p:cNvPr id="13" name="Schritt 3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 2026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0" y="2944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Bank: Finanzierung, Aufschub, Förderkredite anfragen</a:t>
            </a:r>
            <a:endParaRPr lang="en-US" sz="1600" dirty="0"/>
          </a:p>
        </p:txBody>
      </p:sp>
      <p:sp>
        <p:nvSpPr>
          <p:cNvPr id="17" name="Schritt 4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721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3721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Städtebaulicher Vertrag, Bauantrag</a:t>
            </a:r>
            <a:endParaRPr lang="en-US" sz="1600" dirty="0"/>
          </a:p>
        </p:txBody>
      </p:sp>
      <p:sp>
        <p:nvSpPr>
          <p:cNvPr id="21" name="Schritt 5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4498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 2027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3200400" y="4498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Baubeginn, 15 Monate Bauzeit</a:t>
            </a:r>
            <a:endParaRPr lang="en-US" sz="1600" dirty="0"/>
          </a:p>
        </p:txBody>
      </p:sp>
      <p:sp>
        <p:nvSpPr>
          <p:cNvPr id="25" name="Schritt 6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5276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2028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200400" y="52760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Eröffnung zusammen mit der neuen Mitte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1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Anhang</a:t>
            </a:r>
            <a:endParaRPr lang="en-US" sz="4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49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Annahmen, Gastro-Kosten, Gastro-Ausbau, Mietdaten, Vergleich mit Variante A und C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Rechenannahmen und offene Punkte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Grundstück 960 m² × 230 € plus ca. 7 % (5 % Grunderwerbsteuer, ca. 2 % Notar)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1.540 m² BGF × 2.200 €, Staffel (460 m²) in Holzbau 400 €/m² günstiger, Terrasse 72 m² × 450 €, Baunebenkosten 15 %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Fremdfinanzierung, 1 % Tilgung, Aufschub 12 Monate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Bauzeit 15 Monate, Bereitstellungszins 3 % p. a. ab Monat 7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Zins Plan 3,3 % (Förderkredite, Annahme), Ausgang 4,0 %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323076" y="137160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Gastro-Umsatz 50.000 € netto, Marge vor Pacht 30,5 %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Wohnungen (725 m²) zu 11,18 €/m² Kaltmiete, Büro 150 m² zu 10 €/m², Gastro-Pacht 12 €/m²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Lohn des Bauherrn wird vorerst nicht gerechnet, Rücklagen 10 % der Miete und Pacht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Förderung als Zuschuss in % der Gesamtkosten (Annahme)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Nebenkosten (Grundsteuer, Versicherung, Betriebskosten) werden auf die Mieter umgelegt, die Hausverwaltung deckt die Rücklage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Offen: Baufenster, Staffelgeschoss, Höhen, Stellplatzsatzung, Zins nach 10 Jahren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Gastro: Kosten pro Monat bei 50.000 € Umsatz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28" name="Tabelle Gastro-Kos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2286000"/>
                <a:gridCol w="2404872"/>
              </a:tblGrid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Richtwert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Wareneinsatz (Einkauf Essen und Getränke)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28 %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 (ohne Chef-Lohn)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Pacht ans Haus (290 m² × 12 €)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3.480 €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Energie, Wasser, Müll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Reinigung, Wäsche, Verbrauchsmaterial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Werbung und Marketing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1,5 %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Reparaturen, Wartung, Kassensystem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1,5 %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Sonstiges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1,5 %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Versicherungen, GEMA, Gebühren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Steuerberater, Buchhaltung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38.230 €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Gewinn nach Pacht, vor Lohn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11.770 €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Gastro-Ausbau nach Posten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29" name="Tabelle Gastro-Ausb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3152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Küche (Herd, Kühlräume, Edelstahl, Spülküche)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Lüftung und Abluft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Theke und Bar (Zapfanlage, Kühlung, Backbar)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Möbel (ca. 100 Plätze, Lounge)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Beleuchtung und Deko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Wand, Boden, Decke, Akustik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Gäste-WC Ausstattung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Kasse, Technik, Musik, WLAN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Terrasse (Holzdeck, Möbel, Heizstrahler)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Planung und Genehmigung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Eröffnung, Marketing, Warenerstbestückung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Puffer 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(im Modell: 150.000 €)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150.150 €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 Ausbau"/>
          <p:cNvSpPr/>
          <p:nvPr/>
        </p:nvSpPr>
        <p:spPr>
          <a:xfrm>
            <a:off x="8229600" y="1234440"/>
            <a:ext cx="341071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458200" y="141732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Baunebenkosten von 15 % fallen auf Möbel und Geräte nicht an, die Planung steckt als eigener Posten drin. Eine erste Schätzung für einen aufwendigeren Ausbau lag bei ca. 310.000 €, der Unterschied liegt vor allem bei Küche, Möbeln und Theke.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Mietdaten für Werlte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30" name="Tabelle Mie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Quelle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 für Werlte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ImmoScout24 (Wohnungen, Durchschnitt)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7,78 €/m²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miete-aktuell.de (Kaltmiete 2026)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8,13 €/m²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mietpreise.info (14 Inserate, Spanne 6,09–14,48 €)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9,58 €/m²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mietpreise.info (Neubau)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10,73–11,02 €/m²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Landkreis Emsland (ImmoScout24, Q2 2026)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8,10 €/m²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Annahme Miete"/>
          <p:cNvSpPr/>
          <p:nvPr/>
        </p:nvSpPr>
        <p:spPr>
          <a:xfrm>
            <a:off x="8778240" y="1371600"/>
            <a:ext cx="2862072" cy="3291840"/>
          </a:xfrm>
          <a:prstGeom prst="roundRect">
            <a:avLst>
              <a:gd name="adj" fmla="val 2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006840" y="1554480"/>
            <a:ext cx="2404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Modell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Wohnungen 11,18 €/m² Kaltmiete (950 € für 85 m², Bauherr, zentrale Lage), Büro 10 €/m². Gastro-Pacht 12 €/m² ohne Marktdaten.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9377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Quellen: mietpreise.info/mietspiegel/werlte, miete-aktuell.de, immobilienscout24.de (Kreis Emsland), Abruf Oktober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Vergleich: Variante A, B und C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31" name="Tabelle Varianten B und 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340 m², 2+Staffel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(Haupt): 540 m², 2+Staffel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C: 540 m², 3+Holz-Penthouse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Bruttofläche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2.080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Wohnfläche / Wohnungen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444 m² / 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725 m² / 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1.140 m² / ca. 13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/ Büro im EG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 m² / 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 m² / 150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 m² / 150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2.716.271 €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4.108.116 €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5.474.316 €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pro Monat (ein Kredit)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10.345 €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20.836 €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bei 50.000 € Umsatz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+9.687 €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+7.905 €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+6.883 €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Break-even-Umsatz Gastro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24.081 €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27.432 €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bei 4,0 % Zins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+7.864 €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+5.152 €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+3.217 €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 je m² Wohnfläche, Regelgeschoss / 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3.701 € / 3.590 €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3.492 € / 3.419 €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3.440 € / 3.360 €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85-m²-Wohnung im Regelgeschoss: Ergebnis (eigener Kredit)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Preis-Lücke je 85-m²-Wohnung im Regelgeschoss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103.223 €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85.390 €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80.985 €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 A, B und C"/>
          <p:cNvSpPr/>
          <p:nvPr/>
        </p:nvSpPr>
        <p:spPr>
          <a:xfrm>
            <a:off x="9326880" y="1280160"/>
            <a:ext cx="2313432" cy="4572000"/>
          </a:xfrm>
          <a:prstGeom prst="roundRect">
            <a:avLst>
              <a:gd name="adj" fmla="val 3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509760" y="1463040"/>
            <a:ext cx="1947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Annahmen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 540 m² (Gastro 290 m², Büro 150 m²), Regelgeschosse je 540 m², Staffel 460 m² in Holzbau mit 72 m² schmaler Terrasse. Büro 10 €/m², Wohnen 11,18 €/m².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klären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Baufenster, zwei Vollgeschosse, bei C drei Vollgeschosse und ca. 13 m Höhe statt 12 m, deutlich mehr Stellplätze.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e Mitte Werlte">
  <a:themeElements>
    <a:clrScheme name="Neue Mitte Werlte">
      <a:dk1>
        <a:srgbClr val="1F2421"/>
      </a:dk1>
      <a:lt1>
        <a:srgbClr val="FFFFFF"/>
      </a:lt1>
      <a:dk2>
        <a:srgbClr val="2F4A3E"/>
      </a:dk2>
      <a:lt2>
        <a:srgbClr val="F1F0EE"/>
      </a:lt2>
      <a:accent1>
        <a:srgbClr val="8C3B32"/>
      </a:accent1>
      <a:accent2>
        <a:srgbClr val="2F4A3E"/>
      </a:accent2>
      <a:accent3>
        <a:srgbClr val="C49A45"/>
      </a:accent3>
      <a:accent4>
        <a:srgbClr val="5B6770"/>
      </a:accent4>
      <a:accent5>
        <a:srgbClr val="2E7D5B"/>
      </a:accent5>
      <a:accent6>
        <a:srgbClr val="B3261E"/>
      </a:accent6>
      <a:hlink>
        <a:srgbClr val="8C3B32"/>
      </a:hlink>
      <a:folHlink>
        <a:srgbClr val="5B6770"/>
      </a:folHlink>
    </a:clrScheme>
    <a:fontScheme name="Neue Mitte Werlt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 Mitte Werlte – Baufeld 3: Gastro, Büro und 8 Wohnungen</dc:title>
  <dc:subject>PptxGenJS Presentation</dc:subject>
  <dc:creator>Bessam Hasso</dc:creator>
  <cp:lastModifiedBy>Bessam Hasso</cp:lastModifiedBy>
  <cp:revision>1</cp:revision>
  <dcterms:created xsi:type="dcterms:W3CDTF">2026-10-16T06:33:24Z</dcterms:created>
  <dcterms:modified xsi:type="dcterms:W3CDTF">2026-10-16T06:33:24Z</dcterms:modified>
</cp:coreProperties>
</file>