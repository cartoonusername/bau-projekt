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Stellplätze</c:v>
                </c:pt>
              </c:strCache>
            </c:strRef>
          </c:tx>
          <c:spPr>
            <a:solidFill>
              <a:srgbClr val="8C3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3B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4A3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Bedarf (Annahme)</c:v>
                  </c:pt>
                  <c:pt idx="1">
                    <c:v>Platz auf dem Grundstück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F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Kosten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49A45"/>
              </a:solidFill>
              <a:effectLst/>
            </c:spPr>
          </c:dPt>
          <c:dPt>
            <c:idx val="1"/>
            <c:bubble3D val="0"/>
            <c:spPr>
              <a:solidFill>
                <a:srgbClr val="8C3B32"/>
              </a:solidFill>
              <a:effectLst/>
            </c:spPr>
          </c:dPt>
          <c:dPt>
            <c:idx val="2"/>
            <c:bubble3D val="0"/>
            <c:spPr>
              <a:solidFill>
                <a:srgbClr val="5B6770"/>
              </a:solidFill>
              <a:effectLst/>
            </c:spPr>
          </c:dPt>
          <c:dPt>
            <c:idx val="3"/>
            <c:bubble3D val="0"/>
            <c:spPr>
              <a:solidFill>
                <a:srgbClr val="2F4A3E"/>
              </a:solidFill>
              <a:effectLst/>
            </c:spPr>
          </c:dPt>
          <c:dPt>
            <c:idx val="4"/>
            <c:bubble3D val="0"/>
            <c:spPr>
              <a:solidFill>
                <a:srgbClr val="A8B0B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Grundstück</c:v>
                </c:pt>
                <c:pt idx="1">
                  <c:v>Bau</c:v>
                </c:pt>
                <c:pt idx="2">
                  <c:v>Baunebenkosten und Standard</c:v>
                </c:pt>
                <c:pt idx="3">
                  <c:v>Gastro-Ausbau</c:v>
                </c:pt>
                <c:pt idx="4">
                  <c:v>Finanzierung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236256</c:v>
                </c:pt>
                <c:pt idx="1">
                  <c:v>3465450</c:v>
                </c:pt>
                <c:pt idx="2">
                  <c:v>639375.525</c:v>
                </c:pt>
                <c:pt idx="3">
                  <c:v>214750</c:v>
                </c:pt>
                <c:pt idx="4">
                  <c:v>289674.180982452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42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42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421"/>
                </a:solidFill>
                <a:latin typeface="+mn-lt"/>
              </a:rPr>
              <a:t>Restschuld in € nach Jahren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Restschuld</c:v>
                </c:pt>
              </c:strCache>
            </c:strRef>
          </c:tx>
          <c:spPr>
            <a:solidFill>
              <a:srgbClr val="8C3B32"/>
            </a:solidFill>
            <a:ln w="38100" cap="flat">
              <a:solidFill>
                <a:srgbClr val="8C3B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8C3B32"/>
              </a:solidFill>
              <a:ln w="9525" cap="flat">
                <a:solidFill>
                  <a:srgbClr val="8C3B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</c:f>
              <c:multiLvlStrCache>
                <c:ptCount val="3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</c:lvl>
              </c:multiLvlStrCache>
            </c:multiLvl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4796290</c:v>
                </c:pt>
                <c:pt idx="1">
                  <c:v>4745377</c:v>
                </c:pt>
                <c:pt idx="2">
                  <c:v>4692706</c:v>
                </c:pt>
                <c:pt idx="3">
                  <c:v>4638213</c:v>
                </c:pt>
                <c:pt idx="4">
                  <c:v>4581834</c:v>
                </c:pt>
                <c:pt idx="5">
                  <c:v>4523501</c:v>
                </c:pt>
                <c:pt idx="6">
                  <c:v>4463143</c:v>
                </c:pt>
                <c:pt idx="7">
                  <c:v>4400688</c:v>
                </c:pt>
                <c:pt idx="8">
                  <c:v>4336060</c:v>
                </c:pt>
                <c:pt idx="9">
                  <c:v>4269180</c:v>
                </c:pt>
                <c:pt idx="10">
                  <c:v>4199968</c:v>
                </c:pt>
                <c:pt idx="11">
                  <c:v>4128339</c:v>
                </c:pt>
                <c:pt idx="12">
                  <c:v>4054206</c:v>
                </c:pt>
                <c:pt idx="13">
                  <c:v>3977478</c:v>
                </c:pt>
                <c:pt idx="14">
                  <c:v>3898060</c:v>
                </c:pt>
                <c:pt idx="15">
                  <c:v>3815856</c:v>
                </c:pt>
                <c:pt idx="16">
                  <c:v>3730763</c:v>
                </c:pt>
                <c:pt idx="17">
                  <c:v>3642678</c:v>
                </c:pt>
                <c:pt idx="18">
                  <c:v>3551490</c:v>
                </c:pt>
                <c:pt idx="19">
                  <c:v>3457088</c:v>
                </c:pt>
                <c:pt idx="20">
                  <c:v>3359353</c:v>
                </c:pt>
                <c:pt idx="21">
                  <c:v>3258164</c:v>
                </c:pt>
                <c:pt idx="22">
                  <c:v>3153395</c:v>
                </c:pt>
                <c:pt idx="23">
                  <c:v>3044914</c:v>
                </c:pt>
                <c:pt idx="24">
                  <c:v>2932587</c:v>
                </c:pt>
                <c:pt idx="25">
                  <c:v>2816271</c:v>
                </c:pt>
                <c:pt idx="26">
                  <c:v>2695820</c:v>
                </c:pt>
                <c:pt idx="27">
                  <c:v>2571083</c:v>
                </c:pt>
                <c:pt idx="28">
                  <c:v>2441902</c:v>
                </c:pt>
                <c:pt idx="29">
                  <c:v>2308113</c:v>
                </c:pt>
                <c:pt idx="30">
                  <c:v>2169547</c:v>
                </c:pt>
                <c:pt idx="31">
                  <c:v>2026028</c:v>
                </c:pt>
                <c:pt idx="32">
                  <c:v>1877372</c:v>
                </c:pt>
                <c:pt idx="33">
                  <c:v>1723390</c:v>
                </c:pt>
                <c:pt idx="34">
                  <c:v>1563885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Titelfolie. Das Bild ist eine Referenzstudie.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Zahlen stammen aus dem Rechenmodell Bankunterlagen_Baufeld3.xlsx und sind Planungsannahmen.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Quelle: Konzeptheft Neue Mitte Werlte (Seiten 13, 16 und 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Festsetzungen aus Bebauungsplan Nr. 123 (Entwurf). Zulässigkeit von Staffelgeschoss und Flachdach muss die Stadt schriftlich bestätigen.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Preise sind Annahmen und müssen durch Angebote der Zimmerei und des Bauunternehmens bestätigt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Schnitt schematisch. Hauptbaukörper bis 6,50 m, Staffelgeschoss bis ca. 9,60 m, Attika ca. 9,90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Schematische Skizzen, nicht maßstäblich genau. Aufteilung wird mit dem Architekten verfeinert.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Referenzstudie, rechts unsere Eckansicht als Skizze.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KI-Visualisierung, Planung folgt mit dem Gastro-Fachplaner. Details im Gastro-Konzept.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KI-Visualisierungen auf Basis der Skizzen, keine 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Bedarf nach groben Annahmen (1,5 pro Wohnung, 1 je 10 m² Gastraum bei ca. 370 m², 1 je 30 m² Büro). Die Stellplatzsatzung der Stadt gilt verbindlich.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Miete 11,18 €/m² (950 € für 85 m², Annahme des Bauherrn). Portale nennen für Neubau in Werlte ca. 10,7–11,0 €/m². Nebenkosten werden umgelegt.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Gastro-Flächen aus Plätzen und Richtwerten abgeleitet, Büromieten und Laufzeiten sind Annahmen (keine Büromarktdaten für Werlte gefunden).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KfW zahlt im Neubau keinen Zuschuss, sondern verbilligt den Zins. Beträge und Zinsen laut Ratgebern Oktober 2026, bei Hausbank und KfW bestätigen. Antrag über die Hausbank vor Baubeginn.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Baukosten 2.200 €/m² (Holz-Staffel 400 € günstiger) und 15 % Baunebenkosten sind Annahmen des Bauherrn und müssen durch Angebote von Bauunternehmen und Zimmerei bestätigt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Kein Eigenkapital. Die Hausbank finanziert den Rest und die Zinsen der Bau- und Anlaufzeit. Tilgungsfreie Anlaufzeit 12 Monate ist mit der Bank zu verhandeln.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Annuität: Rate = Darlehen × (Zins + 1 % Tilgung) / 12. Zinsbindung 10 Jahre, danach gleicher Zins angenommen. Die Rate gilt nach der tilgungsfreien Anlaufzeit.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Monatlicher Plan über 35 Jahre im Excel-Blatt Tilgungsplan. Hier nach Jahren, Anfangstilgung 1 %, gleicher Zins nach der Zinsbindung angenommen.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Gastro-Betrieb bei 95.635 € Umsatz und 30,5 % Marge vor Pacht, ohne Lohn des Bauherrn. Rücklagen 10 % von Miete und Pacht.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Frühstück und Mittag am Tag, Restaurant und Bar am Abend. Öffnungstage, Gäste und Bon sind Annahmen ohne Marktdaten für Werlte, Ruhetag Montag.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Gastro-Marge vor Pacht 30,5 % vom Umsatz (Branchen-Richtwert, nicht aus Werlte). Bei sehr niedrigem Umsatz drücken Fixkosten stärker, die Rechnung ist dort zu günstig.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Vereinfachtes Ertragswertverfahren nach ImmoWertV, getrennt nach Nutzung: Liegenschaftszins Wohnen 4,0 %, Büro 6,0 %, Gastro 6,5 %. Der verbindliche Beleihungswert kommt vom Gutachter der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Prognose: Miete, Pacht und Umsatz +1,5 % pro Jahr, Kapitaldienst konstant. Belastungstest vereinfacht, Hausbank rechnet mit eigenen Annahmen.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Marktdaten Werlte Q4 2026: Auslastung der Beherbergung 17,4 % (Emsland 36,2 %), Angebotspreis ca. 87 € pro Nacht, 89 % der Unterkünfte unter 100 €. Möblierung 600 €/m² im Kredit, Kostenquote 56 % vom Umsatz.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Miete von 11,18 €/m² ist eine Annahme des Bauherrn, Marktdaten für Werlte liegen darunter.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Zeitplan der Stadt aus dem Konzeptheft, Bauantrag und Förderzusagen sind meine 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Zahlen sind Planungsannahmen, keine Zusagen.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Prozentwerte sind Branchen-Richtwerte aus meiner Einschätzung, nicht aus Quellen für Werlte.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Ausgehend vom Zielbudget des Bauherrn (150.000 € für 150 Plätze) hochgerechnet auf 190 Plätze: 1.000 € je Platz. Büros: Vermieter-Ausbau 150 €/m² zusätzlich. Angebote müssen es bestätigen.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gibt keinen amtlichen Mietspiegel für Werlte, die Portale arbeiten mit kleinen Stichproben.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F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ußenansicht, modernes Haus mit Klinker und Glas-Erdgesch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MITTE WERLTE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7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Baufeld 3: Große Gastro und 8 Wohnungen</a:t>
            </a:r>
            <a:endParaRPr lang="en-US" sz="3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Businessplan für die Bank: Konzept, Finanzierung mit KfW-Krediten, Ertragswert und Abzahlungsplan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29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Bessam Hasso, Werlte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Bebauungsplan Nr. 123, 1. Änderung (Entwurf 25.08.2026)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Oktober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Vorhaben auf einen Blick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Kennzahl Gesamtkosten inkl. Finanzierung in Bau- und Anlaufzeit"/>
          <p:cNvSpPr/>
          <p:nvPr/>
        </p:nvSpPr>
        <p:spPr>
          <a:xfrm>
            <a:off x="548640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4,85 Mio. €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Gesamtkosten inkl. Finanzierung in Bau- und Anlaufzeit</a:t>
            </a:r>
            <a:endParaRPr lang="en-US" sz="1400" dirty="0"/>
          </a:p>
        </p:txBody>
      </p:sp>
      <p:sp>
        <p:nvSpPr>
          <p:cNvPr id="8" name="Kennzahl des Darlehens über KfW 297, 298, 299 (2,35 Mio. €)"/>
          <p:cNvSpPr/>
          <p:nvPr/>
        </p:nvSpPr>
        <p:spPr>
          <a:xfrm>
            <a:off x="3367278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50158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550158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Darlehens über KfW 297, 298, 299 (2,35 Mio. €)</a:t>
            </a:r>
            <a:endParaRPr lang="en-US" sz="1400" dirty="0"/>
          </a:p>
        </p:txBody>
      </p:sp>
      <p:sp>
        <p:nvSpPr>
          <p:cNvPr id="11" name="Kennzahl Kapitaldienst pro Monat (Mischzins 3,39 %, 1 % Tilgung)"/>
          <p:cNvSpPr/>
          <p:nvPr/>
        </p:nvSpPr>
        <p:spPr>
          <a:xfrm>
            <a:off x="6185916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68796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17.733 €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368796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Kapitaldienst pro Monat (Mischzins 3,39 %, 1 % Tilgung)</a:t>
            </a:r>
            <a:endParaRPr lang="en-US" sz="1400" dirty="0"/>
          </a:p>
        </p:txBody>
      </p:sp>
      <p:sp>
        <p:nvSpPr>
          <p:cNvPr id="14" name="Kennzahl Ergebnis pro Monat nach Kapitaldienst, ohne Lohn"/>
          <p:cNvSpPr/>
          <p:nvPr/>
        </p:nvSpPr>
        <p:spPr>
          <a:xfrm>
            <a:off x="9004554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7434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+18.954 €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187434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pro Monat nach Kapitaldienst, ohne Lohn</a:t>
            </a:r>
            <a:endParaRPr lang="en-US" sz="1400" dirty="0"/>
          </a:p>
        </p:txBody>
      </p:sp>
      <p:graphicFrame>
        <p:nvGraphicFramePr>
          <p:cNvPr id="3" name="Tabelle Eckda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Projekt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Grundstück / Grundfläche / BGF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 m² / 576 m² (32 × 18 m, GRZ-Maximum) / 1.650 m² (EG, 1. OG, Staffel)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Nutzung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im ganzen EG (ca. 510 m²), im 1. OG 2 Büro-Ankermieter (100 und 65 m²) und 3 Wohnungen, im Staffelgeschoss in Holzbau 5 Wohnungen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Finanzierung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 Fremdkapital, kein Eigenkapital, KfW 297/298/299 plus Hausbank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Kapitaldienstdeckung (DSCR)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2,07 gesamt, 0,71 nur Immobilie (Miete und Pacht)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Ertragswert / Beleihungsauslauf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2,88 Mio. € / 187 % (Darlehen zu Beleihungswert)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Ertrag trägt die Raten nur zusammen mit dem Gastro-Gewinn. Die Bank wird wegen des Ertragswerts zusätzliche Sicherheiten oder Eigenkapital verlangen, siehe Folie Ertragswert.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Eckgrundstück an der neuen Mitte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Fakt 1"/>
          <p:cNvSpPr/>
          <p:nvPr/>
        </p:nvSpPr>
        <p:spPr>
          <a:xfrm>
            <a:off x="548640" y="137160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960 m²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Baufeld 3, östlich des Rathauses, südlich der Planstraße</a:t>
            </a:r>
            <a:endParaRPr lang="en-US" sz="1400" dirty="0"/>
          </a:p>
        </p:txBody>
      </p:sp>
      <p:sp>
        <p:nvSpPr>
          <p:cNvPr id="8" name="Fakt 2"/>
          <p:cNvSpPr/>
          <p:nvPr/>
        </p:nvSpPr>
        <p:spPr>
          <a:xfrm>
            <a:off x="548640" y="265176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43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Mischgebiet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46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Gewerbe im EG erwünscht, Stellplätze auf dem Grundstück</a:t>
            </a:r>
            <a:endParaRPr lang="en-US" sz="1400" dirty="0"/>
          </a:p>
        </p:txBody>
      </p:sp>
      <p:sp>
        <p:nvSpPr>
          <p:cNvPr id="11" name="Fakt 3"/>
          <p:cNvSpPr/>
          <p:nvPr/>
        </p:nvSpPr>
        <p:spPr>
          <a:xfrm>
            <a:off x="548640" y="393192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Baureife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26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liegt vor, Baubeginn jederzeit möglich</a:t>
            </a:r>
            <a:endParaRPr lang="en-US" sz="1400" dirty="0"/>
          </a:p>
        </p:txBody>
      </p:sp>
      <p:sp>
        <p:nvSpPr>
          <p:cNvPr id="14" name="Zeitleiste"/>
          <p:cNvSpPr/>
          <p:nvPr/>
        </p:nvSpPr>
        <p:spPr>
          <a:xfrm>
            <a:off x="6263640" y="1508760"/>
            <a:ext cx="0" cy="40233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5" name="Punkt 1"/>
          <p:cNvSpPr/>
          <p:nvPr/>
        </p:nvSpPr>
        <p:spPr>
          <a:xfrm>
            <a:off x="6126480" y="141732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2026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Stellplatz alte Grundschule</a:t>
            </a:r>
            <a:endParaRPr lang="en-US" sz="1400" dirty="0"/>
          </a:p>
        </p:txBody>
      </p:sp>
      <p:sp>
        <p:nvSpPr>
          <p:cNvPr id="18" name="Punkt 2"/>
          <p:cNvSpPr/>
          <p:nvPr/>
        </p:nvSpPr>
        <p:spPr>
          <a:xfrm>
            <a:off x="6126480" y="228600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März 2027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Planstraße (Erschließung)</a:t>
            </a:r>
            <a:endParaRPr lang="en-US" sz="1400" dirty="0"/>
          </a:p>
        </p:txBody>
      </p:sp>
      <p:sp>
        <p:nvSpPr>
          <p:cNvPr id="21" name="Punkt 3"/>
          <p:cNvSpPr/>
          <p:nvPr/>
        </p:nvSpPr>
        <p:spPr>
          <a:xfrm>
            <a:off x="6126480" y="31546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 2027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Baubeginn</a:t>
            </a:r>
            <a:endParaRPr lang="en-US" sz="1400" dirty="0"/>
          </a:p>
        </p:txBody>
      </p:sp>
      <p:sp>
        <p:nvSpPr>
          <p:cNvPr id="24" name="Punkt 4"/>
          <p:cNvSpPr/>
          <p:nvPr/>
        </p:nvSpPr>
        <p:spPr>
          <a:xfrm>
            <a:off x="6126480" y="402336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Juli 2027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Kreisverkehr Loruper Straße</a:t>
            </a:r>
            <a:endParaRPr lang="en-US" sz="1400" dirty="0"/>
          </a:p>
        </p:txBody>
      </p:sp>
      <p:sp>
        <p:nvSpPr>
          <p:cNvPr id="27" name="Punkt 5"/>
          <p:cNvSpPr/>
          <p:nvPr/>
        </p:nvSpPr>
        <p:spPr>
          <a:xfrm>
            <a:off x="6126480" y="48920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2028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Marktplatz, Rathaus fertig und unsere Eröffnung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der Bebauungsplan vorgibt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graphicFrame>
        <p:nvGraphicFramePr>
          <p:cNvPr id="5" name="Tabelle B-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42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Festsetzung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 im B-Plan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Unser Entwurf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Grundflächenzahl (GRZ)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 → max. 576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 m² Grundfläche (60 %, GRZ-Maximum)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Vollgeschosse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zwei (II im Kreis)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 und 1. OG, dazu Staffelgeschoss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Traufhöhe / Höhe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6,50 m / 12,00 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Hauptbaukörper 6,50 m, gesamt ca. 9,90 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Dachform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laut Konzeptheft Mischgebiet, Details im 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Flachdach mit zurückgesetztem Staffelgeschoss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Baufenster (geschätzt)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 Plan geschätzt ca. 400–460 m², Stadt klären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32 × 18 m = 576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Stellplätze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auf dem Grundstück, ausreichende Anzahl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6–8, Rest siehe Stellplatzfolie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Klärungsbedarf"/>
          <p:cNvSpPr/>
          <p:nvPr/>
        </p:nvSpPr>
        <p:spPr>
          <a:xfrm>
            <a:off x="548640" y="4937760"/>
            <a:ext cx="110916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029200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Schriftlich klären: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Sind 576 m² Grundfläche zulässig (im Plan ist das Baufenster nach meiner Schätzung kleiner)? Zählt das Staffelgeschoss (ca. 498 m² in Holzbau, 86 % der Fläche darunter) als drittes Vollgeschoss? Ist die Flachdach-Lösung zulässig?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Staffelgeschoss in Holzbau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 und Stadt</a:t>
            </a:r>
            <a:endParaRPr lang="en-US" sz="1000" dirty="0"/>
          </a:p>
        </p:txBody>
      </p:sp>
      <p:sp>
        <p:nvSpPr>
          <p:cNvPr id="5" name="Kennzahl Staffelgeschoss in Holzbau, nur 0,8 m rundum zurückgesetzt"/>
          <p:cNvSpPr/>
          <p:nvPr/>
        </p:nvSpPr>
        <p:spPr>
          <a:xfrm>
            <a:off x="548640" y="1371600"/>
            <a:ext cx="351434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3148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498 m²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Staffelgeschoss in Holzbau, nur 0,8 m rundum zurückgesetzt</a:t>
            </a:r>
            <a:endParaRPr lang="en-US" sz="1400" dirty="0"/>
          </a:p>
        </p:txBody>
      </p:sp>
      <p:sp>
        <p:nvSpPr>
          <p:cNvPr id="8" name="Kennzahl Ersparnis gegenüber Massivbau (400 € je m², Annahme)"/>
          <p:cNvSpPr/>
          <p:nvPr/>
        </p:nvSpPr>
        <p:spPr>
          <a:xfrm>
            <a:off x="4337304" y="1371600"/>
            <a:ext cx="351434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0184" y="1508760"/>
            <a:ext cx="3148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199.200 €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520184" y="224028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Ersparnis gegenüber Massivbau (400 € je m², Annahme)</a:t>
            </a:r>
            <a:endParaRPr lang="en-US" sz="1400" dirty="0"/>
          </a:p>
        </p:txBody>
      </p:sp>
      <p:sp>
        <p:nvSpPr>
          <p:cNvPr id="11" name="Kennzahl schmale Dachterrasse rundum (ca. 0,8 m), nicht Teil der BGF"/>
          <p:cNvSpPr/>
          <p:nvPr/>
        </p:nvSpPr>
        <p:spPr>
          <a:xfrm>
            <a:off x="8125968" y="1371600"/>
            <a:ext cx="351434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08848" y="1508760"/>
            <a:ext cx="3148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 m²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308848" y="224028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schmale Dachterrasse rundum (ca. 0,8 m), nicht Teil der BGF</a:t>
            </a:r>
            <a:endParaRPr lang="en-US" sz="1400" dirty="0"/>
          </a:p>
        </p:txBody>
      </p:sp>
      <p:sp>
        <p:nvSpPr>
          <p:cNvPr id="14" name="Warum Holz oben"/>
          <p:cNvSpPr/>
          <p:nvPr/>
        </p:nvSpPr>
        <p:spPr>
          <a:xfrm>
            <a:off x="548640" y="3108960"/>
            <a:ext cx="1109167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291840"/>
            <a:ext cx="10543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und schneller: weniger Last auf dem Klinker-Geschoss, kürzere Bauzeit.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Partner aus dem Bekanntenkreis (Bauunternehmen unten, Zimmerei oben) können Preise und Termine gemeinsam angeben.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Holzbau hilft beim QNG-Nachweis und beim Effizienzhaus-40-Standard (KfW-Voraussetzung).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Brandschutz (Holzbau bis Gebäudeklasse 4, Aufzug und Treppenhaus massiv) und Schallschutz muss der Architekt nachweisen.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Zwei Geschosse plus Staffelgeschoss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Gelände"/>
          <p:cNvSpPr/>
          <p:nvPr/>
        </p:nvSpPr>
        <p:spPr>
          <a:xfrm>
            <a:off x="1280160" y="5852160"/>
            <a:ext cx="5486400" cy="548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chnitt EG"/>
          <p:cNvSpPr/>
          <p:nvPr/>
        </p:nvSpPr>
        <p:spPr>
          <a:xfrm>
            <a:off x="1554480" y="4892040"/>
            <a:ext cx="4937760" cy="877824"/>
          </a:xfrm>
          <a:prstGeom prst="rect">
            <a:avLst/>
          </a:prstGeom>
          <a:solidFill>
            <a:srgbClr val="F4D58F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chnitt OG"/>
          <p:cNvSpPr/>
          <p:nvPr/>
        </p:nvSpPr>
        <p:spPr>
          <a:xfrm>
            <a:off x="1554480" y="4069080"/>
            <a:ext cx="4937760" cy="822960"/>
          </a:xfrm>
          <a:prstGeom prst="rect">
            <a:avLst/>
          </a:prstGeom>
          <a:solidFill>
            <a:srgbClr val="9A403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chnitt Staffel"/>
          <p:cNvSpPr/>
          <p:nvPr/>
        </p:nvSpPr>
        <p:spPr>
          <a:xfrm>
            <a:off x="1554480" y="3218688"/>
            <a:ext cx="4498848" cy="850392"/>
          </a:xfrm>
          <a:prstGeom prst="rect">
            <a:avLst/>
          </a:prstGeom>
          <a:solidFill>
            <a:srgbClr val="7A5C3A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chnitt Dach"/>
          <p:cNvSpPr/>
          <p:nvPr/>
        </p:nvSpPr>
        <p:spPr>
          <a:xfrm>
            <a:off x="1371600" y="3136392"/>
            <a:ext cx="4864608" cy="82296"/>
          </a:xfrm>
          <a:prstGeom prst="rect">
            <a:avLst/>
          </a:prstGeom>
          <a:solidFill>
            <a:srgbClr val="D6D1C8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Brüstung"/>
          <p:cNvSpPr/>
          <p:nvPr/>
        </p:nvSpPr>
        <p:spPr>
          <a:xfrm>
            <a:off x="6053328" y="3767328"/>
            <a:ext cx="246888" cy="301752"/>
          </a:xfrm>
          <a:prstGeom prst="rect">
            <a:avLst/>
          </a:prstGeom>
          <a:solidFill>
            <a:srgbClr val="CFE0E8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554480" y="4892040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 große Gastro mit Bar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4069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OG · 2 Büros, 3 Wohnungen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3218688"/>
            <a:ext cx="44988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Staffelgeschoss · 5 Wohnungen</a:t>
            </a:r>
            <a:endParaRPr lang="en-US" sz="1400" dirty="0"/>
          </a:p>
        </p:txBody>
      </p:sp>
      <p:sp>
        <p:nvSpPr>
          <p:cNvPr id="14" name="Marke ca. 9,90 m"/>
          <p:cNvSpPr/>
          <p:nvPr/>
        </p:nvSpPr>
        <p:spPr>
          <a:xfrm>
            <a:off x="1097280" y="3136392"/>
            <a:ext cx="566928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48640" y="2953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9,90 m</a:t>
            </a:r>
            <a:endParaRPr lang="en-US" sz="1200" dirty="0"/>
          </a:p>
        </p:txBody>
      </p:sp>
      <p:sp>
        <p:nvSpPr>
          <p:cNvPr id="16" name="Marke 6,50 m"/>
          <p:cNvSpPr/>
          <p:nvPr/>
        </p:nvSpPr>
        <p:spPr>
          <a:xfrm>
            <a:off x="1097280" y="4069080"/>
            <a:ext cx="566928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48640" y="3886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6,50 m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5943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5943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</a:t>
            </a:r>
            <a:endParaRPr lang="en-US" sz="1200" dirty="0"/>
          </a:p>
        </p:txBody>
      </p:sp>
      <p:graphicFrame>
        <p:nvGraphicFramePr>
          <p:cNvPr id="7" name="Tabelle Fläch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463040"/>
          <a:ext cx="459943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8503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Ebene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Nutzung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ca. 510 m² mit Bar, Séparée und Küche, dazu Treppenhaus, Aufzug, Eingänge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Büro-Ankermieter (100 und 65 m²), 3 Wohnungen à ca. 107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Wohnungen à ca. 67 m², Holzbau, schmale Terrasse rundum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Wohnungen (655 m²), 2 Büros (165 m²)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7040880" y="4937760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BGF = Bruttogrundfläche, alle Geschossflächen zusammen. Das Staffelgeschoss in Holzbau springt rundum nur ca. 0,8 m zurück, so entsteht eine schmale Terrasse von ca. 77 m² um die Wohnungen.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Skizzen der Geschosse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619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Erdgeschoss</a:t>
            </a:r>
            <a:endParaRPr lang="en-US" sz="1800" dirty="0"/>
          </a:p>
        </p:txBody>
      </p:sp>
      <p:sp>
        <p:nvSpPr>
          <p:cNvPr id="6" name="Baukörper Erdgeschoss"/>
          <p:cNvSpPr/>
          <p:nvPr/>
        </p:nvSpPr>
        <p:spPr>
          <a:xfrm>
            <a:off x="548640" y="2011680"/>
            <a:ext cx="3619561" cy="221888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7" name="Raum Treppe, Aufzug"/>
          <p:cNvSpPr/>
          <p:nvPr/>
        </p:nvSpPr>
        <p:spPr>
          <a:xfrm>
            <a:off x="548640" y="2103120"/>
            <a:ext cx="452445" cy="2036003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03120"/>
            <a:ext cx="452445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Treppe, Aufzug</a:t>
            </a:r>
            <a:endParaRPr lang="en-US" sz="1100" dirty="0"/>
          </a:p>
        </p:txBody>
      </p:sp>
      <p:sp>
        <p:nvSpPr>
          <p:cNvPr id="9" name="Raum Fläche"/>
          <p:cNvSpPr/>
          <p:nvPr/>
        </p:nvSpPr>
        <p:spPr>
          <a:xfrm>
            <a:off x="1001085" y="2103120"/>
            <a:ext cx="3167116" cy="2036003"/>
          </a:xfrm>
          <a:prstGeom prst="rect">
            <a:avLst/>
          </a:prstGeom>
          <a:solidFill>
            <a:srgbClr val="F2D4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Raum Gastraum und Lounge ca. 160 Plätze"/>
          <p:cNvSpPr/>
          <p:nvPr/>
        </p:nvSpPr>
        <p:spPr>
          <a:xfrm>
            <a:off x="1283863" y="2385898"/>
            <a:ext cx="2714671" cy="848335"/>
          </a:xfrm>
          <a:prstGeom prst="rect">
            <a:avLst/>
          </a:prstGeom>
          <a:solidFill>
            <a:srgbClr val="E7BE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83863" y="2385898"/>
            <a:ext cx="2714671" cy="848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Gastraum und Lounge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160 Plätze</a:t>
            </a:r>
            <a:endParaRPr lang="en-US" sz="1100" dirty="0"/>
          </a:p>
        </p:txBody>
      </p:sp>
      <p:sp>
        <p:nvSpPr>
          <p:cNvPr id="12" name="Raum Bar"/>
          <p:cNvSpPr/>
          <p:nvPr/>
        </p:nvSpPr>
        <p:spPr>
          <a:xfrm>
            <a:off x="1905975" y="3369966"/>
            <a:ext cx="1696669" cy="180978"/>
          </a:xfrm>
          <a:prstGeom prst="rect">
            <a:avLst/>
          </a:prstGeom>
          <a:solidFill>
            <a:srgbClr val="3A3F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905975" y="3369966"/>
            <a:ext cx="1696669" cy="180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100" dirty="0"/>
          </a:p>
        </p:txBody>
      </p:sp>
      <p:sp>
        <p:nvSpPr>
          <p:cNvPr id="14" name="Raum Séparée 30 Plätze"/>
          <p:cNvSpPr/>
          <p:nvPr/>
        </p:nvSpPr>
        <p:spPr>
          <a:xfrm>
            <a:off x="1001085" y="3517011"/>
            <a:ext cx="791779" cy="622112"/>
          </a:xfrm>
          <a:prstGeom prst="rect">
            <a:avLst/>
          </a:prstGeom>
          <a:solidFill>
            <a:srgbClr val="8A6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1085" y="3517011"/>
            <a:ext cx="791779" cy="62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Séparée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Plätze</a:t>
            </a:r>
            <a:endParaRPr lang="en-US" sz="1100" dirty="0"/>
          </a:p>
        </p:txBody>
      </p:sp>
      <p:sp>
        <p:nvSpPr>
          <p:cNvPr id="16" name="Raum Küche"/>
          <p:cNvSpPr/>
          <p:nvPr/>
        </p:nvSpPr>
        <p:spPr>
          <a:xfrm>
            <a:off x="1905975" y="3686678"/>
            <a:ext cx="735223" cy="452445"/>
          </a:xfrm>
          <a:prstGeom prst="rect">
            <a:avLst/>
          </a:prstGeom>
          <a:solidFill>
            <a:srgbClr val="7E8A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905975" y="3686678"/>
            <a:ext cx="735223" cy="452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Küche</a:t>
            </a:r>
            <a:endParaRPr lang="en-US" sz="1100" dirty="0"/>
          </a:p>
        </p:txBody>
      </p:sp>
      <p:sp>
        <p:nvSpPr>
          <p:cNvPr id="18" name="Raum Lager"/>
          <p:cNvSpPr/>
          <p:nvPr/>
        </p:nvSpPr>
        <p:spPr>
          <a:xfrm>
            <a:off x="2641199" y="3686678"/>
            <a:ext cx="565556" cy="452445"/>
          </a:xfrm>
          <a:prstGeom prst="rect">
            <a:avLst/>
          </a:prstGeom>
          <a:solidFill>
            <a:srgbClr val="A6AD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641199" y="3686678"/>
            <a:ext cx="565556" cy="452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</a:t>
            </a:r>
            <a:endParaRPr lang="en-US" sz="1100" dirty="0"/>
          </a:p>
        </p:txBody>
      </p:sp>
      <p:sp>
        <p:nvSpPr>
          <p:cNvPr id="20" name="Raum WC"/>
          <p:cNvSpPr/>
          <p:nvPr/>
        </p:nvSpPr>
        <p:spPr>
          <a:xfrm>
            <a:off x="3206755" y="3686678"/>
            <a:ext cx="961446" cy="452445"/>
          </a:xfrm>
          <a:prstGeom prst="rect">
            <a:avLst/>
          </a:prstGeom>
          <a:solidFill>
            <a:srgbClr val="A6AD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06755" y="3686678"/>
            <a:ext cx="961446" cy="452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284696" y="1371600"/>
            <a:ext cx="3619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Obergeschoss</a:t>
            </a:r>
            <a:endParaRPr lang="en-US" sz="1800" dirty="0"/>
          </a:p>
        </p:txBody>
      </p:sp>
      <p:sp>
        <p:nvSpPr>
          <p:cNvPr id="23" name="Baukörper 1. Obergeschoss"/>
          <p:cNvSpPr/>
          <p:nvPr/>
        </p:nvSpPr>
        <p:spPr>
          <a:xfrm>
            <a:off x="4284696" y="2011680"/>
            <a:ext cx="3619561" cy="221888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24" name="Raum Treppe, Aufzug"/>
          <p:cNvSpPr/>
          <p:nvPr/>
        </p:nvSpPr>
        <p:spPr>
          <a:xfrm>
            <a:off x="4284696" y="2103120"/>
            <a:ext cx="452445" cy="2036003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84696" y="2103120"/>
            <a:ext cx="452445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Treppe, Aufzug</a:t>
            </a:r>
            <a:endParaRPr lang="en-US" sz="1100" dirty="0"/>
          </a:p>
        </p:txBody>
      </p:sp>
      <p:sp>
        <p:nvSpPr>
          <p:cNvPr id="26" name="Raum Büro 1 100 m²"/>
          <p:cNvSpPr/>
          <p:nvPr/>
        </p:nvSpPr>
        <p:spPr>
          <a:xfrm>
            <a:off x="4737141" y="2103120"/>
            <a:ext cx="701290" cy="2036003"/>
          </a:xfrm>
          <a:prstGeom prst="rect">
            <a:avLst/>
          </a:prstGeom>
          <a:solidFill>
            <a:srgbClr val="3F627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37141" y="2103120"/>
            <a:ext cx="701290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m²</a:t>
            </a:r>
            <a:endParaRPr lang="en-US" sz="1100" dirty="0"/>
          </a:p>
        </p:txBody>
      </p:sp>
      <p:sp>
        <p:nvSpPr>
          <p:cNvPr id="28" name="Raum Büro 2 65 m²"/>
          <p:cNvSpPr/>
          <p:nvPr/>
        </p:nvSpPr>
        <p:spPr>
          <a:xfrm>
            <a:off x="5438431" y="2103120"/>
            <a:ext cx="463756" cy="2036003"/>
          </a:xfrm>
          <a:prstGeom prst="rect">
            <a:avLst/>
          </a:prstGeom>
          <a:solidFill>
            <a:srgbClr val="5B7D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38431" y="2103120"/>
            <a:ext cx="463756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m²</a:t>
            </a:r>
            <a:endParaRPr lang="en-US" sz="1100" dirty="0"/>
          </a:p>
        </p:txBody>
      </p:sp>
      <p:sp>
        <p:nvSpPr>
          <p:cNvPr id="30" name="Raum WE 1 107 m²"/>
          <p:cNvSpPr/>
          <p:nvPr/>
        </p:nvSpPr>
        <p:spPr>
          <a:xfrm>
            <a:off x="5902187" y="2103120"/>
            <a:ext cx="667357" cy="2036003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902187" y="2103120"/>
            <a:ext cx="667357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m²</a:t>
            </a:r>
            <a:endParaRPr lang="en-US" sz="1100" dirty="0"/>
          </a:p>
        </p:txBody>
      </p:sp>
      <p:sp>
        <p:nvSpPr>
          <p:cNvPr id="32" name="Raum WE 2 107 m²"/>
          <p:cNvSpPr/>
          <p:nvPr/>
        </p:nvSpPr>
        <p:spPr>
          <a:xfrm>
            <a:off x="6569543" y="2103120"/>
            <a:ext cx="667357" cy="2036003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69543" y="2103120"/>
            <a:ext cx="667357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m²</a:t>
            </a:r>
            <a:endParaRPr lang="en-US" sz="1100" dirty="0"/>
          </a:p>
        </p:txBody>
      </p:sp>
      <p:sp>
        <p:nvSpPr>
          <p:cNvPr id="34" name="Raum WE 3 107 m²"/>
          <p:cNvSpPr/>
          <p:nvPr/>
        </p:nvSpPr>
        <p:spPr>
          <a:xfrm>
            <a:off x="7236900" y="2103120"/>
            <a:ext cx="667357" cy="2036003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236900" y="2103120"/>
            <a:ext cx="667357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m²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8020751" y="1371600"/>
            <a:ext cx="3619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 (Holzbau)</a:t>
            </a:r>
            <a:endParaRPr lang="en-US" sz="1800" dirty="0"/>
          </a:p>
        </p:txBody>
      </p:sp>
      <p:sp>
        <p:nvSpPr>
          <p:cNvPr id="37" name="Baukörper Staffel (Holzbau)"/>
          <p:cNvSpPr/>
          <p:nvPr/>
        </p:nvSpPr>
        <p:spPr>
          <a:xfrm>
            <a:off x="8020751" y="2011680"/>
            <a:ext cx="3619561" cy="221888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38" name="Raum Fläche"/>
          <p:cNvSpPr/>
          <p:nvPr/>
        </p:nvSpPr>
        <p:spPr>
          <a:xfrm>
            <a:off x="8020751" y="2103120"/>
            <a:ext cx="3619561" cy="2036003"/>
          </a:xfrm>
          <a:prstGeom prst="rect">
            <a:avLst/>
          </a:prstGeom>
          <a:solidFill>
            <a:srgbClr val="C9C4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aum Treppe"/>
          <p:cNvSpPr/>
          <p:nvPr/>
        </p:nvSpPr>
        <p:spPr>
          <a:xfrm>
            <a:off x="8111240" y="2193609"/>
            <a:ext cx="384578" cy="1855025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111240" y="2193609"/>
            <a:ext cx="384578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</a:t>
            </a:r>
            <a:endParaRPr lang="en-US" sz="1100" dirty="0"/>
          </a:p>
        </p:txBody>
      </p:sp>
      <p:sp>
        <p:nvSpPr>
          <p:cNvPr id="41" name="Raum WE 4 67 m²"/>
          <p:cNvSpPr/>
          <p:nvPr/>
        </p:nvSpPr>
        <p:spPr>
          <a:xfrm>
            <a:off x="8495818" y="2193609"/>
            <a:ext cx="610801" cy="1855025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95818" y="2193609"/>
            <a:ext cx="610801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m²</a:t>
            </a:r>
            <a:endParaRPr lang="en-US" sz="1100" dirty="0"/>
          </a:p>
        </p:txBody>
      </p:sp>
      <p:sp>
        <p:nvSpPr>
          <p:cNvPr id="43" name="Raum WE 5 67 m²"/>
          <p:cNvSpPr/>
          <p:nvPr/>
        </p:nvSpPr>
        <p:spPr>
          <a:xfrm>
            <a:off x="9106619" y="2193609"/>
            <a:ext cx="610801" cy="1855025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106619" y="2193609"/>
            <a:ext cx="610801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m²</a:t>
            </a:r>
            <a:endParaRPr lang="en-US" sz="1100" dirty="0"/>
          </a:p>
        </p:txBody>
      </p:sp>
      <p:sp>
        <p:nvSpPr>
          <p:cNvPr id="45" name="Raum WE 6 67 m²"/>
          <p:cNvSpPr/>
          <p:nvPr/>
        </p:nvSpPr>
        <p:spPr>
          <a:xfrm>
            <a:off x="9717420" y="2193609"/>
            <a:ext cx="610801" cy="1855025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17420" y="2193609"/>
            <a:ext cx="610801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m²</a:t>
            </a:r>
            <a:endParaRPr lang="en-US" sz="1100" dirty="0"/>
          </a:p>
        </p:txBody>
      </p:sp>
      <p:sp>
        <p:nvSpPr>
          <p:cNvPr id="47" name="Raum WE 7 67 m²"/>
          <p:cNvSpPr/>
          <p:nvPr/>
        </p:nvSpPr>
        <p:spPr>
          <a:xfrm>
            <a:off x="10328221" y="2193609"/>
            <a:ext cx="610801" cy="1855025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328221" y="2193609"/>
            <a:ext cx="610801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m²</a:t>
            </a:r>
            <a:endParaRPr lang="en-US" sz="1100" dirty="0"/>
          </a:p>
        </p:txBody>
      </p:sp>
      <p:sp>
        <p:nvSpPr>
          <p:cNvPr id="49" name="Raum WE 8 67 m²"/>
          <p:cNvSpPr/>
          <p:nvPr/>
        </p:nvSpPr>
        <p:spPr>
          <a:xfrm>
            <a:off x="10939022" y="2193609"/>
            <a:ext cx="610801" cy="1855025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939022" y="2193609"/>
            <a:ext cx="610801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m²</a:t>
            </a:r>
            <a:endParaRPr lang="en-US" sz="1100" dirty="0"/>
          </a:p>
        </p:txBody>
      </p:sp>
      <p:sp>
        <p:nvSpPr>
          <p:cNvPr id="51" name="Hinweis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77240" y="49834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Grundfläche 32 × 18 m = 576 m² (GRZ-Maximum 0,6). Die Gastro nutzt das ganze EG (ca. 510 m²), Treppenhaus und Aufzug liegen am Westende und erschließen Büros und Wohnungen getrennt von der Gastro. Im 1. OG liegen die zwei Büro-Ankermieter und 3 Wohnungen, die Staffel in Holzbau hat ca. 498 m² BGF mit 5 Wohnungen, die beige Fläche ist die schmale Terrasse (ca. 77 m²).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Modern, Klinker, Milchglas und Staffelgeschoss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Visualisierung Außenansic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3008376"/>
          </a:xfrm>
          <a:prstGeom prst="rect">
            <a:avLst/>
          </a:prstGeom>
        </p:spPr>
      </p:pic>
      <p:pic>
        <p:nvPicPr>
          <p:cNvPr id="6" name="Image 1" descr="Eckansicht als Skizze: Flachdach mit Staffelgeschoss, Balkone, vollverglastes Erdgeschos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394960" cy="337413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4343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KI-Visualisierung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6217920" y="4681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Skizze (Eckansicht)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Klinker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dunkel, Langformat, passend zum Umfeld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333756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Staffelgeschoss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333756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Holzbau, Terrasse rundum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Balkone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12648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bodentiefe Fenster, Milchglas-Brüstungen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91540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Glas-EG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91540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 mit Bar, Terrasse und Vordach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Große Gastro mit Bar, neu und modern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Visualisierung Gastraum mit 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498080" cy="4215384"/>
          </a:xfrm>
          <a:prstGeom prst="rect">
            <a:avLst/>
          </a:prstGeom>
        </p:spPr>
      </p:pic>
      <p:pic>
        <p:nvPicPr>
          <p:cNvPr id="6" name="Image 1" descr="Visualisierung B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280160"/>
            <a:ext cx="3319272" cy="186537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321040" y="338328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190 Plätze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8321040" y="374904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innen (160 im Gastraum, 30 im Séparée), plus ca. 60 auf der Terrasse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8321040" y="425196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8321040" y="461772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Barhocker, Polsterbänke, Backbar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8321040" y="512064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548640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Olivgrün, Cognac-Samt, Bordeaux, Eiche, schwarzer Stahl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Visualisierungen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Visualisierung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514344" cy="2080260"/>
          </a:xfrm>
          <a:prstGeom prst="rect">
            <a:avLst/>
          </a:prstGeom>
        </p:spPr>
      </p:pic>
      <p:pic>
        <p:nvPicPr>
          <p:cNvPr id="6" name="Image 1" descr="Visualisierung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04" y="1325880"/>
            <a:ext cx="3514344" cy="2080260"/>
          </a:xfrm>
          <a:prstGeom prst="rect">
            <a:avLst/>
          </a:prstGeom>
        </p:spPr>
      </p:pic>
      <p:pic>
        <p:nvPicPr>
          <p:cNvPr id="7" name="Image 2" descr="Visualisierung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968" y="1325880"/>
            <a:ext cx="3514344" cy="2080260"/>
          </a:xfrm>
          <a:prstGeom prst="rect">
            <a:avLst/>
          </a:prstGeom>
        </p:spPr>
      </p:pic>
      <p:pic>
        <p:nvPicPr>
          <p:cNvPr id="8" name="Image 3" descr="Visualisierung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80460"/>
            <a:ext cx="3514344" cy="2080260"/>
          </a:xfrm>
          <a:prstGeom prst="rect">
            <a:avLst/>
          </a:prstGeom>
        </p:spPr>
      </p:pic>
      <p:pic>
        <p:nvPicPr>
          <p:cNvPr id="9" name="Image 4" descr="Visualisierung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304" y="3680460"/>
            <a:ext cx="3514344" cy="208026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KI-generierte Visualisierungen zur Orientierung, Gestalt und Materialien. Fassadenteilung, Länge (32 m) und Büro-Fenster im 1. OG weichen im Detail von den Skizzen ab, Maße folgen mit dem Architekten.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Stellplätze sind der Knackpunkt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graphicFrame>
        <p:nvGraphicFramePr>
          <p:cNvPr id="5" name="Diagramm Stellplätze" descr=""/>
          <p:cNvGraphicFramePr/>
          <p:nvPr/>
        </p:nvGraphicFramePr>
        <p:xfrm>
          <a:off x="548640" y="137160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Vorschlag für die Stadt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187452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Bedarf ca. 55 Stellplätze, auf dem Grundstück passen bei 576 m² Gebäude nur ca. 6–8.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Restplätze auf der öffentlichen Parkfläche nebenan (im Plan eingezeichnet) per Vereinbarung nutzen, besonders am Abend.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 Ablöse statt Bau, die Höhe muss die Stadt nennen.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Klären, ob der 10 m breite Grünstreifen teils befestigt werden darf.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Flächen und Mieten: Wohnungen, Büros und Gastro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3" name="Tabelle Mie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1463040"/>
                <a:gridCol w="1645920"/>
                <a:gridCol w="1828800"/>
                <a:gridCol w="176479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Einheit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Geschoss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 je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Kaltmiete /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Kaltmiete /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14.351 €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14.351 €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14.351 €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66,8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8.959 €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66,8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8.959 €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66,8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8.959 €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66,8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8.959 €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66,8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8.959 €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Wohnen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655,0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87.847 €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(Pacht 10 €/m²)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Büro 1 (Ankermieter)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Büro 2 (Ankermieter)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Rohertrag gesamt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14.021 €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168.247 €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Gewerbeflächen: große Gastro und zwei Ankermieter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4" name="Tabelle Gastro Bedar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Gastro-Flächenbedarf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Gastraum inkl. Lounge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 Plätze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Séparée (Feiern)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Plätze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und Theken-Zone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Küche mit Spülküche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Lager, Kühlung, Anlieferung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WC (Herren, Damen, barrierefrei)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Eingang, Garderobe, Flure, Technik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gesamt (ca. 190 Plätze)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elle Ankermiet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4223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1005840"/>
                <a:gridCol w="11247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Ankermieter Büro (1. OG)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 /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 /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Büro 1: Versicherungsgesellschaft o. ä.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Büro 2: Makler o. ä.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Büro, 10 Jahre fest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Wirkung"/>
          <p:cNvSpPr/>
          <p:nvPr/>
        </p:nvSpPr>
        <p:spPr>
          <a:xfrm>
            <a:off x="6217920" y="3383280"/>
            <a:ext cx="5422392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446520" y="3520440"/>
            <a:ext cx="49651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Ankermieter: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Büros bringen 19.200 € im Jahr über 10 Jahre (Indexmiete, zusammen 0,21 Mio. €) und decken 8 % des Kapitaldienstes. Zusammen mit den Wohnungen decken die langfristigen Mieten 45 %, den Rest tragen Pacht und Gastro-Gewinn.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 Plätze auf 510 m² (2,7 m² je Platz), Pacht 5 % vom Umsatz.</a:t>
            </a:r>
            <a:endParaRPr lang="en-US" sz="125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9834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EG gehört ganz der Gastro, die Büros liegen im 1. OG mit Aufzug und eigenem Eingang (Versicherung, Makler). Die Grundfläche ist auf das Maximum der GRZ (576 m²) vergrößert.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KfW-Kredite 297, 298 und 299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 und Stadt</a:t>
            </a:r>
            <a:endParaRPr lang="en-US" sz="1000" dirty="0"/>
          </a:p>
        </p:txBody>
      </p:sp>
      <p:graphicFrame>
        <p:nvGraphicFramePr>
          <p:cNvPr id="15" name="Tabelle Kf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560320"/>
                <a:gridCol w="2651760"/>
                <a:gridCol w="1554480"/>
                <a:gridCol w="13075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Wofür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Rahmen (mit QNG)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 Projekt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 (Annahme)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297 Klimafreundlicher Neubau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selbst genutzte Wohnungen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bis 150.000 € je Wohnung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298 Klimafreundlicher Neubau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vermietete Wohnungen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bis 150.000 € je Wohnung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299 Klimafreundlicher Neubau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und Büros (Nichtwohngebäude)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bis 2.000 € je m² Nettogrundfläche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Hausbank (Rest)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Restfinanzierung inkl. Bauzeitzinsen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2.498.006 €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Voraussetzungen"/>
          <p:cNvSpPr/>
          <p:nvPr/>
        </p:nvSpPr>
        <p:spPr>
          <a:xfrm>
            <a:off x="548640" y="3794760"/>
            <a:ext cx="1109167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3931920"/>
            <a:ext cx="10543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Voraussetzungen: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Effizienzhaus 40 (Gastro: Effizienzgebäude 40), QNG-Zertifikat für den vollen Rahmen, Heizung ohne Öl, Gas und Biomasse (z. B. Wärmepumpe), Energieeffizienz-Experte, Antrag vor Baubeginn über die Hausbank.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Gemischte Nutzung: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Wohnteil (297/298) und Gastro (299) werden getrennt gefördert. Kreditrahmen insgesamt 2.347.500 €, das sind 48 % des Darlehens. Die KfW-Zinsen schwanken in den Quellen zwischen 0,6 % und 3,05 %. Mehrkosten für den Standard angenommen mit 3 % (119.558 €).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Gesamtkosten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6" name="Tabelle Kos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066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011680"/>
                <a:gridCol w="1234440"/>
                <a:gridCol w="7772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Rechnung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Grundstück inkl. Steuer und Notar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 m² × 230 € + ca. 7 %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236.256 €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Bau, Massivbau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1.650 m² × 2.200 €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3.630.000 €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Abschlag Holzbau (Staffelgeschoss)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 m² × 400 € günstiger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−199.200 €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Dachterrasse rundum (schmal)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 m² × 450 €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34.650 €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Baunebenkosten (Architekt, Statik, Gebühren)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 vom 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519.818 €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Mehrkosten Effizienzhaus 40 und QNG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3 % auf Bau inkl. Nebenkosten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119.558 €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Ausbau Gastro (190 Plätze) und Büros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1.000 € je Platz, Büros 150 €/m²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214.750 €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Finanzierungskosten (Bauzeit, Bereitstellung, Anlaufzeit)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 Monate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289.674 €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4.845.506 €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Diagramm Kosten" descr=""/>
          <p:cNvGraphicFramePr/>
          <p:nvPr/>
        </p:nvGraphicFramePr>
        <p:xfrm>
          <a:off x="8138160" y="1280160"/>
          <a:ext cx="3657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sind ca. 2.937 € pro m² BGF.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Finanzierungsplan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7" name="Tabelle Herkunf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  <a:gridCol w="91440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Mittelherkunft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297 (selbst genutzte Wohnungen)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298 (vermietete Wohnungen)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299 (Nichtwohngebäude: Gastro und Büros)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Hausbank-Darlehen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2.498.006 €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Eigenkapital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Finanzierung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4.845.506 €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Finanzierungskosten"/>
          <p:cNvSpPr/>
          <p:nvPr/>
        </p:nvSpPr>
        <p:spPr>
          <a:xfrm>
            <a:off x="7772400" y="1371600"/>
            <a:ext cx="386791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01000" y="1554480"/>
            <a:ext cx="341071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Mischzins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3,39 % über alle Darlehen.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Bau- und Anlaufzeit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Monate Bau und 12 Monate Anlaufzeit kosten 289.674 € an Zinsen und Bereitstellungsgebühr, finanziert von der Hausbank.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17.733 € pro Monat (Zins plus 1 % Anfangstilgung).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5720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Kosten von 4.845.506 € sind komplett durch Fremdkapital gedeckt.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Zinsberechnung und Rate je Darlehen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8" name="Tabelle Zins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1097280"/>
                <a:gridCol w="1097280"/>
                <a:gridCol w="1828800"/>
                <a:gridCol w="185623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Darlehen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 bei Rate-Start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Tilgung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/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/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Wohnen (297 und 298)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Gastro (299)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45.900 €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Hausbank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2.498.006 €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10.408 €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124.900 €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4.845.506 €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3,39 %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17.733 €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2976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ersten Jahr nach der Anlaufzeit zahlst du 163.585 € Zinsen und 49.216 € Tilgung.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Zinsänderung nach 10 Jahren: +1 Prozentpunkt auf die Restschuld kostet ca. 3.558 € pro Monat mehr.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Abzahlungsplan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5" name="Diagramm Restschuld" descr=""/>
          <p:cNvGraphicFramePr/>
          <p:nvPr/>
        </p:nvGraphicFramePr>
        <p:xfrm>
          <a:off x="548640" y="1280160"/>
          <a:ext cx="62179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9" name="Tabelle Abzahlungs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280160"/>
          <a:ext cx="46908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005840"/>
                <a:gridCol w="112471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Tilgung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Restschuld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163.585 €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49.216 €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4.796.290 €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161.887 €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50.913 €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4.745.377 €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160.129 €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52.671 €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4.692.706 €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156.421 €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56.379 €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4.581.834 €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(Ende Zinsbindung)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145.921 €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66.879 €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4.269.180 €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133.383 €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79.418 €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3.898.060 €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118.398 €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94.403 €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3.457.088 €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100.473 €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112.328 €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2.932.587 €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79.012 €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133.789 €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2.308.113 €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53.296 €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159.505 €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1.563.885 €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10 Jahren Zinsbindung beträgt die Restschuld 4.269.180 €. Die Anschlussfinanzierung muss eingeplant werden.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Ertrag und Kapitaldienst pro Monat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0" name="Tabelle Cashflo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554480"/>
                <a:gridCol w="155448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Kaltmiete Wohnen (8 Wohnungen)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+7.321 €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+87.847 €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Büromieten (2 Ankermieter, 10 Jahre fest)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+1.600 €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Pacht Gastro (510 m² × 10 €)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Rücklagen (10 % von Miete, Büro, Pacht)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−1.402 €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−16.825 €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Nettoertrag Immobilie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+12.619 €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+151.422 €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Betriebsergebnis Gastro nach Pacht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+24.069 €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+288.824 €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Nettoertrag vor Kapitaldienst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+36.687 €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+440.246 €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Kapitaldienst (Zinsen und Tilgung)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−17.733 €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−212.800 €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nach Kapitaldienst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+18.954 €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+227.446 €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Kennzahlen"/>
          <p:cNvSpPr/>
          <p:nvPr/>
        </p:nvSpPr>
        <p:spPr>
          <a:xfrm>
            <a:off x="7863840" y="1371600"/>
            <a:ext cx="3776472" cy="4114800"/>
          </a:xfrm>
          <a:prstGeom prst="roundRect">
            <a:avLst>
              <a:gd name="adj" fmla="val 19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92440" y="1554480"/>
            <a:ext cx="33192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Kapitaldienstdeckung (DSCR)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 2,07, nur Immobilie 0,71, nur Wohnen und Büro 0,45. Banken verlangen meist mindestens 1,2.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Zinsdeckung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2,69.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Anfangsrendite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3,13 % auf die Gesamtkosten (Nettoertrag Immobilie).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den Gastro-Gewinn deckt die Immobilie allein die Raten nicht. Der Pachtvertrag mit einem tragfähigen Betreiber ist für die Bank entscheidend.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Gastro-Umsatz: Hauptfokus Abend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1" name="Tabelle Tagestei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640080"/>
                <a:gridCol w="914400"/>
                <a:gridCol w="731520"/>
                <a:gridCol w="1097280"/>
                <a:gridCol w="9144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Tagesteil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Gäste/Tag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Ø Bon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Umsatz/Monat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Frühstück werktags (Di–Fr 08:00–11:00)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Brunch am Wochenende (Sa, So 09:00–14:00)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Mittagstisch (Di–Fr 11:30–14:30)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Abendessen Restaurant (Di–So 17:30–22:00)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45.760 €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Di–Do (ab 21:00)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4.680 €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Fr, Sa (bis 01:00) (Cocktails, Wein, Bier, Musik)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Feiern, Live-Abende, Séparée (nach Absprache, 4 pro Monat)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Gastro-Umsatz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95.635 €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inordnung"/>
          <p:cNvSpPr/>
          <p:nvPr/>
        </p:nvSpPr>
        <p:spPr>
          <a:xfrm>
            <a:off x="8686800" y="1371600"/>
            <a:ext cx="2953512" cy="4297680"/>
          </a:xfrm>
          <a:prstGeom prst="roundRect">
            <a:avLst>
              <a:gd name="adj" fmla="val 24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869680" y="1554480"/>
            <a:ext cx="258775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Abend im Fokus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75 % des Umsatzes entstehen am Abend (Restaurant, Bar, Feiern), 25 % am Tag.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Plausibel?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6.000 € je Platz und Jahr, Branchen-Median Österreich ca. 12.000 €. Das Haus trägt sich ab 33.500 € Umsatz.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viel Umsatz braucht die Gastro?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2" name="Tabelle Gastro Umsat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Gewinn vor Pacht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Gewinn nach Pacht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+10.150 €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19.825 €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+14.725 €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+19.300 €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95.635 €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29.169 €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+24.069 €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33.550 €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+28.450 €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Break-even"/>
          <p:cNvSpPr/>
          <p:nvPr/>
        </p:nvSpPr>
        <p:spPr>
          <a:xfrm>
            <a:off x="7863840" y="1371600"/>
            <a:ext cx="3776472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92440" y="1554480"/>
            <a:ext cx="331927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 allein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ca. 16.700 € Umsatz deckt der Betrieb seine Pacht.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Haus insgesamt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ca. 33.500 € Umsatz sind alle Raten bezahlt.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937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Umsatz von 95.635 € entspricht ca. 6.000 € je Sitzplatz und Jahr (190 Plätze), der Branchen-Median in Österreich liegt bei ca. 12.000 €.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Ertragswert und Beleihung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3" name="Tabelle Ertragswe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Ertragswert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Rohertrag pro Jahr (Mieten und Pacht)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168.247 €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Bewirtschaftungskosten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−23.141 €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Reinertrag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145.106 €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Bodenwert (960 m² × 230 €)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Gebäudeertragswert (mittl. Vervielfältiger 19,9)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2.656.444 €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Ertragswert gesamt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2.877.244 €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davon Wohnen / Büro / Gastro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1,81 / 0,27 / 0,80 Mio.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elle Beleihu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523951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6733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Beleihung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Sachwert (Boden + Herstellungskosten)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4.325.626 €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Beleihungswert (niedrigerer Wert, −10 %)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2.589.520 €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 und Darlehen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4.845.506 €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Beleihungsauslauf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Ertragswert minus 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−1.968.262 €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 über 80 % Auslauf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2.773.890 €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0749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Mieten und die Pacht tragen einen Wert von 2,88 Mio. €, die Kosten liegen bei 4,85 Mio. €. Eine Bank beleiht üblicherweise nur bis ca. 80 % des Beleihungswerts. Für die Finanzierung braucht es deshalb zusätzliche Sicherheiten (Grundschulden auf weitere Immobilien, Bürgschaft) oder Eigenkapital in Höhe von ca. 2,77 Mio. €.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Prognose und Belastungstest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4" name="Tabelle Prognos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545336"/>
                <a:gridCol w="1545336"/>
                <a:gridCol w="1545336"/>
                <a:gridCol w="1545336"/>
                <a:gridCol w="1527048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Nettoertrag vor Kapitaldienst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440.246 €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453.729 €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467.626 €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481.950 €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504.267 €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Kapitaldienst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−212.800 €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−212.800 €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−212.800 €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−212.800 €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−212.800 €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nach Kapitaldienst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+18.954 €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+20.077 €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+21.235 €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+22.429 €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+24.289 €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DSCR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Restschuld Jahresende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4.796.290 €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4.692.706 €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4.581.834 €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4.463.143 €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4.269.180 €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7" name="Tabelle Belastungste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1737360"/>
                <a:gridCol w="1371600"/>
                <a:gridCol w="1947672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Belastungstest (pro Monat)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DSCR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zum 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+18.954 €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Anschlusszins nach 10 Jahren +1 Prozentpunkt (auf Restschuld)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+15.396 €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−3.558 €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Mieten Wohnen −10 %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+18.295 €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−659 €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Gastro-Umsatz −20 %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+13.120 €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−5.834 €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Gastro-Umsatz −40 %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+7.286 €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−11.667 €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Baukosten +10 % (Kredit steigt entsprechend)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+17.495 €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−1.459 €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Größerer Büro-Ankermieter zieht aus (Leerstand)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+18.099 €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−855 €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Beide Büros leer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+17.514 €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−1.440 €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fällt ganz aus (keine Pacht, kein Betriebsergebnis)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−9.705 €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−28.659 €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Prüfung: ein 60-m²-Apartment als Airbnb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5" name="Tabelle Airbn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011680"/>
                <a:gridCol w="2011680"/>
                <a:gridCol w="19476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Apartment 60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Werlte amtlich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Emsland-Schnitt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Optimistisch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Auslastung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17,4 %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pro Nacht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 Airbnb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 langfristige Miete pro Monat (60 m² × 11,18 €)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Möblierung 36.000 € (Kapitaldienst pro Monat)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Mehrertrag gegenüber langfristiger Miete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−544 €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</a:tbl>
          </a:graphicData>
        </a:graphic>
      </p:graphicFrame>
      <p:sp>
        <p:nvSpPr>
          <p:cNvPr id="6" name="Ergebnis"/>
          <p:cNvSpPr/>
          <p:nvPr/>
        </p:nvSpPr>
        <p:spPr>
          <a:xfrm>
            <a:off x="548640" y="4526280"/>
            <a:ext cx="1109167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461772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 lohnt sich in Werlte nicht. Erst ab ca. 63 % Auslastung wäre es so gut wie die langfristige Miete, in Werlte liegt sie amtlich bei 17 %. Die Wohnung bleibt langfristig vermietet.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Risiken und was wir dagegen tun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sp>
        <p:nvSpPr>
          <p:cNvPr id="5" name="Risiko 1"/>
          <p:cNvSpPr/>
          <p:nvPr/>
        </p:nvSpPr>
        <p:spPr>
          <a:xfrm>
            <a:off x="548640" y="137160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Sicherheiten und Beleihung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1168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Beleihungsauslauf 187 % bei 100 % Fremdfinanzierung. Gegenmaßnahme: Grundschulden auf weitere Immobilien, Bürgschaft oder Eigenkapital, Pachtvertrag mit Bonitätsnachweis.</a:t>
            </a:r>
            <a:endParaRPr lang="en-US" sz="1400" dirty="0"/>
          </a:p>
        </p:txBody>
      </p:sp>
      <p:sp>
        <p:nvSpPr>
          <p:cNvPr id="8" name="Risiko 2"/>
          <p:cNvSpPr/>
          <p:nvPr/>
        </p:nvSpPr>
        <p:spPr>
          <a:xfrm>
            <a:off x="6277356" y="137160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5956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Gastro-Umsatz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505956" y="201168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Haus insgesamt ab ca. 33.000 € Umsatz im Plus, bei Ausfall der Gastro fehlen ca. 28.659 € pro Monat, bei Auszug des großen Büro-Ankermieters ca. 855 €. Gegenmaßnahme: Konzept, erfahrener Betreiber, Pachtstaffel, Mietverträge über 10 Jahre mit Bonitätsprüfung.</a:t>
            </a:r>
            <a:endParaRPr lang="en-US" sz="1400" dirty="0"/>
          </a:p>
        </p:txBody>
      </p:sp>
      <p:sp>
        <p:nvSpPr>
          <p:cNvPr id="11" name="Risiko 3"/>
          <p:cNvSpPr/>
          <p:nvPr/>
        </p:nvSpPr>
        <p:spPr>
          <a:xfrm>
            <a:off x="548640" y="370332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8404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34340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KfW-Zinsen und Rahmen sind Stand Okt. 2026 unsicher, nach 10 Jahren ist der Folgezins offen. Gegenmaßnahme: Zusage vor Baubeginn, Forward-Darlehen, Tilgungsaussetzung.</a:t>
            </a:r>
            <a:endParaRPr lang="en-US" sz="1400" dirty="0"/>
          </a:p>
        </p:txBody>
      </p:sp>
      <p:sp>
        <p:nvSpPr>
          <p:cNvPr id="14" name="Risiko 4"/>
          <p:cNvSpPr/>
          <p:nvPr/>
        </p:nvSpPr>
        <p:spPr>
          <a:xfrm>
            <a:off x="6277356" y="370332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5956" y="38404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Genehmigung und Standard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505956" y="434340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576 m² Grundfläche, Staffelgeschoss und Flachdach müssen bestätigt werden, KfW verlangt Effizienzhaus 40 mit QNG. Gegenmaßnahme: Vorabstimmung, Energieeffizienz-Experte früh einbinden.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ich von Stadt und Bank brauche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4" name="Bedarf 1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Stadt: Genehmigung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576 m² Grundfläche, Staffelgeschoss, Flachdach und Höhe schriftlich bestätigen</a:t>
            </a:r>
            <a:endParaRPr lang="en-US" sz="1400" dirty="0"/>
          </a:p>
        </p:txBody>
      </p:sp>
      <p:sp>
        <p:nvSpPr>
          <p:cNvPr id="7" name="Bedarf 2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05956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Stadt: Stellplätze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05956" y="196596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Mitnutzung der öffentlichen Parkfläche oder faire Ablöse</a:t>
            </a:r>
            <a:endParaRPr lang="en-US" sz="1400" dirty="0"/>
          </a:p>
        </p:txBody>
      </p:sp>
      <p:sp>
        <p:nvSpPr>
          <p:cNvPr id="10" name="Bedarf 3"/>
          <p:cNvSpPr/>
          <p:nvPr/>
        </p:nvSpPr>
        <p:spPr>
          <a:xfrm>
            <a:off x="548640" y="288036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01752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Stadt: Grundstück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7472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Kaufpreis 230 €/m² mit Baureife, Reservierung bis zur Finanzierungszusage</a:t>
            </a:r>
            <a:endParaRPr lang="en-US" sz="1400" dirty="0"/>
          </a:p>
        </p:txBody>
      </p:sp>
      <p:sp>
        <p:nvSpPr>
          <p:cNvPr id="13" name="Bedarf 4"/>
          <p:cNvSpPr/>
          <p:nvPr/>
        </p:nvSpPr>
        <p:spPr>
          <a:xfrm>
            <a:off x="6277356" y="288036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5956" y="301752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Bank: Darlehen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05956" y="347472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Finanzierung von 4,85 Mio. € mit KfW 297/298/299 und tilgungsfreier Anlaufzeit von 12 Monaten</a:t>
            </a:r>
            <a:endParaRPr lang="en-US" sz="1400" dirty="0"/>
          </a:p>
        </p:txBody>
      </p:sp>
      <p:sp>
        <p:nvSpPr>
          <p:cNvPr id="16" name="Bedarf 5"/>
          <p:cNvSpPr/>
          <p:nvPr/>
        </p:nvSpPr>
        <p:spPr>
          <a:xfrm>
            <a:off x="548640" y="438912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5262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Bank: Sicherheiten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98348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Gespräch über zusätzliche Grundschulden oder Bürgschaft wegen des Beleihungsauslaufs</a:t>
            </a:r>
            <a:endParaRPr lang="en-US" sz="1400" dirty="0"/>
          </a:p>
        </p:txBody>
      </p:sp>
      <p:sp>
        <p:nvSpPr>
          <p:cNvPr id="19" name="Bedarf 6"/>
          <p:cNvSpPr/>
          <p:nvPr/>
        </p:nvSpPr>
        <p:spPr>
          <a:xfrm>
            <a:off x="6277356" y="438912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05956" y="45262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Bank: KfW-Antrag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05956" y="498348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Antrag für 297/298 und 299 vor Baubeginn über die Hausbank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Nächste Schritte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Schritt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89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 2026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1389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Gespräch mit der Stadt: Preis, Förderung, Stellplätze</a:t>
            </a:r>
            <a:endParaRPr lang="en-US" sz="1600" dirty="0"/>
          </a:p>
        </p:txBody>
      </p:sp>
      <p:sp>
        <p:nvSpPr>
          <p:cNvPr id="9" name="Schritt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167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2026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2167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Architekt, Baufenster, Höhen und Geschosse schriftlich klären</a:t>
            </a:r>
            <a:endParaRPr lang="en-US" sz="1600" dirty="0"/>
          </a:p>
        </p:txBody>
      </p:sp>
      <p:sp>
        <p:nvSpPr>
          <p:cNvPr id="13" name="Schritt 3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 2026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0" y="2944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Hausbank: Finanzierung, Anlaufzeit, KfW 297/298/299 und Sicherheiten klären</a:t>
            </a:r>
            <a:endParaRPr lang="en-US" sz="1600" dirty="0"/>
          </a:p>
        </p:txBody>
      </p:sp>
      <p:sp>
        <p:nvSpPr>
          <p:cNvPr id="17" name="Schritt 4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721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3721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Städtebaulicher Vertrag, Bauantrag, KfW-Antrag vor Baubeginn</a:t>
            </a:r>
            <a:endParaRPr lang="en-US" sz="1600" dirty="0"/>
          </a:p>
        </p:txBody>
      </p:sp>
      <p:sp>
        <p:nvSpPr>
          <p:cNvPr id="21" name="Schritt 5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4498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 2027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3200400" y="4498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Baubeginn, 15 Monate Bauzeit</a:t>
            </a:r>
            <a:endParaRPr lang="en-US" sz="1600" dirty="0"/>
          </a:p>
        </p:txBody>
      </p:sp>
      <p:sp>
        <p:nvSpPr>
          <p:cNvPr id="25" name="Schritt 6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5276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2028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200400" y="52760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Eröffnung zusammen mit der neuen Mitte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1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Anhang</a:t>
            </a:r>
            <a:endParaRPr lang="en-US" sz="4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49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Annahmen, Gastro-Kosten, Gastro-Ausbau, Mietdaten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Rechenannahmen und offene Punkte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Grundstück 960 m² × 230 € plus ca. 7 % (5 % Grunderwerbsteuer, ca. 2 % Notar)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1.650 m² BGF × 2.200 €, Staffel (498 m²) in Holzbau 400 €/m² günstiger, Terrasse 77 m² × 450 €, Baunebenkosten 15 %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Fremdfinanzierung, 1 % Anfangstilgung, tilgungsfreie Anlaufzeit 12 Monate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Bauzeit 15 Monate, Bereitstellungszins 3 % p. a. ab Monat 7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Zins KfW 297/298 2,5 %, KfW 299 3,0 %, Hausbank 4,0 % (Annahmen)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323076" y="137160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Gastro-Umsatz 95.635 € netto, Marge vor Pacht 30,5 %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Wohnungen (655 m²) zu 11,18 €/m² Kaltmiete, 2 Büros (165 m²) zu 9,50 und 10,00 €/m² (10 Jahre fest), Gastro-Pacht 10 €/m² auf 510 m²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Lohn des Bauherrn wird vorerst nicht gerechnet, Rücklagen 10 % der Miete und Pacht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KfW-Kredite statt Zuschuss, Antrag vor Baubeginn; Mehrkosten Effizienzhaus 40 und QNG 3 %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Nebenkosten (Grundsteuer, Versicherung, Betriebskosten) werden auf die Mieter umgelegt, die Hausverwaltung deckt die Rücklage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Offen: Baufenster, Staffelgeschoss, Höhen, Stellplatzsatzung, Zins nach 10 Jahren, Sicherheiten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Gastro: Kosten pro Monat bei 95.635 € Umsatz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31" name="Tabelle Gastro-Kos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2286000"/>
                <a:gridCol w="2404872"/>
              </a:tblGrid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Richtwert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Wareneinsatz (Einkauf Essen und Getränke)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28 %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26.778 €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 (ohne Chef-Lohn)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28.691 €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Pacht ans Haus (510 m² × 10 €)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Energie, Wasser, Müll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Reinigung, Wäsche, Verbrauchsmaterial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1.913 €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Werbung und Marketing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1,5 %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Reparaturen, Wartung, Kassensystem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1,5 %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Sonstiges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1,5 %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Versicherungen, GEMA, Gebühren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Steuerberater, Buchhaltung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71.568 €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Gewinn nach Pacht, vor Lohn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24.067 €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Gastro-Ausbau nach Posten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32" name="Tabelle Gastro-Ausb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3152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Küche (Herd, Kühlräume, Edelstahl, Spülküche)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Lüftung und Abluft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Theke und Bar (Zapfanlage, Kühlung, Backbar)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Möbel (ca. 190 Plätze, Lounge, Séparée)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Beleuchtung und Deko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Wand, Boden, Decke, Akustik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Gäste-WC Ausstattung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Kasse, Technik, Musik, WLAN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Terrasse (Holzdeck, Möbel, Heizstrahler, 60 Plätze)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Planung und Genehmigung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Eröffnung, Marketing, Warenerstbestückung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Puffer 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(im Modell: 190.000 €)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190.050 €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 Ausbau"/>
          <p:cNvSpPr/>
          <p:nvPr/>
        </p:nvSpPr>
        <p:spPr>
          <a:xfrm>
            <a:off x="8229600" y="1234440"/>
            <a:ext cx="341071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458200" y="141732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Baunebenkosten von 15 % fallen auf Möbel und Geräte nicht an, die Planung steckt als eigener Posten drin. Eine erste Schätzung für einen aufwendigeren Ausbau lag bei ca. 310.000 €. Für die große Gastro (510 m², 190 Plätze) sind 190.000 € angesetzt. Bei 250.000 € Ausbau steigt die Rate um ca. 228 € im Monat.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Mietdaten für Werlte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33" name="Tabelle Mie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Quelle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 für Werlte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ImmoScout24 (Wohnungen, Durchschnitt)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7,78 €/m²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miete-aktuell.de (Kaltmiete 2026)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8,13 €/m²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mietpreise.info (14 Inserate, Spanne 6,09–14,48 €)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9,58 €/m²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mietpreise.info (Neubau)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10,73–11,02 €/m²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Landkreis Emsland (ImmoScout24, Q2 2026)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8,10 €/m²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Annahme Miete"/>
          <p:cNvSpPr/>
          <p:nvPr/>
        </p:nvSpPr>
        <p:spPr>
          <a:xfrm>
            <a:off x="8778240" y="1371600"/>
            <a:ext cx="2862072" cy="3291840"/>
          </a:xfrm>
          <a:prstGeom prst="roundRect">
            <a:avLst>
              <a:gd name="adj" fmla="val 2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006840" y="1554480"/>
            <a:ext cx="2404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Modell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Wohnungen 11,18 €/m² Kaltmiete (950 € für 85 m², Bauherr, zentrale Lage). Büro 9,50–10,00 €/m², Gastro-Pacht 10 €/m², ohne Marktdaten.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9377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Quellen: mietpreise.info/mietspiegel/werlte, miete-aktuell.de, immobilienscout24.de (Kreis Emsland), Abruf Oktober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e Mitte Werlte">
  <a:themeElements>
    <a:clrScheme name="Neue Mitte Werlte">
      <a:dk1>
        <a:srgbClr val="1F2421"/>
      </a:dk1>
      <a:lt1>
        <a:srgbClr val="FFFFFF"/>
      </a:lt1>
      <a:dk2>
        <a:srgbClr val="2F4A3E"/>
      </a:dk2>
      <a:lt2>
        <a:srgbClr val="F1F0EE"/>
      </a:lt2>
      <a:accent1>
        <a:srgbClr val="8C3B32"/>
      </a:accent1>
      <a:accent2>
        <a:srgbClr val="2F4A3E"/>
      </a:accent2>
      <a:accent3>
        <a:srgbClr val="C49A45"/>
      </a:accent3>
      <a:accent4>
        <a:srgbClr val="5B6770"/>
      </a:accent4>
      <a:accent5>
        <a:srgbClr val="2E7D5B"/>
      </a:accent5>
      <a:accent6>
        <a:srgbClr val="B3261E"/>
      </a:accent6>
      <a:hlink>
        <a:srgbClr val="8C3B32"/>
      </a:hlink>
      <a:folHlink>
        <a:srgbClr val="5B6770"/>
      </a:folHlink>
    </a:clrScheme>
    <a:fontScheme name="Neue Mitte Werlt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 Mitte Werlte – Baufeld 3: Große Gastro und 8 Wohnungen</dc:title>
  <dc:subject>PptxGenJS Presentation</dc:subject>
  <dc:creator>Bessam Hasso</dc:creator>
  <cp:lastModifiedBy>Bessam Hasso</cp:lastModifiedBy>
  <cp:revision>1</cp:revision>
  <dcterms:created xsi:type="dcterms:W3CDTF">2026-10-19T17:40:14Z</dcterms:created>
  <dcterms:modified xsi:type="dcterms:W3CDTF">2026-10-19T17:40:14Z</dcterms:modified>
</cp:coreProperties>
</file>