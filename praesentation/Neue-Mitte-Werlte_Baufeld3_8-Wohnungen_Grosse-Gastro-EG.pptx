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Pt>
            <c:idx val="4"/>
            <c:bubble3D val="0"/>
            <c:spPr>
              <a:solidFill>
                <a:srgbClr val="A8B0B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Grundstück</c:v>
                </c:pt>
                <c:pt idx="1">
                  <c:v>Bau</c:v>
                </c:pt>
                <c:pt idx="2">
                  <c:v>Baunebenkosten und Standard</c:v>
                </c:pt>
                <c:pt idx="3">
                  <c:v>Gastro-Ausbau</c:v>
                </c:pt>
                <c:pt idx="4">
                  <c:v>Finanzierung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236256</c:v>
                </c:pt>
                <c:pt idx="1">
                  <c:v>3236400</c:v>
                </c:pt>
                <c:pt idx="2">
                  <c:v>597115.8</c:v>
                </c:pt>
                <c:pt idx="3">
                  <c:v>150000</c:v>
                </c:pt>
                <c:pt idx="4">
                  <c:v>271065.901923152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4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421"/>
                </a:solidFill>
                <a:latin typeface="+mn-lt"/>
              </a:rPr>
              <a:t>Restschuld in € nach Jahren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Restschuld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</c:f>
              <c:multiLvlStrCache>
                <c:ptCount val="3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</c:lvl>
              </c:multiLvlStrCache>
            </c:multiLvl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4445217</c:v>
                </c:pt>
                <c:pt idx="1">
                  <c:v>4398008</c:v>
                </c:pt>
                <c:pt idx="2">
                  <c:v>4349151</c:v>
                </c:pt>
                <c:pt idx="3">
                  <c:v>4298589</c:v>
                </c:pt>
                <c:pt idx="4">
                  <c:v>4246258</c:v>
                </c:pt>
                <c:pt idx="5">
                  <c:v>4192095</c:v>
                </c:pt>
                <c:pt idx="6">
                  <c:v>4136032</c:v>
                </c:pt>
                <c:pt idx="7">
                  <c:v>4078001</c:v>
                </c:pt>
                <c:pt idx="8">
                  <c:v>4017931</c:v>
                </c:pt>
                <c:pt idx="9">
                  <c:v>3955746</c:v>
                </c:pt>
                <c:pt idx="10">
                  <c:v>3891370</c:v>
                </c:pt>
                <c:pt idx="11">
                  <c:v>3824722</c:v>
                </c:pt>
                <c:pt idx="12">
                  <c:v>3755720</c:v>
                </c:pt>
                <c:pt idx="13">
                  <c:v>3684276</c:v>
                </c:pt>
                <c:pt idx="14">
                  <c:v>3610303</c:v>
                </c:pt>
                <c:pt idx="15">
                  <c:v>3533706</c:v>
                </c:pt>
                <c:pt idx="16">
                  <c:v>3454390</c:v>
                </c:pt>
                <c:pt idx="17">
                  <c:v>3372254</c:v>
                </c:pt>
                <c:pt idx="18">
                  <c:v>3287195</c:v>
                </c:pt>
                <c:pt idx="19">
                  <c:v>3199105</c:v>
                </c:pt>
                <c:pt idx="20">
                  <c:v>3107872</c:v>
                </c:pt>
                <c:pt idx="21">
                  <c:v>3013380</c:v>
                </c:pt>
                <c:pt idx="22">
                  <c:v>2915509</c:v>
                </c:pt>
                <c:pt idx="23">
                  <c:v>2814134</c:v>
                </c:pt>
                <c:pt idx="24">
                  <c:v>2709124</c:v>
                </c:pt>
                <c:pt idx="25">
                  <c:v>2600347</c:v>
                </c:pt>
                <c:pt idx="26">
                  <c:v>2487660</c:v>
                </c:pt>
                <c:pt idx="27">
                  <c:v>2370921</c:v>
                </c:pt>
                <c:pt idx="28">
                  <c:v>2249977</c:v>
                </c:pt>
                <c:pt idx="29">
                  <c:v>2124672</c:v>
                </c:pt>
                <c:pt idx="30">
                  <c:v>1994845</c:v>
                </c:pt>
                <c:pt idx="31">
                  <c:v>1860326</c:v>
                </c:pt>
                <c:pt idx="32">
                  <c:v>1720941</c:v>
                </c:pt>
                <c:pt idx="33">
                  <c:v>1576507</c:v>
                </c:pt>
                <c:pt idx="34">
                  <c:v>1426837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stammen aus dem Rechenmodell Bankunterlagen_Baufeld3.xlsx und sind Planungsannahmen.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KI-Visualisierung, Planung folgt mit dem Gastro-Fachplaner. Details im Gastro-Konzept.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330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 11,18 €/m² (950 € für 85 m², Annahme des Bauherrn). Portale nennen für Neubau in Werlte ca. 10,7–11,0 €/m². Nebenkosten werden umgelegt.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KfW zahlt im Neubau keinen Zuschuss, sondern verbilligt den Zins. Beträge und Zinsen laut Ratgebern Oktober 2026, bei Hausbank und KfW bestätigen. Antrag über die Hausbank vor Baubeginn.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Kein Eigenkapital. Die Hausbank finanziert den Rest und die Zinsen der Bau- und Anlaufzeit. Tilgungsfreie Anlaufzeit 12 Monate ist mit der Bank zu verhandeln.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Annuität: Rate = Darlehen × (Zins + 1 % Tilgung) / 12. Zinsbindung 10 Jahre, danach gleicher Zins angenommen. Die Rate gilt nach der tilgungsfreien Anlaufzeit.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Monatlicher Plan über 35 Jahre im Excel-Blatt Tilgungsplan. Hier nach Jahren, Anfangstilgung 1 %, gleicher Zins nach der Zinsbindung angenommen.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Gastro-Betrieb bei 50.000 € Umsatz und 30,5 % Marge vor Pacht, ohne Lohn des Bauherrn. Rücklagen 10 % von Miete und Pacht.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Bei sehr niedrigem Umsatz drücken Fixkosten stärker, die Rechnung ist dort zu günstig.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Vereinfachtes Ertragswertverfahren nach ImmoWertV: Liegenschaftszins 4,5 %, Restnutzungsdauer 80 Jahre. Der verbindliche Beleihungswert kommt vom Gutachter der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Prognose: Miete, Pacht und Umsatz +1,5 % pro Jahr, Kapitaldienst konstant. Belastungstest vereinfacht, Hausbank rechnet mit eigenen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Annahmen: Auslastung 50 % (Emsland laut Quelle ca. 37 %), Möblierung 600 €/m² im Kredit, Kostenquote 56 % vom Umsatz, Mindest-Mehrertrag 300 € pro Monat für den Mehraufwand.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11,18 €/m²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8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Businessplan für die Bank: Konzept, Finanzierung mit KfW-Krediten, Ertragswert und Abzahlungsplan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inkl. Finanzierung in Bau- und Anlaufzeit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4,49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inkl. Finanzierung in Bau- und Anlaufzeit</a:t>
            </a:r>
            <a:endParaRPr lang="en-US" sz="1400" dirty="0"/>
          </a:p>
        </p:txBody>
      </p:sp>
      <p:sp>
        <p:nvSpPr>
          <p:cNvPr id="8" name="Kennzahl des Darlehens über KfW 297, 298, 299 (1,98 Mio. €)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44 %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Darlehens über KfW 297, 298, 299 (1,98 Mio. €)</a:t>
            </a:r>
            <a:endParaRPr lang="en-US" sz="1400" dirty="0"/>
          </a:p>
        </p:txBody>
      </p:sp>
      <p:sp>
        <p:nvSpPr>
          <p:cNvPr id="11" name="Kennzahl Kapitaldienst pro Monat (Mischzins 3,43 %, 1 % Tilg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16.560 €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 pro Monat (Mischzins 3,43 %, 1 % Tilgung)</a:t>
            </a:r>
            <a:endParaRPr lang="en-US" sz="1400" dirty="0"/>
          </a:p>
        </p:txBody>
      </p:sp>
      <p:sp>
        <p:nvSpPr>
          <p:cNvPr id="14" name="Kennzahl Ergebnis pro Monat nach Kapitaldienst, ohne Lohn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+5.430 €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nach Kapitaldienst, ohne Lohn</a:t>
            </a:r>
            <a:endParaRPr lang="en-US" sz="1400" dirty="0"/>
          </a:p>
        </p:txBody>
      </p:sp>
      <p:graphicFrame>
        <p:nvGraphicFramePr>
          <p:cNvPr id="3" name="Tabelle Eckda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/ Grundfläche / 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/ 540 m² / 1.540 m² (EG, 1. OG, Staffel)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im ganzen EG (ca. 460 m²), 8 Wohnungen (725 m²) auf 1. OG und Staffelgeschoss in Holzbau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Finanzierung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 Fremdkapital, kein Eigenkapital, KfW 297/298/299 plus 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Kapitaldienstdeckung (DSCR)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1,33 gesamt, 0,74 nur Immobilie (Miete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/ 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3,06 Mio. € / 163 % (Darlehen zu Beleihungswert)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Ertrag trägt die Raten nur zusammen mit dem Gastro-Gewinn. Die Bank wird wegen des Ertragswerts zusätzliche Sicherheiten oder Eigenkapital verlangen, siehe Folie Ertragswert.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 m² Grundfläche (56 %)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Plan geschätzt ca. 400–460 m², Stadt klären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× 18 m = 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8–10,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 540 m² Grundfläche zulässig (im Plan ist das Baufenster nach meiner Schätzung kleiner)? Zählt das Staffelgeschoss (ca. 460 m² in Holzbau, 85 % der Fläche darunter) als drittes Vollgeschoss?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sp>
        <p:nvSpPr>
          <p:cNvPr id="5" name="Kennzahl Staffelgeschoss in Holzbau, nur 0,8 m rundum zurückgesetzt"/>
          <p:cNvSpPr/>
          <p:nvPr/>
        </p:nvSpPr>
        <p:spPr>
          <a:xfrm>
            <a:off x="548640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460 m²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in Holzbau, nur 0,8 m rundum zurückgesetzt</a:t>
            </a:r>
            <a:endParaRPr lang="en-US" sz="1400" dirty="0"/>
          </a:p>
        </p:txBody>
      </p:sp>
      <p:sp>
        <p:nvSpPr>
          <p:cNvPr id="8" name="Kennzahl Ersparnis gegenüber Massivbau (400 € je m², Annahme)"/>
          <p:cNvSpPr/>
          <p:nvPr/>
        </p:nvSpPr>
        <p:spPr>
          <a:xfrm>
            <a:off x="4337304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0184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184.000 €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4520184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Ersparnis gegenüber Massivbau (400 € je m², Annahme)</a:t>
            </a:r>
            <a:endParaRPr lang="en-US" sz="1400" dirty="0"/>
          </a:p>
        </p:txBody>
      </p:sp>
      <p:sp>
        <p:nvSpPr>
          <p:cNvPr id="11" name="Kennzahl schmale Dachterrasse rundum (ca. 0,8 m), nicht Teil der BGF"/>
          <p:cNvSpPr/>
          <p:nvPr/>
        </p:nvSpPr>
        <p:spPr>
          <a:xfrm>
            <a:off x="8125968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08848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m²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308848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schmale Dachterrasse rundum (ca. 0,8 m), nicht Teil der BGF</a:t>
            </a:r>
            <a:endParaRPr lang="en-US" sz="1400" dirty="0"/>
          </a:p>
        </p:txBody>
      </p:sp>
      <p:sp>
        <p:nvSpPr>
          <p:cNvPr id="14" name="Warum Holz oben"/>
          <p:cNvSpPr/>
          <p:nvPr/>
        </p:nvSpPr>
        <p:spPr>
          <a:xfrm>
            <a:off x="548640" y="3108960"/>
            <a:ext cx="1109167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291840"/>
            <a:ext cx="10543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aus dem Bekanntenkreis (Bauunternehmen unten, Zimmerei oben) können Preise und Termine gemeinsam angeben.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 hilft beim QNG-Nachweis und beim Effizienzhaus-40-Standard (KfW-Voraussetzung).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280160" y="5852160"/>
            <a:ext cx="5486400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371600" y="3136392"/>
            <a:ext cx="4864608" cy="82296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6053328" y="3767328"/>
            <a:ext cx="246888" cy="301752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große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5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097280" y="3136392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9535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097280" y="4069080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886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460 m² mit Bar, Séparée und Küche, dazu Treppenhaus und Aufzug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Wohnungen à ca.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Penthouses à ca. 103 m², Holzbau, schmale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Wohnungen, ca. 725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nur ca. 0,8 m zurück, so entsteht eine schmale Terrasse von ca. 72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554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482803" cy="2172614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482803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31443" y="2103120"/>
            <a:ext cx="3138221" cy="2172614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Gastraum und Lounge ca. 130 Plätze"/>
          <p:cNvSpPr/>
          <p:nvPr/>
        </p:nvSpPr>
        <p:spPr>
          <a:xfrm>
            <a:off x="1272845" y="2404872"/>
            <a:ext cx="2655418" cy="905256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72845" y="2404872"/>
            <a:ext cx="265541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und Lounge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130 Plätze</a:t>
            </a:r>
            <a:endParaRPr lang="en-US" sz="1100" dirty="0"/>
          </a:p>
        </p:txBody>
      </p:sp>
      <p:sp>
        <p:nvSpPr>
          <p:cNvPr id="12" name="Raum Bar"/>
          <p:cNvSpPr/>
          <p:nvPr/>
        </p:nvSpPr>
        <p:spPr>
          <a:xfrm>
            <a:off x="1876349" y="3454969"/>
            <a:ext cx="1689811" cy="193121"/>
          </a:xfrm>
          <a:prstGeom prst="rect">
            <a:avLst/>
          </a:prstGeom>
          <a:solidFill>
            <a:srgbClr val="3A3F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76349" y="3454969"/>
            <a:ext cx="1689811" cy="193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4" name="Raum Séparée 20 Plätze"/>
          <p:cNvSpPr/>
          <p:nvPr/>
        </p:nvSpPr>
        <p:spPr>
          <a:xfrm>
            <a:off x="1031443" y="3611880"/>
            <a:ext cx="784555" cy="663854"/>
          </a:xfrm>
          <a:prstGeom prst="rect">
            <a:avLst/>
          </a:prstGeom>
          <a:solidFill>
            <a:srgbClr val="8A6A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31443" y="3611880"/>
            <a:ext cx="784555" cy="663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Plätze</a:t>
            </a:r>
            <a:endParaRPr lang="en-US" sz="1100" dirty="0"/>
          </a:p>
        </p:txBody>
      </p:sp>
      <p:sp>
        <p:nvSpPr>
          <p:cNvPr id="16" name="Raum Küche"/>
          <p:cNvSpPr/>
          <p:nvPr/>
        </p:nvSpPr>
        <p:spPr>
          <a:xfrm>
            <a:off x="1876349" y="3792931"/>
            <a:ext cx="724205" cy="482803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876349" y="3792931"/>
            <a:ext cx="724205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8" name="Raum Lager"/>
          <p:cNvSpPr/>
          <p:nvPr/>
        </p:nvSpPr>
        <p:spPr>
          <a:xfrm>
            <a:off x="2600554" y="3792931"/>
            <a:ext cx="543154" cy="482803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600554" y="3792931"/>
            <a:ext cx="543154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</a:t>
            </a:r>
            <a:endParaRPr lang="en-US" sz="1100" dirty="0"/>
          </a:p>
        </p:txBody>
      </p:sp>
      <p:sp>
        <p:nvSpPr>
          <p:cNvPr id="20" name="Raum WC"/>
          <p:cNvSpPr/>
          <p:nvPr/>
        </p:nvSpPr>
        <p:spPr>
          <a:xfrm>
            <a:off x="3143707" y="3792931"/>
            <a:ext cx="1025957" cy="482803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43707" y="3792931"/>
            <a:ext cx="1025957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23" name="Baukörper 1. Obergeschoss"/>
          <p:cNvSpPr/>
          <p:nvPr/>
        </p:nvSpPr>
        <p:spPr>
          <a:xfrm>
            <a:off x="4283964" y="2011680"/>
            <a:ext cx="3621024" cy="23554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4" name="Raum Treppe, Aufzug"/>
          <p:cNvSpPr/>
          <p:nvPr/>
        </p:nvSpPr>
        <p:spPr>
          <a:xfrm>
            <a:off x="4283964" y="2103120"/>
            <a:ext cx="482803" cy="2172614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283964" y="2103120"/>
            <a:ext cx="482803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6" name="Raum WE 1 83 m²"/>
          <p:cNvSpPr/>
          <p:nvPr/>
        </p:nvSpPr>
        <p:spPr>
          <a:xfrm>
            <a:off x="4766767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66767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28" name="Raum WE 2 83 m²"/>
          <p:cNvSpPr/>
          <p:nvPr/>
        </p:nvSpPr>
        <p:spPr>
          <a:xfrm>
            <a:off x="5394411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394411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0" name="Raum WE 3 83 m²"/>
          <p:cNvSpPr/>
          <p:nvPr/>
        </p:nvSpPr>
        <p:spPr>
          <a:xfrm>
            <a:off x="6022056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22056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2" name="Raum WE 4 83 m²"/>
          <p:cNvSpPr/>
          <p:nvPr/>
        </p:nvSpPr>
        <p:spPr>
          <a:xfrm>
            <a:off x="6649700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649700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4" name="Raum WE 5 83 m²"/>
          <p:cNvSpPr/>
          <p:nvPr/>
        </p:nvSpPr>
        <p:spPr>
          <a:xfrm>
            <a:off x="7277344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277344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37" name="Baukörper Staffel (Holzbau)"/>
          <p:cNvSpPr/>
          <p:nvPr/>
        </p:nvSpPr>
        <p:spPr>
          <a:xfrm>
            <a:off x="8019288" y="2011680"/>
            <a:ext cx="3621024" cy="23554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8" name="Raum Fläche"/>
          <p:cNvSpPr/>
          <p:nvPr/>
        </p:nvSpPr>
        <p:spPr>
          <a:xfrm>
            <a:off x="8019288" y="2103120"/>
            <a:ext cx="3621024" cy="2172614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Raum Treppe"/>
          <p:cNvSpPr/>
          <p:nvPr/>
        </p:nvSpPr>
        <p:spPr>
          <a:xfrm>
            <a:off x="8115849" y="2199681"/>
            <a:ext cx="410383" cy="197949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115849" y="2199681"/>
            <a:ext cx="410383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41" name="Raum WE 6 103 m²"/>
          <p:cNvSpPr/>
          <p:nvPr/>
        </p:nvSpPr>
        <p:spPr>
          <a:xfrm>
            <a:off x="8526231" y="2199681"/>
            <a:ext cx="1005438" cy="1979493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26231" y="2199681"/>
            <a:ext cx="1005438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m²</a:t>
            </a:r>
            <a:endParaRPr lang="en-US" sz="1100" dirty="0"/>
          </a:p>
        </p:txBody>
      </p:sp>
      <p:sp>
        <p:nvSpPr>
          <p:cNvPr id="43" name="Raum WE 7 103 m²"/>
          <p:cNvSpPr/>
          <p:nvPr/>
        </p:nvSpPr>
        <p:spPr>
          <a:xfrm>
            <a:off x="9531669" y="2199681"/>
            <a:ext cx="1005438" cy="1979493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531669" y="2199681"/>
            <a:ext cx="1005438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m²</a:t>
            </a:r>
            <a:endParaRPr lang="en-US" sz="1100" dirty="0"/>
          </a:p>
        </p:txBody>
      </p:sp>
      <p:sp>
        <p:nvSpPr>
          <p:cNvPr id="45" name="Raum WE 8 103 m²"/>
          <p:cNvSpPr/>
          <p:nvPr/>
        </p:nvSpPr>
        <p:spPr>
          <a:xfrm>
            <a:off x="10537107" y="2199681"/>
            <a:ext cx="1005438" cy="1979493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0537107" y="2199681"/>
            <a:ext cx="1005438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8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m²</a:t>
            </a:r>
            <a:endParaRPr lang="en-US" sz="1100" dirty="0"/>
          </a:p>
        </p:txBody>
      </p:sp>
      <p:sp>
        <p:nvSpPr>
          <p:cNvPr id="47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ca. 30 × 18 m = 540 m² (GRZ 0,6 erlaubt max. 576 m²). Die Gastro nutzt das ganze EG (ca. 460 m²), Treppenhaus und Aufzug liegen am Westende und erschließen die Wohnungen getrennt von der Gastro. Die Staffel in Holzbau hat ca. 460 m² BGF, die beige Fläche ist die schmale Terrasse (ca. 72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Milchglas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Fenster, Milchglas-Brüstungen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Gastraum mit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498080" cy="4215384"/>
          </a:xfrm>
          <a:prstGeom prst="rect">
            <a:avLst/>
          </a:prstGeom>
        </p:spPr>
      </p:pic>
      <p:pic>
        <p:nvPicPr>
          <p:cNvPr id="6" name="Image 1" descr="Visualisierung 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186537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3832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150 Plätze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74904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 (130 im Gastraum, 20 im Séparée), plus ca. 40 auf der Terrasse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2519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1772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120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 (neu erzeugt, mit Milchglas-Brüstungen),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45 Stellplätze, auf dem Grundstück passen bei 540 m² Gebäude nur ca. 8–10.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Flächen und Mieten: 8 Wohnungen und die Gastro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463040"/>
                <a:gridCol w="1645920"/>
                <a:gridCol w="1828800"/>
                <a:gridCol w="176479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je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Wohnen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97.235 €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(Pacht 12 €/m²)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66.240 €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163.475 €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KfW-Kredite 297, 298 und 299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14" name="Tabelle Kf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560320"/>
                <a:gridCol w="2651760"/>
                <a:gridCol w="1554480"/>
                <a:gridCol w="1307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Wofür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Rahmen (mit QNG)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 (Annahme)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 genutzte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vermietete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(Nichtwohngebäude)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2.000 € je m² Nettogrundfläche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 (Rest)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Restfinanzierung inkl. Bauzeitzinsen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2.508.838 €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Voraussetzungen"/>
          <p:cNvSpPr/>
          <p:nvPr/>
        </p:nvSpPr>
        <p:spPr>
          <a:xfrm>
            <a:off x="548640" y="3794760"/>
            <a:ext cx="11091672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3931920"/>
            <a:ext cx="10543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Voraussetzungen: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Effizienzhaus 40 (Gastro: Effizienzgebäude 40), QNG-Zertifikat für den vollen Rahmen, Heizung ohne Öl, Gas und Biomasse (z. B. Wärmepumpe), Energieeffizienz-Experte, Antrag vor Baubeginn über die Hausbank.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Gemischte Nutzung: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Wohnteil (297/298) und Gastro (299) werden getrennt gefördert. Kreditrahmen insgesamt 1.982.000 €, das sind 44 % des Darlehens. Die KfW-Zinsen schwanken in den Quellen zwischen 0,6 % und 3,05 %. Mehrkosten für den Standard angenommen mit 3 % (111.656 €).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  <a:gridCol w="1234440"/>
                <a:gridCol w="7772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 und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−184.000 €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 (schmal)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Mehrkosten Effizienzhaus 40 und QNG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 auf Bau inkl. Nebenkosten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111.656 €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 Bauherr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Finanzierungskosten (Bauzeit, Bereitstellung, Anlaufzeit)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Monate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271.066 €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4.490.838 €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8138160" y="1280160"/>
          <a:ext cx="3657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2.916 € pro m²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6" name="Tabelle Herkun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Mittelherkunft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(selbst genutzte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(vermietete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(Nichtwohngebäude, Gastro)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Hausbank-Darlehen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2.508.838 €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Eigenkapital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Finanzierung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4.490.838 €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Finanzierungskosten"/>
          <p:cNvSpPr/>
          <p:nvPr/>
        </p:nvSpPr>
        <p:spPr>
          <a:xfrm>
            <a:off x="7772400" y="1371600"/>
            <a:ext cx="386791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01000" y="1554480"/>
            <a:ext cx="341071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Mischzins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3,43 % über alle Darlehen.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Bau- und Anlaufzeit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Monate Bau und 12 Monate Anlaufzeit kosten 271.066 € an Zinsen und Bereitstellungsgebühr, finanziert von der Hausbank.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16.560 € pro Monat (Zins plus 1 % Anfangstilgung).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Kosten von 4.490.838 € sind komplett durch Fremdkapital gedeckt.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Zinsberechnung und Rate je Darlehen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Zins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1097280"/>
                <a:gridCol w="1097280"/>
                <a:gridCol w="1828800"/>
                <a:gridCol w="18562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bei Rate-Start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Wohnen (297 und 298)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Gastro (299)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31.280 €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2.508.838 €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125.442 €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4.490.838 €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198.722 €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29768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ersten Jahr nach der Anlaufzeit zahlst du 153.102 € Zinsen und 45.620 € Tilgung.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Zinsänderung nach 10 Jahren: +1 Prozentpunkt auf die Restschuld kostet ca. 3.296 € pro Monat mehr.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Abzahlungsplan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5" name="Diagramm Restschuld" descr=""/>
          <p:cNvGraphicFramePr/>
          <p:nvPr/>
        </p:nvGraphicFramePr>
        <p:xfrm>
          <a:off x="548640" y="1280160"/>
          <a:ext cx="62179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elle Abzahlung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280160"/>
          <a:ext cx="46908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  <a:gridCol w="11247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153.102 €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45.620 €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4.445.217 €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151.512 €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47.210 €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4.398.008 €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149.866 €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48.856 €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4.349.151 €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146.391 €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52.331 €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4.246.258 €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(Ende Zinsbindung)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136.537 €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62.185 €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3.955.746 €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124.748 €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73.974 €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3.610.303 €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110.632 €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88.090 €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3.199.105 €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93.713 €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105.009 €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2.709.124 €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73.417 €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125.304 €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2.124.672 €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49.052 €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149.670 €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1.426.837 €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beträgt die Restschuld 3.955.746 €. Die Anschlussfinanzierung muss eingeplant werden.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 und Kapitaldienst pro Monat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9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Wohnen (8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+97.235 €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Gastro (460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+66.240 €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−16.348 €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Immobilie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+12.261 €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+147.128 €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Betriebsergebnis Gastro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+9.730 €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+116.760 €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vor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+21.991 €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+263.888 €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−16.560 €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−198.722 €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+5.430 €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+65.166 €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Kennzahlen"/>
          <p:cNvSpPr/>
          <p:nvPr/>
        </p:nvSpPr>
        <p:spPr>
          <a:xfrm>
            <a:off x="7863840" y="1371600"/>
            <a:ext cx="3776472" cy="411480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Kapitaldienstdeckung (DSCR)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 1,33, nur Immobilie 0,74. Banken verlangen meist mindestens 1,2.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Zinsdeckung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1,72.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Anfangsrendite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3,28 % auf die Gesamtkosten (Nettoertrag Immobilie).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den Gastro-Gewinn deckt die Immobilie allein die Raten nicht. Der Pachtvertrag mit einem tragfähigen Betreiber ist für die Bank entscheidend.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0" name="Tabelle Gastro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+9.730 €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+12.780 €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+15.830 €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Break-even"/>
          <p:cNvSpPr/>
          <p:nvPr/>
        </p:nvSpPr>
        <p:spPr>
          <a:xfrm>
            <a:off x="7863840" y="1371600"/>
            <a:ext cx="3776472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allein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18.100 € Umsatz deckt der Betrieb seine Pacht.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 insgesamt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32.200 € Umsatz sind alle Raten bezahlt.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Umsatz von 50.000 € ist für 460 m² und ca. 150 Plätze eine vorsichtige Annahme.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Ertragswert und Beleihung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1" name="Tabelle Ertragswe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6692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pro Jahr (Mieten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163.475 €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Bewirtschaftungskosten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−21.842 €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Reinertrag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141.634 €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Bodenwert (960 m² × 230 €)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Gebäudeertragswert (Vervielfältiger 21,6)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2.840.108 €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3.060.908 €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1" name="Tabelle Beleih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23951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6733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Sachwert (Boden + Herstellungskosten)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4.054.316 €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Beleihungswert (niedrigerer Wert, −10 %)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2.754.817 €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 und 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4.490.838 €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minus 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−1.429.929 €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über 80 % 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2.286.984 €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475488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Mieten und die Pacht tragen einen Wert von 3,06 Mio. €, die Kosten liegen bei 4,49 Mio. €. Eine Bank beleiht üblicherweise nur bis ca. 80 % des Beleihungswerts. Für die Finanzierung braucht es deshalb zusätzliche Sicherheiten (Grundschulden auf weitere Immobilien, Bürgschaft) oder Eigenkapital in Höhe von ca. 2,29 Mio. €.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Prognose und Belastungstest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2" name="Tabelle Progno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45336"/>
                <a:gridCol w="1545336"/>
                <a:gridCol w="1545336"/>
                <a:gridCol w="1545336"/>
                <a:gridCol w="152704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vor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263.888 €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271.864 €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280.081 €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288.546 €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301.727 €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−198.722 €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−198.722 €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−198.722 €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−198.722 €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−198.722 €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+5.430 €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+6.095 €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+6.780 €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+7.485 €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+8.584 €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 Jahresende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4.445.217 €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4.349.151 €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4.246.258 €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4.136.032 €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3.955.746 €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3" name="Tabelle Belastungste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1672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737360"/>
                <a:gridCol w="1371600"/>
                <a:gridCol w="19476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Belastungstest (pro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+5.430 €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Anschlusszins nach 10 Jahren +1 Prozentpunkt (auf Restschuld)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+2.134 €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−3.296 €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Mieten Wohnen −10 %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+4.701 €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+2.380 €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Baukosten +10 % (Kredit steigt entsprechend)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+4.058 €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fällt ganz aus (keine Pacht, kein Betriebsergebnis)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−9.268 €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−14.698 €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Prüfung: zwei Wohnungen als Airbnb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3" name="Tabelle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011680"/>
                <a:gridCol w="2011680"/>
                <a:gridCol w="19476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Apartments à ...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Airbnb je Apartment und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langfristige Miete je Apartment und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Möblierung (im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Mehrertrag für 2 Apartments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</a:tbl>
          </a:graphicData>
        </a:graphic>
      </p:graphicFrame>
      <p:sp>
        <p:nvSpPr>
          <p:cNvPr id="6" name="Ergebnis"/>
          <p:cNvSpPr/>
          <p:nvPr/>
        </p:nvSpPr>
        <p:spPr>
          <a:xfrm>
            <a:off x="548640" y="4297680"/>
            <a:ext cx="11091672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4348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Kurzzeitvermietung lohnt sich nicht. Auch kleine Apartments bringen nach Möblierung, Kapitaldienst und Kosten weniger als langfristige Mieter. Dazu kommen Aufwand, Reinigung und bei mehr als 12 Betten Sonderbau-Brandschutz. Deshalb bleiben alle 8 Wohnungen langfristig vermietet.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Sicherheiten und Beleihung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Beleihungsauslauf 163 % bei 100 % Fremdfinanzierung. Gegenmaßnahme: Grundschulden auf weitere Immobilien, Bürgschaft oder Eigenkapital, Pachtvertrag mit Bonitätsnachweis.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 insgesamt ab ca. 32.000 € Umsatz im Plus, bei Ausfall der Gastro fehlen ca. 14.698 € pro Monat. Gegenmaßnahme: Konzept, erfahrener Betreiber, Pachtstaffel.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KfW-Zinsen und Rahmen sind Stand Okt. 2026 unsicher, nach 10 Jahren ist der Folgezins offen. Gegenmaßnahme: Zusage vor Baubeginn,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 und Standard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540 m² Grundfläche, Staffelgeschoss und Flachdach müssen bestätigt werden, KfW verlangt Effizienzhaus 40 mit QNG. Gegenmaßnahme: Vorabstimmung, Energieeffizienz-Experte früh einbinden.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Stadt und Bank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4" name="Bedarf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Genehmigung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540 m² Grundfläche, Staffelgeschoss, Flachdach und Höhe schriftlich bestätigen</a:t>
            </a:r>
            <a:endParaRPr lang="en-US" sz="1400" dirty="0"/>
          </a:p>
        </p:txBody>
      </p:sp>
      <p:sp>
        <p:nvSpPr>
          <p:cNvPr id="7" name="Bedarf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Stellplätze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0" name="Bedarf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Grundstück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Kaufpreis 230 €/m² mit Baureife, Reservierung bis zur Finanzierungszusage</a:t>
            </a:r>
            <a:endParaRPr lang="en-US" sz="1400" dirty="0"/>
          </a:p>
        </p:txBody>
      </p:sp>
      <p:sp>
        <p:nvSpPr>
          <p:cNvPr id="13" name="Bedarf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Darlehen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von 4,49 Mio. € mit KfW 297/298/299 und tilgungsfreier Anlaufzeit von 12 Monaten</a:t>
            </a:r>
            <a:endParaRPr lang="en-US" sz="1400" dirty="0"/>
          </a:p>
        </p:txBody>
      </p:sp>
      <p:sp>
        <p:nvSpPr>
          <p:cNvPr id="16" name="Bedarf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Sicherheiten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über zusätzliche Grundschulden oder Bürgschaft wegen des Beleihungsauslaufs</a:t>
            </a:r>
            <a:endParaRPr lang="en-US" sz="1400" dirty="0"/>
          </a:p>
        </p:txBody>
      </p:sp>
      <p:sp>
        <p:nvSpPr>
          <p:cNvPr id="19" name="Bedarf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KfW-Antrag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Antrag für 297/298 und 299 vor Baubeginn über die Hausbank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Hausbank: Finanzierung, Anlaufzeit, KfW 297/298/299 und Sicherheiten klären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Bauantrag, KfW-Antrag vor Baubeginn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1.540 m² BGF × 2.200 €, Staffel (460 m²) in Holzbau 400 €/m² günstiger, Terrasse 72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Anfangstilgung, tilgungsfreie Anlaufzeit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KfW 297/298 2,5 %, KfW 299 3,0 %, Hausbank 4,0 % (Annahmen)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Wohnungen (725 m²) zu 11,18 €/m² Kaltmiete, Gastro-Pacht 12 €/m² auf 460 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KfW-Kredite statt Zuschuss, Antrag vor Baubeginn; Mehrkosten Effizienzhaus 40 und QNG 3 %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Jahren, Sicherheiten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9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(460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40.270 €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0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150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310.000 €. Für die größere Gastro (ca. 460 m², ca. 150 Plätze) sind 150.000 € knapp: bei 200.000 € Ausbau steigt die Rate um ca. 190 € im Monat.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1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11,18 €/m² Kaltmiete (950 € für 85 m², Bauherr, zentrale Lage).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Große Gastro und 8 Wohnungen</dc:title>
  <dc:subject>PptxGenJS Presentation</dc:subject>
  <dc:creator>Bessam Hasso</dc:creator>
  <cp:lastModifiedBy>Bessam Hasso</cp:lastModifiedBy>
  <cp:revision>1</cp:revision>
  <dcterms:created xsi:type="dcterms:W3CDTF">2026-10-19T16:00:06Z</dcterms:created>
  <dcterms:modified xsi:type="dcterms:W3CDTF">2026-10-19T16:00:06Z</dcterms:modified>
</cp:coreProperties>
</file>