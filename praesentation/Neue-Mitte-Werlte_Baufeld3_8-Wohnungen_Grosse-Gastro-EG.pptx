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214750</c:v>
                </c:pt>
                <c:pt idx="4">
                  <c:v>289674.180982452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4796290</c:v>
                </c:pt>
                <c:pt idx="1">
                  <c:v>4745377</c:v>
                </c:pt>
                <c:pt idx="2">
                  <c:v>4692706</c:v>
                </c:pt>
                <c:pt idx="3">
                  <c:v>4638213</c:v>
                </c:pt>
                <c:pt idx="4">
                  <c:v>4581834</c:v>
                </c:pt>
                <c:pt idx="5">
                  <c:v>4523501</c:v>
                </c:pt>
                <c:pt idx="6">
                  <c:v>4463143</c:v>
                </c:pt>
                <c:pt idx="7">
                  <c:v>4400688</c:v>
                </c:pt>
                <c:pt idx="8">
                  <c:v>4336060</c:v>
                </c:pt>
                <c:pt idx="9">
                  <c:v>4269180</c:v>
                </c:pt>
                <c:pt idx="10">
                  <c:v>4199968</c:v>
                </c:pt>
                <c:pt idx="11">
                  <c:v>4128339</c:v>
                </c:pt>
                <c:pt idx="12">
                  <c:v>4054206</c:v>
                </c:pt>
                <c:pt idx="13">
                  <c:v>3977478</c:v>
                </c:pt>
                <c:pt idx="14">
                  <c:v>3898060</c:v>
                </c:pt>
                <c:pt idx="15">
                  <c:v>3815856</c:v>
                </c:pt>
                <c:pt idx="16">
                  <c:v>3730763</c:v>
                </c:pt>
                <c:pt idx="17">
                  <c:v>3642678</c:v>
                </c:pt>
                <c:pt idx="18">
                  <c:v>3551490</c:v>
                </c:pt>
                <c:pt idx="19">
                  <c:v>3457088</c:v>
                </c:pt>
                <c:pt idx="20">
                  <c:v>3359353</c:v>
                </c:pt>
                <c:pt idx="21">
                  <c:v>3258164</c:v>
                </c:pt>
                <c:pt idx="22">
                  <c:v>3153395</c:v>
                </c:pt>
                <c:pt idx="23">
                  <c:v>3044914</c:v>
                </c:pt>
                <c:pt idx="24">
                  <c:v>2932587</c:v>
                </c:pt>
                <c:pt idx="25">
                  <c:v>2816271</c:v>
                </c:pt>
                <c:pt idx="26">
                  <c:v>2695820</c:v>
                </c:pt>
                <c:pt idx="27">
                  <c:v>2571083</c:v>
                </c:pt>
                <c:pt idx="28">
                  <c:v>2441902</c:v>
                </c:pt>
                <c:pt idx="29">
                  <c:v>2308113</c:v>
                </c:pt>
                <c:pt idx="30">
                  <c:v>2169547</c:v>
                </c:pt>
                <c:pt idx="31">
                  <c:v>2026028</c:v>
                </c:pt>
                <c:pt idx="32">
                  <c:v>1877372</c:v>
                </c:pt>
                <c:pt idx="33">
                  <c:v>1723390</c:v>
                </c:pt>
                <c:pt idx="34">
                  <c:v>1563885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Gastro-Betrieb bei 65.010 € Umsatz und 30,5 % Marge vor Pacht, ohne Lohn des Bauherrn. Rücklagen 10 % von Miete und Pacht.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Frühstück und Bowls am Tag, Bar mit Snacks am Abend. Öffnungstage, Gäste und Bon sind Annahmen ohne Marktdaten für Werlte, Ruhetag Montag.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Bei sehr niedrigem Umsatz drücken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Bank: Konzept, Finanzierung mit KfW-Krediten, Ertragswert und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4,85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des Darlehens über KfW 297, 298, 299 (2,35 Mio. €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Darlehens über KfW 297, 298, 299 (2,35 Mio. €)</a:t>
            </a:r>
            <a:endParaRPr lang="en-US" sz="1400" dirty="0"/>
          </a:p>
        </p:txBody>
      </p:sp>
      <p:sp>
        <p:nvSpPr>
          <p:cNvPr id="11" name="Kennzahl Kapitaldienst pro Monat (Mischzins 3,39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17.733 €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3,39 %, 1 % Tilgung)</a:t>
            </a:r>
            <a:endParaRPr lang="en-US" sz="1400" dirty="0"/>
          </a:p>
        </p:txBody>
      </p:sp>
      <p:sp>
        <p:nvSpPr>
          <p:cNvPr id="14" name="Kennzahl Ergebnis pro Monat nach Kapitaldienst, ohne Lohn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+9.613 €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Kapitaldienst, ohne Lohn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ganzen EG (ca. 510 m²), im 1. OG 2 Büro-Ankermieter (100 und 65 m²) und 3 Wohnungen, im Staffelgeschoss in Holzbau 5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Fremdkapital, kein Eigenkapital, KfW 297/298/299 plus 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gesamt, 0,71 nur Immobilie (Miete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2,88 Mio. € / 187 %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Ertrag trägt die Raten nur zusammen mit dem Gastro-Gewinn. Die Bank wird wegen des Ertragswerts zusätzliche Sicherheiten oder Eigenkapital verlangen, siehe Folie Ertragswert.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5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510 m² mit großer Bar, Séparée und kleiner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3 Wohnungen à ca. 107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67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1100" dirty="0"/>
          </a:p>
        </p:txBody>
      </p:sp>
      <p:sp>
        <p:nvSpPr>
          <p:cNvPr id="30" name="Raum WE 1 107 m²"/>
          <p:cNvSpPr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2" name="Raum WE 2 107 m²"/>
          <p:cNvSpPr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4" name="Raum WE 3 107 m²"/>
          <p:cNvSpPr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4 67 m²"/>
          <p:cNvSpPr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3" name="Raum WE 5 67 m²"/>
          <p:cNvSpPr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5" name="Raum WE 6 67 m²"/>
          <p:cNvSpPr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7" name="Raum WE 7 67 m²"/>
          <p:cNvSpPr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9" name="Raum WE 8 67 m²"/>
          <p:cNvSpPr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51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3 Wohnungen, die Staffel in Holzbau hat ca. 498 m² BGF mit 5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57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(Bowls, Snacks)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45 %,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8 %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5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2.347.500 €, das sind 48 %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 (190 Plätze) und Büros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 je Platz, Büros 150 €/m²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2.937 €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3,39 %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289.674 €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17.733 €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4.845.506 €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163.585 € Zinsen und 49.216 €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3.558 €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161.887 €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4.745.377 €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160.129 €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145.921 €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79.418 €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3.898.060 €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118.398 €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3.457.088 €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2.932.587 €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2.308.113 €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53.296 €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1.563.885 €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4.269.180 €.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0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(8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+12.619 €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+176.737 €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+27.347 €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+115.359 €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 1,54, nur Immobilie 0,71, nur Wohnen und Büro 0,45.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3,13 %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den Gastro-Gewinn deckt die Immobilie allein die Raten nicht. Der Pachtvertrag mit einem tragfähigen Betreiber ist für die Bank entscheidend.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Gastro-Umsatz: Hauptfokus Abend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Tageste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914400"/>
                <a:gridCol w="731520"/>
                <a:gridCol w="109728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Tagesteil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Mittag: Bowls, Salate, Suppe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Nachmittag: Kaffee, Kuchen, Snacks (Di–So 14:30–17:00)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mit Snacks Di–Do, So (ab 17:00)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Snacks)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Events: Live-Musik, Feiern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686800" y="1371600"/>
            <a:ext cx="2953512" cy="429768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69680" y="155448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 im Fokus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61 % des Umsatzes entstehen am Abend (Bar mit Snacks, Events), 39 % am Tag.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Plausibel?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4.100 € je Platz und Jahr, Branchen-Median Österreich ca. 12.000 €. Das Haus trägt sich ab 33.500 € Umsatz.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+23.875 €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der Betrieb seine 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33.500 € Umsatz sind alle Raten bezahlt.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65.010 € entspricht ca. 4.100 € je Sitzplatz und Jahr (190 Plätze), der Branchen-Median in Österreich liegt bei ca. 12.000 €.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−23.141 €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145.106 €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19,9)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2.877.244 €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1,81 / 0,27 / 0,80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−1.968.262 €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2,88 Mio. €, die Kosten liegen bei 4,85 Mio. €. Eine Bank beleiht üblicherweise nur bis ca. 80 % des Beleihungswerts. Für die Finanzierung braucht es deshalb zusätzliche Sicherheiten (Grundschulden auf weitere Immobilien, Bürgschaft) oder Eigenkapital in Höhe von ca. 2,77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338.253 €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348.660 €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359.389 €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+13.609 €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7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Pacht, kein Betriebsergebnis)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5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187 % bei 100 % Fremdfinanzierung. Gegenmaßnahme: Grundschulden auf weitere Immobilien, Bürgschaft oder Eigenkapital,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 ab ca. 33.000 € Umsatz im Plus, bei Ausfall der Gastro fehlen ca. 19.318 € pro Monat, bei Auszug des großen Büro-Ankermieters ca. 855 €. Gegenmaßnahme: Konzept, erfahrener Betreiber, Pachtstaffel, Mietverträge über 10 Jahre mit Bonitätsprüfung.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4,85 Mio. € mit KfW 297/298/299 und tilgungsfreier Anlaufzeit von 12 Monaten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65.010 €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(655 m²) zu 11,18 €/m² Kaltmiete, 2 Büros (165 m²) zu 9,50 und 10,00 €/m² (10 Jahre fest), Gastro-Pacht 10 €/m² auf 510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65.010 €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(Bowl- und Snackküche, Kühlräume,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Backbar, große Theke)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2026-10-19T18:10:02Z</dcterms:created>
  <dcterms:modified xsi:type="dcterms:W3CDTF">2026-10-19T18:10:02Z</dcterms:modified>
</cp:coreProperties>
</file>