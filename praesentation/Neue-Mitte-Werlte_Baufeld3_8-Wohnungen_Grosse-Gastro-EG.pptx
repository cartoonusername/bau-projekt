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57</c:v>
                </c:pt>
                <c:pt idx="1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Pt>
            <c:idx val="4"/>
            <c:bubble3D val="0"/>
            <c:spPr>
              <a:solidFill>
                <a:srgbClr val="A8B0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Grundstück</c:v>
                </c:pt>
                <c:pt idx="1">
                  <c:v>Bau</c:v>
                </c:pt>
                <c:pt idx="2">
                  <c:v>Baunebenkosten und Standard</c:v>
                </c:pt>
                <c:pt idx="3">
                  <c:v>Gastro-Ausbau</c:v>
                </c:pt>
                <c:pt idx="4">
                  <c:v>Finanzierung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236256</c:v>
                </c:pt>
                <c:pt idx="1">
                  <c:v>3465450</c:v>
                </c:pt>
                <c:pt idx="2">
                  <c:v>639375.525</c:v>
                </c:pt>
                <c:pt idx="3">
                  <c:v>214750</c:v>
                </c:pt>
                <c:pt idx="4">
                  <c:v>289674.180982452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4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421"/>
                </a:solidFill>
                <a:latin typeface="+mn-lt"/>
              </a:rPr>
              <a:t>Restschuld in € nach Jahren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Restschuld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</c:f>
              <c:multiLvlStrCache>
                <c:ptCount val="3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</c:lvl>
              </c:multiLvlStrCache>
            </c:multiLvl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4796290</c:v>
                </c:pt>
                <c:pt idx="1">
                  <c:v>4745377</c:v>
                </c:pt>
                <c:pt idx="2">
                  <c:v>4692706</c:v>
                </c:pt>
                <c:pt idx="3">
                  <c:v>4638213</c:v>
                </c:pt>
                <c:pt idx="4">
                  <c:v>4581834</c:v>
                </c:pt>
                <c:pt idx="5">
                  <c:v>4523501</c:v>
                </c:pt>
                <c:pt idx="6">
                  <c:v>4463143</c:v>
                </c:pt>
                <c:pt idx="7">
                  <c:v>4400688</c:v>
                </c:pt>
                <c:pt idx="8">
                  <c:v>4336060</c:v>
                </c:pt>
                <c:pt idx="9">
                  <c:v>4269180</c:v>
                </c:pt>
                <c:pt idx="10">
                  <c:v>4199968</c:v>
                </c:pt>
                <c:pt idx="11">
                  <c:v>4128339</c:v>
                </c:pt>
                <c:pt idx="12">
                  <c:v>4054206</c:v>
                </c:pt>
                <c:pt idx="13">
                  <c:v>3977478</c:v>
                </c:pt>
                <c:pt idx="14">
                  <c:v>3898060</c:v>
                </c:pt>
                <c:pt idx="15">
                  <c:v>3815856</c:v>
                </c:pt>
                <c:pt idx="16">
                  <c:v>3730763</c:v>
                </c:pt>
                <c:pt idx="17">
                  <c:v>3642678</c:v>
                </c:pt>
                <c:pt idx="18">
                  <c:v>3551490</c:v>
                </c:pt>
                <c:pt idx="19">
                  <c:v>3457088</c:v>
                </c:pt>
                <c:pt idx="20">
                  <c:v>3359353</c:v>
                </c:pt>
                <c:pt idx="21">
                  <c:v>3258164</c:v>
                </c:pt>
                <c:pt idx="22">
                  <c:v>3153395</c:v>
                </c:pt>
                <c:pt idx="23">
                  <c:v>3044914</c:v>
                </c:pt>
                <c:pt idx="24">
                  <c:v>2932587</c:v>
                </c:pt>
                <c:pt idx="25">
                  <c:v>2816271</c:v>
                </c:pt>
                <c:pt idx="26">
                  <c:v>2695820</c:v>
                </c:pt>
                <c:pt idx="27">
                  <c:v>2571083</c:v>
                </c:pt>
                <c:pt idx="28">
                  <c:v>2441902</c:v>
                </c:pt>
                <c:pt idx="29">
                  <c:v>2308113</c:v>
                </c:pt>
                <c:pt idx="30">
                  <c:v>2169547</c:v>
                </c:pt>
                <c:pt idx="31">
                  <c:v>2026028</c:v>
                </c:pt>
                <c:pt idx="32">
                  <c:v>1877372</c:v>
                </c:pt>
                <c:pt idx="33">
                  <c:v>1723390</c:v>
                </c:pt>
                <c:pt idx="34">
                  <c:v>1563885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stammen aus dem Rechenmodell Bankunterlagen_Baufeld3.xlsx und sind Planungsannahmen.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KI-Visualisierung, Planung folgt mit dem Gastro-Fachplaner. Details im Gastro-Konzept.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370 m², 1 je 30 m² Büro).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 11,18 €/m² (950 € für 85 m², Annahme des Bauherrn). Portale nennen für Neubau in Werlte ca. 10,7–11,0 €/m². Nebenkosten werden umgelegt.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Gastro-Flächen aus Plätzen und Richtwerten abgeleitet, Büromieten und Laufzeiten sind Annahmen (keine Büromarktdaten für Werlte gefunden).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 zahlt im Neubau keinen Zuschuss, sondern verbilligt den Zins. Beträge und Zinsen laut Ratgebern Oktober 2026, bei Hausbank und KfW bestätigen. Antrag über die Hausbank vor Baubeginn.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Kein Eigenkapital. Die Hausbank finanziert den Rest und die Zinsen der Bau- und Anlaufzeit. Tilgungsfreie Anlaufzeit 12 Monate ist mit der Bank zu verhandeln.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Annuität: Rate = Darlehen × (Zins + 1 % Tilgung) / 12. Zinsbindung 10 Jahre, danach gleicher Zins angenommen. Die Rate gilt nach der tilgungsfreien Anlaufzeit.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Monatlicher Plan über 35 Jahre im Excel-Blatt Tilgungsplan. Hier nach Jahren, Anfangstilgung 1 %, gleicher Zins nach der Zinsbindung angenommen.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Gastro-Betrieb bei 65.010 € Umsatz und 30,5 % Marge vor Pacht, ohne Lohn des Bauherrn. Rücklagen 10 % von Miete und Pacht.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Frühstück und Bowls am Tag, Bar mit Snacks am Abend. Öffnungstage, Gäste und Bon sind Annahmen ohne Marktdaten für Werlte, Ruhetag Montag.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Bei sehr niedrigem Umsatz drücken Fixkosten stärker, die Rechnung ist dort zu günstig.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Vereinfachtes Ertragswertverfahren nach ImmoWertV, getrennt nach Nutzung: Liegenschaftszins Wohnen 4,0 %, Büro 6,0 %, Gastro 6,5 %. Der verbindliche Beleihungswert kommt vom Gutachter der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Prognose: Miete, Pacht und Umsatz +1,5 % pro Jahr, Kapitaldienst konstant. Belastungstest vereinfacht, Hausbank rechnet mit eigenen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Cash pro Person und Monat nach Zins und Tilgung, vor Steuern, bei gleichen Anteilen in einer GbR. Mieten, Büros und Pacht bleiben gleich, nur das Gastro-Betriebsergebnis ändert sich (Marge 30,5 %, ohne Lohn).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Marktdaten Werlte Q4 2026: Auslastung der Beherbergung 17,4 % (Emsland 36,2 %), Angebotspreis ca. 87 € pro Nacht, 89 % der Unterkünfte unter 100 €. Möblierung 600 €/m² im Kredit, Kostenquote 56 % vom Umsatz.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11,18 €/m²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Ausgehend vom Zielbudget des Bauherrn (150.000 € für 150 Plätze) hochgerechnet auf 190 Plätze: 1.000 € je Platz. Büros: Vermieter-Ausbau 150 €/m² zusätzlich. Angebote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8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Businessplan für die Bank: Konzept, Finanzierung mit KfW-Krediten, Ertragswert und Abzahlungsplan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inkl. Finanzierung in Bau- und Anlaufzeit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4,85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inkl. Finanzierung in Bau- und Anlaufzeit</a:t>
            </a:r>
            <a:endParaRPr lang="en-US" sz="1400" dirty="0"/>
          </a:p>
        </p:txBody>
      </p:sp>
      <p:sp>
        <p:nvSpPr>
          <p:cNvPr id="8" name="Kennzahl des Darlehens über KfW 297, 298, 299 (2,35 Mio. €)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48 %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Darlehens über KfW 297, 298, 299 (2,35 Mio. €)</a:t>
            </a:r>
            <a:endParaRPr lang="en-US" sz="1400" dirty="0"/>
          </a:p>
        </p:txBody>
      </p:sp>
      <p:sp>
        <p:nvSpPr>
          <p:cNvPr id="11" name="Kennzahl Kapitaldienst pro Monat (Mischzins 3,39 %, 1 % Tilg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17.733 €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 pro Monat (Mischzins 3,39 %, 1 % Tilgung)</a:t>
            </a:r>
            <a:endParaRPr lang="en-US" sz="1400" dirty="0"/>
          </a:p>
        </p:txBody>
      </p:sp>
      <p:sp>
        <p:nvSpPr>
          <p:cNvPr id="14" name="Kennzahl Ergebnis pro Monat nach Kapitaldienst, ohne Lohn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+9.613 €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nach Kapitaldienst, ohne Lohn</a:t>
            </a:r>
            <a:endParaRPr lang="en-US" sz="1400" dirty="0"/>
          </a:p>
        </p:txBody>
      </p:sp>
      <p:graphicFrame>
        <p:nvGraphicFramePr>
          <p:cNvPr id="3" name="Tabelle Eckda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/ Grundfläche / 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/ 576 m² (32 × 18 m, GRZ-Maximum) / 1.650 m² (EG, 1. OG, Staffel)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im ganzen EG (ca. 510 m²), im 1. OG 2 Büro-Ankermieter (100 und 65 m²) und 3 Wohnungen, im Staffelgeschoss in Holzbau 5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 Fremdkapital, kein Eigenkapital, KfW 297/298/299 plus 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Kapitaldienstdeckung (DSCR)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 gesamt, 0,71 nur Immobilie (Miete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/ 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2,88 Mio. € / 187 % (Darlehen zu Beleihungswert)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Ertrag trägt die Raten nur zusammen mit dem Gastro-Gewinn. Die Bank wird wegen des Ertragswerts zusätzliche Sicherheiten oder Eigenkapital verlangen, siehe Folie Ertragswert.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 Grundfläche (60 %, GRZ-Maximum)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Plan geschätzt ca. 400–460 m², Stadt klären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32 × 18 m =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6–8,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 576 m² Grundfläche zulässig (im Plan ist das Baufenster nach meiner Schätzung kleiner)? Zählt das Staffelgeschoss (ca. 498 m² in Holzbau, 86 % der Fläche darunter) als drittes Vollgeschoss?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sp>
        <p:nvSpPr>
          <p:cNvPr id="5" name="Kennzahl Staffelgeschoss in Holzbau, nur 0,8 m rundum zurückgesetzt"/>
          <p:cNvSpPr/>
          <p:nvPr/>
        </p:nvSpPr>
        <p:spPr>
          <a:xfrm>
            <a:off x="548640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498 m²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in Holzbau, nur 0,8 m rundum zurückgesetzt</a:t>
            </a:r>
            <a:endParaRPr lang="en-US" sz="1400" dirty="0"/>
          </a:p>
        </p:txBody>
      </p:sp>
      <p:sp>
        <p:nvSpPr>
          <p:cNvPr id="8" name="Kennzahl Ersparnis gegenüber Massivbau (400 € je m², Annahme)"/>
          <p:cNvSpPr/>
          <p:nvPr/>
        </p:nvSpPr>
        <p:spPr>
          <a:xfrm>
            <a:off x="4337304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0184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199.200 €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520184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Ersparnis gegenüber Massivbau (400 € je m², Annahme)</a:t>
            </a:r>
            <a:endParaRPr lang="en-US" sz="1400" dirty="0"/>
          </a:p>
        </p:txBody>
      </p:sp>
      <p:sp>
        <p:nvSpPr>
          <p:cNvPr id="11" name="Kennzahl schmale Dachterrasse rundum (ca. 0,8 m), nicht Teil der BGF"/>
          <p:cNvSpPr/>
          <p:nvPr/>
        </p:nvSpPr>
        <p:spPr>
          <a:xfrm>
            <a:off x="8125968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08848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 m²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308848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schmale Dachterrasse rundum (ca. 0,8 m), nicht Teil der BGF</a:t>
            </a:r>
            <a:endParaRPr lang="en-US" sz="1400" dirty="0"/>
          </a:p>
        </p:txBody>
      </p:sp>
      <p:sp>
        <p:nvSpPr>
          <p:cNvPr id="14" name="Warum Holz oben"/>
          <p:cNvSpPr/>
          <p:nvPr/>
        </p:nvSpPr>
        <p:spPr>
          <a:xfrm>
            <a:off x="548640" y="3108960"/>
            <a:ext cx="1109167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291840"/>
            <a:ext cx="10543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aus dem Bekanntenkreis (Bauunternehmen unten, Zimmerei oben) können Preise und Termine gemeinsam angeben.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 hilft beim QNG-Nachweis und beim Effizienzhaus-40-Standard (KfW-Voraussetzung).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280160" y="5852160"/>
            <a:ext cx="5486400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371600" y="3136392"/>
            <a:ext cx="4864608" cy="82296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6053328" y="3767328"/>
            <a:ext cx="246888" cy="301752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große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2 Büros,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5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097280" y="3136392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953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097280" y="4069080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510 m² mit großer Bar, Séparée und kleiner Küche, dazu Treppenhaus, Aufzug, Eingänge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Büro-Ankermieter (100 und 65 m²), 3 Wohnungen à ca. 107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Wohnungen à ca. 67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 (655 m²), 2 Büros (165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77 m² um die Wohnungen.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01085" y="2103120"/>
            <a:ext cx="3167116" cy="2036003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Gastraum und Lounge ca. 160 Plätze"/>
          <p:cNvSpPr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und Lounge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160 Plätze</a:t>
            </a:r>
            <a:endParaRPr lang="en-US" sz="1100" dirty="0"/>
          </a:p>
        </p:txBody>
      </p:sp>
      <p:sp>
        <p:nvSpPr>
          <p:cNvPr id="12" name="Raum Bar"/>
          <p:cNvSpPr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solidFill>
            <a:srgbClr val="3A3F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Raum Séparée 30 Plätze"/>
          <p:cNvSpPr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solidFill>
            <a:srgbClr val="8A6A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100" dirty="0"/>
          </a:p>
        </p:txBody>
      </p:sp>
      <p:sp>
        <p:nvSpPr>
          <p:cNvPr id="16" name="Raum Küche"/>
          <p:cNvSpPr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8" name="Raum Lager"/>
          <p:cNvSpPr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</a:t>
            </a:r>
            <a:endParaRPr lang="en-US" sz="1100" dirty="0"/>
          </a:p>
        </p:txBody>
      </p:sp>
      <p:sp>
        <p:nvSpPr>
          <p:cNvPr id="20" name="Raum WC"/>
          <p:cNvSpPr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284696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23" name="Baukörper 1. Obergeschoss"/>
          <p:cNvSpPr/>
          <p:nvPr/>
        </p:nvSpPr>
        <p:spPr>
          <a:xfrm>
            <a:off x="4284696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Raum Treppe, Aufzug"/>
          <p:cNvSpPr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6" name="Raum Büro 1 100 m²"/>
          <p:cNvSpPr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solidFill>
            <a:srgbClr val="3F627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m²</a:t>
            </a:r>
            <a:endParaRPr lang="en-US" sz="1100" dirty="0"/>
          </a:p>
        </p:txBody>
      </p:sp>
      <p:sp>
        <p:nvSpPr>
          <p:cNvPr id="28" name="Raum Büro 2 65 m²"/>
          <p:cNvSpPr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solidFill>
            <a:srgbClr val="5B7D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m²</a:t>
            </a:r>
            <a:endParaRPr lang="en-US" sz="1100" dirty="0"/>
          </a:p>
        </p:txBody>
      </p:sp>
      <p:sp>
        <p:nvSpPr>
          <p:cNvPr id="30" name="Raum WE 1 107 m²"/>
          <p:cNvSpPr/>
          <p:nvPr/>
        </p:nvSpPr>
        <p:spPr>
          <a:xfrm>
            <a:off x="5902187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02187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2" name="Raum WE 2 107 m²"/>
          <p:cNvSpPr/>
          <p:nvPr/>
        </p:nvSpPr>
        <p:spPr>
          <a:xfrm>
            <a:off x="6569543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69543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4" name="Raum WE 3 107 m²"/>
          <p:cNvSpPr/>
          <p:nvPr/>
        </p:nvSpPr>
        <p:spPr>
          <a:xfrm>
            <a:off x="7236900" y="2103120"/>
            <a:ext cx="667357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236900" y="2103120"/>
            <a:ext cx="667357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m²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020751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37" name="Baukörper Staffel (Holzbau)"/>
          <p:cNvSpPr/>
          <p:nvPr/>
        </p:nvSpPr>
        <p:spPr>
          <a:xfrm>
            <a:off x="8020751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8" name="Raum Fläche"/>
          <p:cNvSpPr/>
          <p:nvPr/>
        </p:nvSpPr>
        <p:spPr>
          <a:xfrm>
            <a:off x="8020751" y="2103120"/>
            <a:ext cx="3619561" cy="2036003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Treppe"/>
          <p:cNvSpPr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41" name="Raum WE 4 67 m²"/>
          <p:cNvSpPr/>
          <p:nvPr/>
        </p:nvSpPr>
        <p:spPr>
          <a:xfrm>
            <a:off x="8495818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95818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3" name="Raum WE 5 67 m²"/>
          <p:cNvSpPr/>
          <p:nvPr/>
        </p:nvSpPr>
        <p:spPr>
          <a:xfrm>
            <a:off x="9106619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106619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5" name="Raum WE 6 67 m²"/>
          <p:cNvSpPr/>
          <p:nvPr/>
        </p:nvSpPr>
        <p:spPr>
          <a:xfrm>
            <a:off x="9717420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17420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7" name="Raum WE 7 67 m²"/>
          <p:cNvSpPr/>
          <p:nvPr/>
        </p:nvSpPr>
        <p:spPr>
          <a:xfrm>
            <a:off x="10328221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328221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49" name="Raum WE 8 67 m²"/>
          <p:cNvSpPr/>
          <p:nvPr/>
        </p:nvSpPr>
        <p:spPr>
          <a:xfrm>
            <a:off x="10939022" y="2193609"/>
            <a:ext cx="610801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939022" y="2193609"/>
            <a:ext cx="610801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8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m²</a:t>
            </a:r>
            <a:endParaRPr lang="en-US" sz="1100" dirty="0"/>
          </a:p>
        </p:txBody>
      </p:sp>
      <p:sp>
        <p:nvSpPr>
          <p:cNvPr id="51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32 × 18 m = 576 m² (GRZ-Maximum 0,6). Die Gastro nutzt das ganze EG (ca. 510 m²), Treppenhaus und Aufzug liegen am Westende und erschließen Büros und Wohnungen getrennt von der Gastro. Im 1. OG liegen die zwei Büro-Ankermieter und 3 Wohnungen, die Staffel in Holzbau hat ca. 498 m² BGF mit 5 Wohnungen, die beige Fläche ist die schmale Terrasse (ca. 77 m²).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Gastraum mit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98080" cy="4215384"/>
          </a:xfrm>
          <a:prstGeom prst="rect">
            <a:avLst/>
          </a:prstGeom>
        </p:spPr>
      </p:pic>
      <p:pic>
        <p:nvPicPr>
          <p:cNvPr id="6" name="Image 1" descr="Visualisierung 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186537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3832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 Plätze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74904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 (160 im Gastraum, 30 im Séparée), plus ca. 60 auf der Terrasse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2519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177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Barhocker, Polsterbänke, Backbar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120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Gestalt und Materialien. Fassadenteilung, Länge (32 m) und Büro-Fenster im 1. OG weichen im Detail von den Skizzen ab, Maße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57 Stellplätze, auf dem Grundstück passen bei 576 m² Gebäude nur ca. 6–8.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Flächen und Mieten: Wohnungen, Büros und Gastro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463040"/>
                <a:gridCol w="164592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je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Wohnen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(Pacht 10 €/m²)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168.247 €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Gewerbeflächen: große Gastro und zwei Ankermieter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Gastro Bedar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Gastro-Flächenbedarf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inkl. Lounge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(Feiern)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(Bowls, Snacks) mit Spülküche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Lager, Kühlung, Anlieferung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WC (Herren, Damen, barrierefrei)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Eingang, Garderobe, Flure,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gesamt (ca. 190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elle Ankermie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22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00584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Ankermieter Büro (1. OG)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1: Versicherungsgesellschaft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2: Makler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Büro, 10 Jahre fest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Wirkung"/>
          <p:cNvSpPr/>
          <p:nvPr/>
        </p:nvSpPr>
        <p:spPr>
          <a:xfrm>
            <a:off x="6217920" y="3383280"/>
            <a:ext cx="5422392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446520" y="3520440"/>
            <a:ext cx="49651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Ankermieter: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Büros bringen 19.200 € im Jahr über 10 Jahre (Indexmiete, zusammen 0,21 Mio. €) und decken 8 % des Kapitaldienstes. Zusammen mit den Wohnungen decken die langfristigen Mieten 45 %, den Rest tragen Pacht und Gastro-Gewinn.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 Plätze auf 510 m² (2,7 m² je Platz), Pacht 8 % vom Umsatz.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49834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EG gehört ganz der Gastro, die Büros liegen im 1. OG mit Aufzug und eigenem Eingang (Versicherung, Makler). Die Grundfläche ist auf das Maximum der GRZ (576 m²) vergrößert.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KfW-Kredite 297, 298 und 299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15" name="Tabelle Kf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560320"/>
                <a:gridCol w="2651760"/>
                <a:gridCol w="155448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Wofür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Rahmen (mit QNG)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 (Annahme)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 genutzte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vermietete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und Büros (Nichtwohngebäude)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2.000 € je m² Nettogrundfläche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 (Rest)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Restfinanzierung inkl. Bauzeitzinsen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Voraussetzungen"/>
          <p:cNvSpPr/>
          <p:nvPr/>
        </p:nvSpPr>
        <p:spPr>
          <a:xfrm>
            <a:off x="548640" y="3794760"/>
            <a:ext cx="11091672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3931920"/>
            <a:ext cx="10543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Voraussetzungen: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Effizienzhaus 40 (Gastro: Effizienzgebäude 40), QNG-Zertifikat für den vollen Rahmen, Heizung ohne Öl, Gas und Biomasse (z. B. Wärmepumpe), Energieeffizienz-Experte, Antrag vor Baubeginn über die Hausbank.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Gemischte Nutzung: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Wohnteil (297/298) und Gastro (299) werden getrennt gefördert. Kreditrahmen insgesamt 2.347.500 €, das sind 48 % des Darlehens. Die KfW-Zinsen schwanken in den Quellen zwischen 0,6 % und 3,05 %. Mehrkosten für den Standard angenommen mit 3 % (119.558 €).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6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1234440"/>
                <a:gridCol w="7772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 und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519.818 €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Mehrkosten Effizienzhaus 40 und QNG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 auf Bau inkl. Nebenkosten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Ausbau Gastro (190 Plätze) und Büros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 je Platz, Büros 150 €/m²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Finanzierungskosten (Bauzeit, Bereitstellung, Anlaufzeit)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Monate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289.674 €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8138160" y="1280160"/>
          <a:ext cx="3657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2.937 € pro m²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Herkun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Mittelherkunft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(selbst genutzte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(vermietete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(Nichtwohngebäude: Gastro und Büros)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Hausbank-Darlehen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inanzierungskosten"/>
          <p:cNvSpPr/>
          <p:nvPr/>
        </p:nvSpPr>
        <p:spPr>
          <a:xfrm>
            <a:off x="7772400" y="1371600"/>
            <a:ext cx="386791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01000" y="1554480"/>
            <a:ext cx="341071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Mischzins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3,39 % über alle Darlehen.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Bau- und Anlaufzeit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Monate Bau und 12 Monate Anlaufzeit kosten 289.674 € an Zinsen und Bereitstellungsgebühr, finanziert von der Hausbank.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17.733 € pro Monat (Zins plus 1 % Anfangstilgung).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Kosten von 4.845.506 € sind komplett durch Fremdkapital gedeckt.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Zinsberechnung und Rate je Darlehen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8" name="Tabelle Zins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1097280"/>
                <a:gridCol w="1097280"/>
                <a:gridCol w="182880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bei Rate-Start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Wohnen (297 und 298)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Gastro (299)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3,39 %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2976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ersten Jahr nach der Anlaufzeit zahlst du 163.585 € Zinsen und 49.216 € Tilgung.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Zinsänderung nach 10 Jahren: +1 Prozentpunkt auf die Restschuld kostet ca. 3.558 € pro Monat mehr.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Abzahlungsplan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5" name="Diagramm Restschuld" descr=""/>
          <p:cNvGraphicFramePr/>
          <p:nvPr/>
        </p:nvGraphicFramePr>
        <p:xfrm>
          <a:off x="548640" y="1280160"/>
          <a:ext cx="62179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elle Abzahlung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80160"/>
          <a:ext cx="46908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  <a:gridCol w="11247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49.216 €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4.796.290 €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161.887 €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50.913 €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4.745.377 €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160.129 €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4.692.706 €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4.581.834 €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(Ende Zinsbindung)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145.921 €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4.269.180 €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79.418 €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3.898.060 €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118.398 €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3.457.088 €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100.473 €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112.328 €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2.932.587 €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79.012 €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133.789 €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2.308.113 €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53.296 €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159.505 €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1.563.885 €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beträgt die Restschuld 4.269.180 €. Die Anschlussfinanzierung muss eingeplant werden.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 und Kapitaldienst pro Monat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0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949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554480"/>
                <a:gridCol w="155448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Wohnen (8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Büromieten (2 Ankermieter, 10 Jahre fest)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Gastro (510 m² × 10 €)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von Miete, Büro,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Immobilie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+12.619 €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Betriebsergebnis Gastro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+14.728 €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+176.737 €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vor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+27.347 €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+328.159 €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+115.359 €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Kennzahlen"/>
          <p:cNvSpPr/>
          <p:nvPr/>
        </p:nvSpPr>
        <p:spPr>
          <a:xfrm>
            <a:off x="7863840" y="1371600"/>
            <a:ext cx="3776472" cy="411480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Kapitaldienstdeckung (DSCR)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 1,54, nur Immobilie 0,71, nur Wohnen und Büro 0,45. Banken verlangen meist mindestens 1,2.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Zinsdeckung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2,01.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Anfangsrendite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3,13 % auf die Gesamtkosten (Nettoertrag Immobilie).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den Gastro-Gewinn deckt die Immobilie allein die Raten nicht. Der Pachtvertrag mit einem tragfähigen Betreiber ist für die Bank entscheidend.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Gastro-Umsatz: Hauptfokus Abend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1" name="Tabelle Tagestei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640080"/>
                <a:gridCol w="914400"/>
                <a:gridCol w="731520"/>
                <a:gridCol w="1097280"/>
                <a:gridCol w="914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Tagesteil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Gäste/Tag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werktags (Di–Fr 08:00–11:00)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 (Sa, So 09:00–14:00)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Mittag: Bowls, Salate, Suppe (Di–Fr 11:30–14:30)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Nachmittag: Kaffee, Kuchen, Snacks (Di–So 14:30–17:00)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mit Snacks Di–Do, So (ab 17:00)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 (Cocktails, Wein, Bier, Snacks)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Events: Live-Musik, Feiern (nach Absprache, 4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686800" y="1371600"/>
            <a:ext cx="2953512" cy="429768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69680" y="155448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Abend im Fokus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61 % des Umsatzes entstehen am Abend (Bar mit Snacks, Events), 39 % am Tag.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Plausibel?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4.100 € je Platz und Jahr, Branchen-Median Österreich ca. 12.000 €. Das Haus trägt sich ab 33.500 € Umsatz.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2" name="Tabelle Gastro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+14.728 €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+23.875 €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Break-even"/>
          <p:cNvSpPr/>
          <p:nvPr/>
        </p:nvSpPr>
        <p:spPr>
          <a:xfrm>
            <a:off x="7863840" y="1371600"/>
            <a:ext cx="3776472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allein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16.700 € Umsatz deckt der Betrieb seine Pacht.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 insgesamt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33.500 € Umsatz sind alle Raten bezahlt.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Umsatz von 65.010 € entspricht ca. 4.100 € je Sitzplatz und Jahr (190 Plätze), der Branchen-Median in Österreich liegt bei ca. 12.000 €.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Ertragswert und Beleihung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3" name="Tabelle Ertragswe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6692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pro Jahr (Mieten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168.247 €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Bewirtschaftungskosten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−23.141 €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Reinertrag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145.106 €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Bodenwert (960 m² × 230 €)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Gebäudeertragswert (mittl. Vervielfältiger 19,9)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2.656.444 €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2.877.244 €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davon Wohnen / Büro / Gastro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1,81 / 0,27 / 0,80 Mio.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elle Beleih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23951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6733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Sachwert (Boden + Herstellungskosten)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4.325.626 €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Beleihungswert (niedrigerer Wert, −10 %)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2.589.520 €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 und 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minus 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−1.968.262 €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über 80 % 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2.773.890 €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0749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Mieten und die Pacht tragen einen Wert von 2,88 Mio. €, die Kosten liegen bei 4,85 Mio. €. Eine Bank beleiht üblicherweise nur bis ca. 80 % des Beleihungswerts. Für die Finanzierung braucht es deshalb zusätzliche Sicherheiten (Grundschulden auf weitere Immobilien, Bürgschaft) oder Eigenkapital in Höhe von ca. 2,77 Mio.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Prognose und Belastungstest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4" name="Tabelle Progno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45336"/>
                <a:gridCol w="1545336"/>
                <a:gridCol w="1545336"/>
                <a:gridCol w="1545336"/>
                <a:gridCol w="1527048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vor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328.159 €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338.253 €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348.660 €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359.389 €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−212.800 €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+13.609 €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 Jahresende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4.796.290 €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4.692.706 €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4.581.834 €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4.463.143 €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4.269.180 €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7" name="Tabelle Belastungste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1371600"/>
                <a:gridCol w="1947672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Belastungstest (pro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Anschlusszins nach 10 Jahren +1 Prozentpunkt (auf Restschuld)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+6.056 €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Mieten Wohnen −10 %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+5.648 €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−3.966 €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+1.682 €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Baukosten +10 % (Kredit steigt entsprechend)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Größerer Büro-Ankermieter zieht aus (Leerstand)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+8.758 €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Beide Büros leer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+8.173 €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fällt ganz aus (keine Pacht, kein Betriebsergebnis)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−9.705 €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−19.318 €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Einfluss der Gastro auf das Ergebnis pro Person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Gesellschafter und Bank</a:t>
            </a:r>
            <a:endParaRPr lang="en-US" sz="1000" dirty="0"/>
          </a:p>
        </p:txBody>
      </p:sp>
      <p:graphicFrame>
        <p:nvGraphicFramePr>
          <p:cNvPr id="25" name="Tabelle Gastro Einflus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554480"/>
                <a:gridCol w="1417320"/>
                <a:gridCol w="1554480"/>
                <a:gridCol w="1554480"/>
                <a:gridCol w="13533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Gastro-Szenario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Person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fällt ganz aus (ohne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−9.705 €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−9.705 €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−4.852 €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−2.426 €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−1.213 €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+1.985 €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+1.985 €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+2.518 €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Plan: 65.010 €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+14.185 €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+14.185 €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+7.093 €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+3.546 €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+1.773 €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95.000 €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+4.690 €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548640" y="493776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502920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Aussage: 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Gastro-Gewinn fehlen 5.115 € pro Monat, im Plan bleiben 9.613 €. Die Gastro macht also den ganzen Unterschied, das Haus trägt sich erst ab ca. 33.500 € Gastro-Umsatz.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Prüfung: ein 60-m²-Apartment als Airbnb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6" name="Tabelle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011680"/>
                <a:gridCol w="2011680"/>
                <a:gridCol w="194767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Apartment 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Werlte amtlich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Emsland-Schnitt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Optimistisch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Airbnb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langfristige Miete pro Monat (60 m² × 11,18 €)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Möblierung 36.000 € (Kapitaldienst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Mehrertrag gegenüber langfristiger Miete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</a:tbl>
          </a:graphicData>
        </a:graphic>
      </p:graphicFrame>
      <p:sp>
        <p:nvSpPr>
          <p:cNvPr id="6" name="Ergebnis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61772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Airbnb lohnt sich in Werlte nicht. Erst ab ca. 63 % Auslastung wäre es so gut wie die langfristige Miete, in Werlte liegt sie amtlich bei 17 %. Die Wohnung bleibt langfristig vermietet.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Sicherheiten und Beleihung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Beleihungsauslauf 187 % bei 100 % Fremdfinanzierung. Gegenmaßnahme: Grundschulden auf weitere Immobilien, Bürgschaft oder Eigenkapital, Pachtvertrag mit Bonitätsnachweis.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 insgesamt ab ca. 33.000 € Umsatz im Plus, bei Ausfall der Gastro fehlen ca. 19.318 € pro Monat, bei Auszug des großen Büro-Ankermieters ca. 855 €. Gegenmaßnahme: Konzept, erfahrener Betreiber, Pachtstaffel, Mietverträge über 10 Jahre mit Bonitätsprüfung.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KfW-Zinsen und Rahmen sind Stand Okt. 2026 unsicher, nach 10 Jahren ist der Folgezins offen. Gegenmaßnahme: Zusage vor Baubeginn,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 und Standard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 und Flachdach müssen bestätigt werden, KfW verlangt Effizienzhaus 40 mit QNG. Gegenmaßnahme: Vorabstimmung, Energieeffizienz-Experte früh einbinden.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Stadt und Bank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4" name="Bedarf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Genehmigung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Staffelgeschoss, Flachdach und Höhe schriftlich bestätigen</a:t>
            </a:r>
            <a:endParaRPr lang="en-US" sz="1400" dirty="0"/>
          </a:p>
        </p:txBody>
      </p:sp>
      <p:sp>
        <p:nvSpPr>
          <p:cNvPr id="7" name="Bedarf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Stellplätze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0" name="Bedarf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Grundstück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Kaufpreis 230 €/m² mit Baureife, Reservierung bis zur Finanzierungszusage</a:t>
            </a:r>
            <a:endParaRPr lang="en-US" sz="1400" dirty="0"/>
          </a:p>
        </p:txBody>
      </p:sp>
      <p:sp>
        <p:nvSpPr>
          <p:cNvPr id="13" name="Bedarf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Darlehen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von 4,85 Mio. € mit KfW 297/298/299 und tilgungsfreier Anlaufzeit von 12 Monaten</a:t>
            </a:r>
            <a:endParaRPr lang="en-US" sz="1400" dirty="0"/>
          </a:p>
        </p:txBody>
      </p:sp>
      <p:sp>
        <p:nvSpPr>
          <p:cNvPr id="16" name="Bedarf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Sicherheiten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über zusätzliche Grundschulden oder Bürgschaft wegen des Beleihungsauslaufs</a:t>
            </a:r>
            <a:endParaRPr lang="en-US" sz="1400" dirty="0"/>
          </a:p>
        </p:txBody>
      </p:sp>
      <p:sp>
        <p:nvSpPr>
          <p:cNvPr id="19" name="Bedarf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KfW-Antrag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Antrag für 297/298 und 299 vor Baubeginn über die Hausbank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Hausbank: Finanzierung, Anlaufzeit, KfW 297/298/299 und Sicherheiten klären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Bauantrag, KfW-Antrag vor Baubeginn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1.650 m² BGF × 2.200 €, Staffel (498 m²) in Holzbau 400 €/m² günstiger, Terrasse 77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Anfangstilgung, tilgungsfreie Anlaufzeit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KfW 297/298 2,5 %, KfW 299 3,0 %, Hausbank 4,0 % (Annahmen)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65.010 €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Wohnungen (655 m²) zu 11,18 €/m² Kaltmiete, 2 Büros (165 m²) zu 9,50 und 10,00 €/m² (10 Jahre fest), Gastro-Pacht 10 €/m² auf 510 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KfW-Kredite statt Zuschuss, Antrag vor Baubeginn; Mehrkosten Effizienzhaus 40 und QNG 3 %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Jahren, Sicherheiten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65.010 €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2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(510 m² × 10 €)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3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(Bowl- und Snackküche, Kühlräume,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Backbar, große Theke)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310.000 €. Für die große Gastro (510 m², 190 Plätze) sind 190.000 € angesetzt. Bei 250.000 € Ausbau steigt die Rate um ca. 228 € im Monat.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4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11,18 €/m² Kaltmiete (950 € für 85 m², Bauherr, zentrale Lage). Büro 9,50–10,00 €/m², Gastro-Pacht 10 €/m²,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Große Gastro und 8 Wohnungen</dc:title>
  <dc:subject>PptxGenJS Presentation</dc:subject>
  <dc:creator>Bessam Hasso</dc:creator>
  <cp:lastModifiedBy>Bessam Hasso</cp:lastModifiedBy>
  <cp:revision>1</cp:revision>
  <dcterms:created xsi:type="dcterms:W3CDTF">2026-10-19T18:27:42Z</dcterms:created>
  <dcterms:modified xsi:type="dcterms:W3CDTF">2026-10-19T18:27:42Z</dcterms:modified>
</cp:coreProperties>
</file>