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3236400</c:v>
                </c:pt>
                <c:pt idx="2">
                  <c:v>485460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13623</c:v>
                </c:pt>
                <c:pt idx="1">
                  <c:v>9730</c:v>
                </c:pt>
                <c:pt idx="2">
                  <c:v>-15639</c:v>
                </c:pt>
                <c:pt idx="3">
                  <c:v>-1362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6351</c:v>
                </c:pt>
                <c:pt idx="1">
                  <c:v>7133</c:v>
                </c:pt>
                <c:pt idx="2">
                  <c:v>7915</c:v>
                </c:pt>
                <c:pt idx="3">
                  <c:v>8697</c:v>
                </c:pt>
                <c:pt idx="4">
                  <c:v>9479</c:v>
                </c:pt>
                <c:pt idx="5">
                  <c:v>10261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3598</c:v>
                </c:pt>
                <c:pt idx="1">
                  <c:v>4518</c:v>
                </c:pt>
                <c:pt idx="2">
                  <c:v>5437</c:v>
                </c:pt>
                <c:pt idx="3">
                  <c:v>6357</c:v>
                </c:pt>
                <c:pt idx="4">
                  <c:v>7277</c:v>
                </c:pt>
                <c:pt idx="5">
                  <c:v>8196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330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Wohnungen 11,18 €/m² (950 € für 85 m², 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11,18 €/m²,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B, jede Wohnung mit eigenem Kredit ohne Eigenkapital und ohne Tilgung, Miete 11,18 €/m²,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B ohne Förderung, 2.200 €/m², Dauermiete 11,18 €/m², 3,3 % Zins, tilgungsfreie Jahre, 10 % Rücklagen. Käufer zahlen Notar (2 %) und Grunderwerbsteuer (5 %, Vater frei, bitte prüfen).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ist ein Vorschlag, Notar, Bank und Bauamt bestimmen die Details.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ist die Hauptvariante. Baufenster im Plan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8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 (Variante B, 540 m² Grundfläche, ohne Förderung)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4,11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, dazu eine Gastro von ca. 46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Wohnungen, dazu eine Gastro von ca. 460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15.639 €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+6.351 €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29.200 €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 Grundfläche (56 %)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× 18 m = 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8–10,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540 m² Grundfläche zulässig (im Plan ist das Baufenster nach meiner Schätzung kleiner)? Zählt das Staffelgeschoss (ca. 460 m² in Holzbau, 85 %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3.922.023 €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3.735.930 €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151.600 € teurer, die Kosten lägen bei 4.282.456 €.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nur rundum ca. 0,8 m zurück: schmale Terrasse ca. 72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5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460 m² mit Bar, Séparée und Küche, dazu Treppenhaus und Aufzug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Wohnungen à ca.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Penthouses à ca. 103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Wohnungen, ca. 725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72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82803" cy="2172614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82803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31443" y="2103120"/>
            <a:ext cx="3138221" cy="2172614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30 Plätze"/>
          <p:cNvSpPr/>
          <p:nvPr/>
        </p:nvSpPr>
        <p:spPr>
          <a:xfrm>
            <a:off x="1272845" y="2404872"/>
            <a:ext cx="2655418" cy="905256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72845" y="2404872"/>
            <a:ext cx="265541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130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876349" y="3454969"/>
            <a:ext cx="1689811" cy="193121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76349" y="3454969"/>
            <a:ext cx="1689811" cy="193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20 Plätze"/>
          <p:cNvSpPr/>
          <p:nvPr/>
        </p:nvSpPr>
        <p:spPr>
          <a:xfrm>
            <a:off x="1031443" y="3611880"/>
            <a:ext cx="784555" cy="663854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1443" y="3611880"/>
            <a:ext cx="784555" cy="663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876349" y="3792931"/>
            <a:ext cx="724205" cy="482803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876349" y="3792931"/>
            <a:ext cx="724205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00554" y="3792931"/>
            <a:ext cx="543154" cy="482803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00554" y="3792931"/>
            <a:ext cx="543154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143707" y="3792931"/>
            <a:ext cx="1025957" cy="482803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43707" y="3792931"/>
            <a:ext cx="1025957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3964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3964" y="2103120"/>
            <a:ext cx="482803" cy="2172614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3964" y="2103120"/>
            <a:ext cx="482803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6" name="Raum WE 1 83 m²"/>
          <p:cNvSpPr/>
          <p:nvPr/>
        </p:nvSpPr>
        <p:spPr>
          <a:xfrm>
            <a:off x="4766767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66767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28" name="Raum WE 2 83 m²"/>
          <p:cNvSpPr/>
          <p:nvPr/>
        </p:nvSpPr>
        <p:spPr>
          <a:xfrm>
            <a:off x="5394411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94411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0" name="Raum WE 3 83 m²"/>
          <p:cNvSpPr/>
          <p:nvPr/>
        </p:nvSpPr>
        <p:spPr>
          <a:xfrm>
            <a:off x="6022056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22056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2" name="Raum WE 4 83 m²"/>
          <p:cNvSpPr/>
          <p:nvPr/>
        </p:nvSpPr>
        <p:spPr>
          <a:xfrm>
            <a:off x="6649700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649700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4" name="Raum WE 5 83 m²"/>
          <p:cNvSpPr/>
          <p:nvPr/>
        </p:nvSpPr>
        <p:spPr>
          <a:xfrm>
            <a:off x="7277344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77344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37" name="Baukörper Staffel (Holzbau)"/>
          <p:cNvSpPr/>
          <p:nvPr/>
        </p:nvSpPr>
        <p:spPr>
          <a:xfrm>
            <a:off x="8019288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8" name="Raum Fläche"/>
          <p:cNvSpPr/>
          <p:nvPr/>
        </p:nvSpPr>
        <p:spPr>
          <a:xfrm>
            <a:off x="8019288" y="2103120"/>
            <a:ext cx="3621024" cy="2172614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Treppe"/>
          <p:cNvSpPr/>
          <p:nvPr/>
        </p:nvSpPr>
        <p:spPr>
          <a:xfrm>
            <a:off x="8115849" y="2199681"/>
            <a:ext cx="410383" cy="197949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15849" y="2199681"/>
            <a:ext cx="410383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41" name="Raum WE 6 103 m²"/>
          <p:cNvSpPr/>
          <p:nvPr/>
        </p:nvSpPr>
        <p:spPr>
          <a:xfrm>
            <a:off x="8526231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26231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3" name="Raum WE 7 103 m²"/>
          <p:cNvSpPr/>
          <p:nvPr/>
        </p:nvSpPr>
        <p:spPr>
          <a:xfrm>
            <a:off x="9531669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531669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5" name="Raum WE 8 103 m²"/>
          <p:cNvSpPr/>
          <p:nvPr/>
        </p:nvSpPr>
        <p:spPr>
          <a:xfrm>
            <a:off x="10537107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537107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7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ca. 30 × 18 m = 540 m² (GRZ 0,6 erlaubt max. 576 m²). Die Gastro nutzt das ganze EG (ca. 460 m²), Treppenhaus und Aufzug liegen am Westende und erschließen die Wohnungen getrennt von der Gastro. Die Staffel in Holzbau hat ca. 460 m² BGF, die beige Fläche ist die schmale Terrasse (ca. 72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(130 im Gastraum, 20 im Séparée), plus ca. 40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 (neu erzeugt, mit Milchglas-Brüstungen),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45 Stellplätze, auf dem Grundstück passen bei 540 m² Gebäude nur ca. 8–10.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− 184.000 €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2.668 €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85.793 €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141.485 €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172.802 €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4.364.433 €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4.414.232 €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 (725 m² × 11,18 €)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460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3.600 €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3.902.710 €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+4.518 €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3.697.304 €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+5.437 €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3.491.899 €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3.286.493 €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3.081.087 €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782 €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+10.965 €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+5.647 €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18.920 €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32.173 €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26.142 €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+5.647 €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+6.792 €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+4.653 €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 (5×)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1.599.043 €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206.428 €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256.998 €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20.000 €.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Penthouse (103 m²) bringt bei 11,18 €/m² 1.155 € Miete, eine OG-Wohnung (83 m²) 928 €.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 (5×)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1.599.043 €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697.503 €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−8.125 €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6.087 € (1 % Tilgung) plus Zinsen für die Differenz 2.038 €. Der Verkaufspreis liegt bei ca. 2.412 € je m² (OG) und 2.615 € je m² (Staffel).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163.297 € (1.967 € je m²), dein Ergebnis auf +4.397 €.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wer bekommt welche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Verkauf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280160"/>
                <a:gridCol w="1234440"/>
                <a:gridCol w="1188720"/>
                <a:gridCol w="1143000"/>
                <a:gridCol w="1143000"/>
                <a:gridCol w="126187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(du)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Notar,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43.205 €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Bruder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235.080 €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1, eigene)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2, vermietet)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3, vermietet)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091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behältst drei OG-Wohnungen (eine zum Wohnen, zwei vermietet, ohne Notar und Steuer). Die Wohnungen von Vater, Bruder und den drei Onkeln werden so gesenkt, dass jede mindestens +100 € im Monat hat. Die Differenz von 256.442 € trägst du, die Zinsen darauf kosten 749 € im Monat.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Ergebnis: Gastro 15.250 € minus Rate für das EG 6.087 € minus Zinsen auf die Differenz 749 € plus deine drei eigenen Wohnungen −35 € = +8.378 € pro Monat (ohne Lohn).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Ablauf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075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und Preise klären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075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Stadt: Städtebauförderung und Grundstückspreis. Bauunternehmen und Zimmerei: Festpreis je m².</a:t>
            </a:r>
            <a:endParaRPr lang="en-US" sz="1250" dirty="0"/>
          </a:p>
        </p:txBody>
      </p:sp>
      <p:sp>
        <p:nvSpPr>
          <p:cNvPr id="9" name="Schritt 2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0848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Bauvoranfrage / Bauantrag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08483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Flachdach, Höhe und Stellplätze schriftlich bestätigen lassen.</a:t>
            </a:r>
            <a:endParaRPr lang="en-US" sz="1250" dirty="0"/>
          </a:p>
        </p:txBody>
      </p:sp>
      <p:sp>
        <p:nvSpPr>
          <p:cNvPr id="13" name="Schritt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862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Teilungserklärung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6207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Aufteilung in Wohnungseigentum (8 Wohnungen und Gastro im EG), Hausverwaltung bestimmen.</a:t>
            </a:r>
            <a:endParaRPr lang="en-US" sz="1250" dirty="0"/>
          </a:p>
        </p:txBody>
      </p:sp>
      <p:sp>
        <p:nvSpPr>
          <p:cNvPr id="17" name="Schritt 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6393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je Käufer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3931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Bankzusage für jeden Käufer, ohne Eigenkapital und nach den neuen Käufen der letzten zwei Jahre schwer.</a:t>
            </a:r>
            <a:endParaRPr lang="en-US" sz="1250" dirty="0"/>
          </a:p>
        </p:txBody>
      </p:sp>
      <p:sp>
        <p:nvSpPr>
          <p:cNvPr id="21" name="Schritt 5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416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Notarverträge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441655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Verkauf vor dem Bau gilt als Bauträgergeschäft, Erlaubnis nach § 34c GewO und Sicherheiten klären.</a:t>
            </a:r>
            <a:endParaRPr lang="en-US" sz="1250" dirty="0"/>
          </a:p>
        </p:txBody>
      </p:sp>
      <p:sp>
        <p:nvSpPr>
          <p:cNvPr id="25" name="Schritt 6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193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und Übergabe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51937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ca. 15 Monate, danach Abnahme und Übergabe, Vermietung der Wohnungen.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11,18 €/m² liegt am oberen Rand der Portalwerte für Neubau in Werlte (ca. 10,7–11,0 €/m²), der Altbestand liegt bei 8–10 €/m².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29.000 € Umsatz, bei 4 % Zins ca. 38.000 €.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540 m² Grundfläche, Staffelgeschoss und Flachdach müssen von der Stadt bestätigt werden. Gegenmaßnahme: Vorabstimmung, Plan B mit Variante A (340 m²) oder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+1.564 €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540 m² Grundfläche, 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+1.930 €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Vergleich mit Variante A und C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1.540 m² BGF × 2.200 €, Staffel (460 m²) in Holzbau 400 €/m² günstiger, Terrasse 72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Wohnungen (725 m²) zu 11,18 €/m² Kaltmiete, Gastro-Pacht 12 €/m² auf 460 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(460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40.270 €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150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größere Gastro (ca. 460 m², ca. 150 Plätze) sind 150.000 € knapp: bei 200.000 € Ausbau steigt die Rate um ca. 190 €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Vergleich: Variante A, B und C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(Haupt):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 m² /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1.140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(+ Büro 150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5.474.316 €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32.527 €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3.701 € / 3.590 €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3.492 € / 3.419 €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3.440 € / 3.360 €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103.223 €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85.390 €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80.985 €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,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460 m²), Regelgeschosse je 540 m², Staffel 460 m² in Holzbau mit 72 m² schmaler Terrasse. Wohnen 11,18 €/m². Variante A hat Gastro 290 m² und Büro 150 m² im EG.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Große Gastro und 8 Wohnungen</dc:title>
  <dc:subject>PptxGenJS Presentation</dc:subject>
  <dc:creator>Bessam Hasso</dc:creator>
  <cp:lastModifiedBy>Bessam Hasso</cp:lastModifiedBy>
  <cp:revision>1</cp:revision>
  <dcterms:created xsi:type="dcterms:W3CDTF">2026-10-16T08:57:38Z</dcterms:created>
  <dcterms:modified xsi:type="dcterms:W3CDTF">2026-10-16T08:57:38Z</dcterms:modified>
</cp:coreProperties>
</file>