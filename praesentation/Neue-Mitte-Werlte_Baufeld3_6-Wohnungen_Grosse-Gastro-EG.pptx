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2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3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Stellplätze</c:v>
                </c:pt>
              </c:strCache>
            </c:strRef>
          </c:tx>
          <c:spPr>
            <a:solidFill>
              <a:srgbClr val="8C3B3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600" u="none">
                    <a:solidFill>
                      <a:srgbClr val="1F2421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C3B3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F4A3E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Bedarf (Annahme)</c:v>
                  </c:pt>
                  <c:pt idx="1">
                    <c:v>Platz auf dem Grundstück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52</c:v>
                </c:pt>
                <c:pt idx="1">
                  <c:v>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600" u="none">
                  <a:solidFill>
                    <a:srgbClr val="1F2421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F242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6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Kosten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49A45"/>
              </a:solidFill>
              <a:effectLst/>
            </c:spPr>
          </c:dPt>
          <c:dPt>
            <c:idx val="1"/>
            <c:bubble3D val="0"/>
            <c:spPr>
              <a:solidFill>
                <a:srgbClr val="8C3B32"/>
              </a:solidFill>
              <a:effectLst/>
            </c:spPr>
          </c:dPt>
          <c:dPt>
            <c:idx val="2"/>
            <c:bubble3D val="0"/>
            <c:spPr>
              <a:solidFill>
                <a:srgbClr val="5B6770"/>
              </a:solidFill>
              <a:effectLst/>
            </c:spPr>
          </c:dPt>
          <c:dPt>
            <c:idx val="3"/>
            <c:bubble3D val="0"/>
            <c:spPr>
              <a:solidFill>
                <a:srgbClr val="2F4A3E"/>
              </a:solidFill>
              <a:effectLst/>
            </c:spPr>
          </c:dPt>
          <c:dPt>
            <c:idx val="4"/>
            <c:bubble3D val="0"/>
            <c:spPr>
              <a:solidFill>
                <a:srgbClr val="A8B0B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Grundstück</c:v>
                </c:pt>
                <c:pt idx="1">
                  <c:v>Bau</c:v>
                </c:pt>
                <c:pt idx="2">
                  <c:v>Baunebenkosten und Standard</c:v>
                </c:pt>
                <c:pt idx="3">
                  <c:v>Gastro-Ausbau</c:v>
                </c:pt>
                <c:pt idx="4">
                  <c:v>Finanzierung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236256</c:v>
                </c:pt>
                <c:pt idx="1">
                  <c:v>3465450</c:v>
                </c:pt>
                <c:pt idx="2">
                  <c:v>639375.525</c:v>
                </c:pt>
                <c:pt idx="3">
                  <c:v>214750</c:v>
                </c:pt>
                <c:pt idx="4">
                  <c:v>297196.442198351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F2421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2421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1F2421"/>
                </a:solidFill>
                <a:latin typeface="+mn-lt"/>
              </a:rPr>
              <a:t>Restschuld in € nach Jahren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Restschuld</c:v>
                </c:pt>
              </c:strCache>
            </c:strRef>
          </c:tx>
          <c:spPr>
            <a:solidFill>
              <a:srgbClr val="8C3B32"/>
            </a:solidFill>
            <a:ln w="38100" cap="flat">
              <a:solidFill>
                <a:srgbClr val="8C3B3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8C3B32"/>
              </a:solidFill>
              <a:ln w="9525" cap="flat">
                <a:solidFill>
                  <a:srgbClr val="8C3B3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Sheet1!$A$2:$A$36</c:f>
              <c:multiLvlStrCache>
                <c:ptCount val="35"/>
                <c:lvl>
                  <c:pt idx="0">
                    <c:v>1</c:v>
                  </c:pt>
                  <c:pt idx="1">
                    <c:v>2</c:v>
                  </c:pt>
                  <c:pt idx="2">
                    <c:v>3</c:v>
                  </c:pt>
                  <c:pt idx="3">
                    <c:v>4</c:v>
                  </c:pt>
                  <c:pt idx="4">
                    <c:v>5</c:v>
                  </c:pt>
                  <c:pt idx="5">
                    <c:v>6</c:v>
                  </c:pt>
                  <c:pt idx="6">
                    <c:v>7</c:v>
                  </c:pt>
                  <c:pt idx="7">
                    <c:v>8</c:v>
                  </c:pt>
                  <c:pt idx="8">
                    <c:v>9</c:v>
                  </c:pt>
                  <c:pt idx="9">
                    <c:v>10</c:v>
                  </c:pt>
                  <c:pt idx="10">
                    <c:v>11</c:v>
                  </c:pt>
                  <c:pt idx="11">
                    <c:v>12</c:v>
                  </c:pt>
                  <c:pt idx="12">
                    <c:v>13</c:v>
                  </c:pt>
                  <c:pt idx="13">
                    <c:v>14</c:v>
                  </c:pt>
                  <c:pt idx="14">
                    <c:v>15</c:v>
                  </c:pt>
                  <c:pt idx="15">
                    <c:v>16</c:v>
                  </c:pt>
                  <c:pt idx="16">
                    <c:v>17</c:v>
                  </c:pt>
                  <c:pt idx="17">
                    <c:v>18</c:v>
                  </c:pt>
                  <c:pt idx="18">
                    <c:v>19</c:v>
                  </c:pt>
                  <c:pt idx="19">
                    <c:v>20</c:v>
                  </c:pt>
                  <c:pt idx="20">
                    <c:v>21</c:v>
                  </c:pt>
                  <c:pt idx="21">
                    <c:v>22</c:v>
                  </c:pt>
                  <c:pt idx="22">
                    <c:v>23</c:v>
                  </c:pt>
                  <c:pt idx="23">
                    <c:v>24</c:v>
                  </c:pt>
                  <c:pt idx="24">
                    <c:v>25</c:v>
                  </c:pt>
                  <c:pt idx="25">
                    <c:v>26</c:v>
                  </c:pt>
                  <c:pt idx="26">
                    <c:v>27</c:v>
                  </c:pt>
                  <c:pt idx="27">
                    <c:v>28</c:v>
                  </c:pt>
                  <c:pt idx="28">
                    <c:v>29</c:v>
                  </c:pt>
                  <c:pt idx="29">
                    <c:v>30</c:v>
                  </c:pt>
                  <c:pt idx="30">
                    <c:v>31</c:v>
                  </c:pt>
                  <c:pt idx="31">
                    <c:v>32</c:v>
                  </c:pt>
                  <c:pt idx="32">
                    <c:v>33</c:v>
                  </c:pt>
                  <c:pt idx="33">
                    <c:v>34</c:v>
                  </c:pt>
                  <c:pt idx="34">
                    <c:v>35</c:v>
                  </c:pt>
                </c:lvl>
              </c:multiLvlStrCache>
            </c:multiLvlStrRef>
          </c:cat>
          <c:val>
            <c:numRef>
              <c:f>Sheet1!$B$2:$B$36</c:f>
              <c:numCache>
                <c:formatCode>General</c:formatCode>
                <c:ptCount val="35"/>
                <c:pt idx="0">
                  <c:v>4803715</c:v>
                </c:pt>
                <c:pt idx="1">
                  <c:v>4752653</c:v>
                </c:pt>
                <c:pt idx="2">
                  <c:v>4699779</c:v>
                </c:pt>
                <c:pt idx="3">
                  <c:v>4645026</c:v>
                </c:pt>
                <c:pt idx="4">
                  <c:v>4588326</c:v>
                </c:pt>
                <c:pt idx="5">
                  <c:v>4529607</c:v>
                </c:pt>
                <c:pt idx="6">
                  <c:v>4468794</c:v>
                </c:pt>
                <c:pt idx="7">
                  <c:v>4405810</c:v>
                </c:pt>
                <c:pt idx="8">
                  <c:v>4340577</c:v>
                </c:pt>
                <c:pt idx="9">
                  <c:v>4273010</c:v>
                </c:pt>
                <c:pt idx="10">
                  <c:v>4203024</c:v>
                </c:pt>
                <c:pt idx="11">
                  <c:v>4130529</c:v>
                </c:pt>
                <c:pt idx="12">
                  <c:v>4055433</c:v>
                </c:pt>
                <c:pt idx="13">
                  <c:v>3977639</c:v>
                </c:pt>
                <c:pt idx="14">
                  <c:v>3897048</c:v>
                </c:pt>
                <c:pt idx="15">
                  <c:v>3813556</c:v>
                </c:pt>
                <c:pt idx="16">
                  <c:v>3727055</c:v>
                </c:pt>
                <c:pt idx="17">
                  <c:v>3637433</c:v>
                </c:pt>
                <c:pt idx="18">
                  <c:v>3544575</c:v>
                </c:pt>
                <c:pt idx="19">
                  <c:v>3448361</c:v>
                </c:pt>
                <c:pt idx="20">
                  <c:v>3348665</c:v>
                </c:pt>
                <c:pt idx="21">
                  <c:v>3245358</c:v>
                </c:pt>
                <c:pt idx="22">
                  <c:v>3138305</c:v>
                </c:pt>
                <c:pt idx="23">
                  <c:v>3027367</c:v>
                </c:pt>
                <c:pt idx="24">
                  <c:v>2912398</c:v>
                </c:pt>
                <c:pt idx="25">
                  <c:v>2793247</c:v>
                </c:pt>
                <c:pt idx="26">
                  <c:v>2669759</c:v>
                </c:pt>
                <c:pt idx="27">
                  <c:v>2541771</c:v>
                </c:pt>
                <c:pt idx="28">
                  <c:v>2409114</c:v>
                </c:pt>
                <c:pt idx="29">
                  <c:v>2271614</c:v>
                </c:pt>
                <c:pt idx="30">
                  <c:v>2129089</c:v>
                </c:pt>
                <c:pt idx="31">
                  <c:v>1981349</c:v>
                </c:pt>
                <c:pt idx="32">
                  <c:v>1828200</c:v>
                </c:pt>
                <c:pt idx="33">
                  <c:v>1669437</c:v>
                </c:pt>
                <c:pt idx="34">
                  <c:v>1504850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421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F2421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Titelfolie. Das Bild ist eine Referenzstudie.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Alle Zahlen stammen aus dem Rechenmodell Bankunterlagen_Baufeld3.xlsx und sind Planungsannahmen.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Quelle: Konzeptheft Neue Mitte Werlte (Seiten 13, 16 und 24).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Festsetzungen aus Bebauungsplan Nr. 123 (Entwurf). Zulässigkeit von Staffelgeschoss und Flachdach muss die Stadt schriftlich bestätigen.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Preise sind Annahmen und müssen durch Angebote der Zimmerei und des Bauunternehmens bestätigt werden.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Schnitt schematisch. Hauptbaukörper bis 6,50 m, Staffelgeschoss bis ca. 9,60 m, Attika ca. 9,90 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Schematische Skizzen, nicht maßstäblich genau. Aufteilung wird mit dem Architekten verfeinert.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Links Referenzstudie, rechts unsere Eckansicht als Skizze.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KI-Visualisierung, Planung folgt mit dem Gastro-Fachplaner. Details im Gastro-Konzept.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KI-Visualisierungen auf Basis der Skizzen, keine Planung.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Bedarf nach groben Annahmen (1,5 pro Wohnung, 1 je 10 m² Gastraum bei ca. 370 m², 1 je 30 m² Büro). Die Stellplatzsatzung der Stadt gilt verbindlich.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Miete 11,18 €/m² (950 € für 85 m², Annahme des Bauherrn). Portale nennen für Neubau in Werlte ca. 10,7–11,0 €/m². Nebenkosten werden umgelegt.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Gastro-Flächen aus Plätzen und Richtwerten abgeleitet, Büromieten und Laufzeiten sind Annahmen (keine Büromarktdaten für Werlte gefunden).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KfW zahlt im Neubau keinen Zuschuss, sondern verbilligt den Zins. Beträge und Zinsen laut Ratgebern Oktober 2026, bei Hausbank und KfW bestätigen. Antrag über die Hausbank vor Baubeginn.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Baukosten 2.200 €/m² (Holz-Staffel 400 € günstiger) und 15 % Baunebenkosten sind Annahmen des Bauherrn und müssen durch Angebote von Bauunternehmen und Zimmerei bestätigt werden.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Kein Eigenkapital. Die Hausbank finanziert den Rest und die Zinsen der Bau- und Anlaufzeit. Tilgungsfreie Anlaufzeit 12 Monate ist mit der Bank zu verhandeln.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Annuität: Rate = Darlehen × (Zins + 1 % Tilgung) / 12. Zinsbindung 10 Jahre, danach gleicher Zins angenommen. Die Rate gilt nach der tilgungsfreien Anlaufzeit.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Monatlicher Plan über 35 Jahre im Excel-Blatt Tilgungsplan. Hier nach Jahren, Anfangstilgung 1 %, gleicher Zins nach der Zinsbindung angenommen.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Gastro-Betrieb bei 65.000 € Umsatz und 30,5 % Marge vor Pacht, ohne Lohn des Bauherrn. Rücklagen 10 % von Miete und Pacht.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Gastro-Marge vor Pacht 30,5 % vom Umsatz (Branchen-Richtwert, nicht aus Werlte). Bei sehr niedrigem Umsatz drücken Fixkosten stärker, die Rechnung ist dort zu günstig.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Vereinfachtes Ertragswertverfahren nach ImmoWertV, getrennt nach Nutzung: Liegenschaftszins Wohnen 4,0 %, Büro 6,0 %, Gastro 6,5 %. Der verbindliche Beleihungswert kommt vom Gutachter der Bank.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Prognose: Miete, Pacht und Umsatz +1,5 % pro Jahr, Kapitaldienst konstant. Belastungstest vereinfacht, Hausbank rechnet mit eigenen Annahmen.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Annahmen: Auslastung 50 % (Emsland laut Quelle ca. 37 %), Möblierung 600 €/m² im Kredit, Kostenquote 56 % vom Umsatz, Mindest-Mehrertrag 300 € pro Monat für den Mehraufwand.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Die Miete von 11,18 €/m² ist eine Annahme des Bauherrn, Marktdaten für Werlte liegen darunter.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Zeitplan der Stadt aus dem Konzeptheft, Bauantrag und Förderzusagen sind meine Planung.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Alle Zahlen sind Planungsannahmen, keine Zusagen.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Prozentwerte sind Branchen-Richtwerte aus meiner Einschätzung, nicht aus Quellen für Werlte.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Ausgehend vom Zielbudget des Bauherrn (150.000 € für 150 Plätze) hochgerechnet auf 190 Plätze: 1.000 € je Platz. Büros: Vermieter-Ausbau 150 €/m² zusätzlich. Angebote müssen es bestätigen.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gibt keinen amtlichen Mietspiegel für Werlte, die Portale arbeiten mit kleinen Stichproben.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">
    <p:bg>
      <p:bgPr>
        <a:solidFill>
          <a:srgbClr val="2F4A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NHA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097280"/>
            <a:ext cx="822960" cy="41148"/>
          </a:xfrm>
          <a:prstGeom prst="rect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image" Target="../media/image-10-3.jpg"/><Relationship Id="rId4" Type="http://schemas.openxmlformats.org/officeDocument/2006/relationships/image" Target="../media/image-10-4.jpg"/><Relationship Id="rId5" Type="http://schemas.openxmlformats.org/officeDocument/2006/relationships/image" Target="../media/image-10-5.jp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ußenansicht, modernes Haus mit Klinker und Glas-Erdgeschos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0"/>
            <a:ext cx="5879592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188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spc="400" kern="0" dirty="0">
                <a:solidFill>
                  <a:schemeClr val="accent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NEUE MITTE WERLTE</a:t>
            </a:r>
            <a:endParaRPr lang="en-US" sz="16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69164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7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Baufeld 3: Große Gastro und 6 Wohnungen</a:t>
            </a:r>
            <a:endParaRPr lang="en-US" sz="37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9319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Businessplan für die Bank: Konzept, Finanzierung mit KfW-Krediten, Ertragswert und Abzahlungsplan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02920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FD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Bessam Hasso, Werlte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FD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Bebauungsplan Nr. 123, 1. Änderung (Entwurf 25.08.2026)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FD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 Oktober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 Vorhaben auf einen Blick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Stadt und Bank</a:t>
            </a:r>
            <a:endParaRPr lang="en-US" sz="1000" dirty="0"/>
          </a:p>
        </p:txBody>
      </p:sp>
      <p:sp>
        <p:nvSpPr>
          <p:cNvPr id="5" name="Kennzahl Gesamtkosten inkl. Finanzierung in Bau- und Anlaufzeit"/>
          <p:cNvSpPr/>
          <p:nvPr/>
        </p:nvSpPr>
        <p:spPr>
          <a:xfrm>
            <a:off x="548640" y="1371600"/>
            <a:ext cx="2635758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508760"/>
            <a:ext cx="22699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4,85 Mio. €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240280"/>
            <a:ext cx="2269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Gesamtkosten inkl. Finanzierung in Bau- und Anlaufzeit</a:t>
            </a:r>
            <a:endParaRPr lang="en-US" sz="1400" dirty="0"/>
          </a:p>
        </p:txBody>
      </p:sp>
      <p:sp>
        <p:nvSpPr>
          <p:cNvPr id="8" name="Kennzahl des Darlehens über KfW 297, 298, 299 (2,05 Mio. €)"/>
          <p:cNvSpPr/>
          <p:nvPr/>
        </p:nvSpPr>
        <p:spPr>
          <a:xfrm>
            <a:off x="3367278" y="1371600"/>
            <a:ext cx="2635758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550158" y="1508760"/>
            <a:ext cx="22699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42 %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3550158" y="2240280"/>
            <a:ext cx="2269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 Darlehens über KfW 297, 298, 299 (2,05 Mio. €)</a:t>
            </a:r>
            <a:endParaRPr lang="en-US" sz="1400" dirty="0"/>
          </a:p>
        </p:txBody>
      </p:sp>
      <p:sp>
        <p:nvSpPr>
          <p:cNvPr id="11" name="Kennzahl Kapitaldienst pro Monat (Mischzins 3,49 %, 1 % Tilgung)"/>
          <p:cNvSpPr/>
          <p:nvPr/>
        </p:nvSpPr>
        <p:spPr>
          <a:xfrm>
            <a:off x="6185916" y="1371600"/>
            <a:ext cx="2635758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68796" y="1508760"/>
            <a:ext cx="22699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accent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18.140 €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6368796" y="2240280"/>
            <a:ext cx="2269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Kapitaldienst pro Monat (Mischzins 3,49 %, 1 % Tilgung)</a:t>
            </a:r>
            <a:endParaRPr lang="en-US" sz="1400" dirty="0"/>
          </a:p>
        </p:txBody>
      </p:sp>
      <p:sp>
        <p:nvSpPr>
          <p:cNvPr id="14" name="Kennzahl Ergebnis pro Monat nach Kapitaldienst, ohne Lohn"/>
          <p:cNvSpPr/>
          <p:nvPr/>
        </p:nvSpPr>
        <p:spPr>
          <a:xfrm>
            <a:off x="9004554" y="1371600"/>
            <a:ext cx="2635758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87434" y="1508760"/>
            <a:ext cx="22699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accent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+9.204 €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9187434" y="2240280"/>
            <a:ext cx="22699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Ergebnis pro Monat nach Kapitaldienst, ohne Lohn</a:t>
            </a:r>
            <a:endParaRPr lang="en-US" sz="1400" dirty="0"/>
          </a:p>
        </p:txBody>
      </p:sp>
      <p:graphicFrame>
        <p:nvGraphicFramePr>
          <p:cNvPr id="3" name="Tabelle Eckdate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154680"/>
          <a:ext cx="11091672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779983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Projekt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Wert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Grundstück / Grundfläche / BGF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960 m² / 576 m² (32 × 18 m, GRZ-Maximum) / 1.650 m² (EG, 1. OG, Staffel)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Nutzung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Gastro im ganzen EG (ca. 510 m²), im 1. OG 2 Büro-Ankermieter (100 und 65 m²) und 3 Wohnungen, im Staffelgeschoss in Holzbau 3 Wohnungen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Finanzierung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100 % Fremdkapital, kein Eigenkapital, KfW 297/298/299 plus Hausbank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Kapitaldienstdeckung (DSCR)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1,51 gesamt, 0,70 nur Immobilie (Miete und Pacht)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Ertragswert / Beleihungsauslauf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2,89 Mio. € / 186 % (Darlehen zu Beleihungswert)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Text 14"/>
          <p:cNvSpPr txBox="1"/>
          <p:nvPr/>
        </p:nvSpPr>
        <p:spPr>
          <a:xfrm>
            <a:off x="548640" y="54864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Ertrag trägt die Raten nur zusammen mit dem Gastro-Gewinn. Die Bank wird wegen des Ertragswerts zusätzliche Sicherheiten oder Eigenkapital verlangen, siehe Folie Ertragswert.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Ein Eckgrundstück an der neuen Mitte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Stadt</a:t>
            </a:r>
            <a:endParaRPr lang="en-US" sz="1000" dirty="0"/>
          </a:p>
        </p:txBody>
      </p:sp>
      <p:sp>
        <p:nvSpPr>
          <p:cNvPr id="5" name="Fakt 1"/>
          <p:cNvSpPr/>
          <p:nvPr/>
        </p:nvSpPr>
        <p:spPr>
          <a:xfrm>
            <a:off x="548640" y="1371600"/>
            <a:ext cx="475488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4630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ca. 960 m²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19659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Baufeld 3, östlich des Rathauses, südlich der Planstraße</a:t>
            </a:r>
            <a:endParaRPr lang="en-US" sz="1400" dirty="0"/>
          </a:p>
        </p:txBody>
      </p:sp>
      <p:sp>
        <p:nvSpPr>
          <p:cNvPr id="8" name="Fakt 2"/>
          <p:cNvSpPr/>
          <p:nvPr/>
        </p:nvSpPr>
        <p:spPr>
          <a:xfrm>
            <a:off x="548640" y="2651760"/>
            <a:ext cx="475488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27432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Mischgebiet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32461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Gewerbe im EG erwünscht, Stellplätze auf dem Grundstück</a:t>
            </a:r>
            <a:endParaRPr lang="en-US" sz="1400" dirty="0"/>
          </a:p>
        </p:txBody>
      </p:sp>
      <p:sp>
        <p:nvSpPr>
          <p:cNvPr id="11" name="Fakt 3"/>
          <p:cNvSpPr/>
          <p:nvPr/>
        </p:nvSpPr>
        <p:spPr>
          <a:xfrm>
            <a:off x="548640" y="3931920"/>
            <a:ext cx="475488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40233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Baureife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45262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liegt vor, Baubeginn jederzeit möglich</a:t>
            </a:r>
            <a:endParaRPr lang="en-US" sz="1400" dirty="0"/>
          </a:p>
        </p:txBody>
      </p:sp>
      <p:sp>
        <p:nvSpPr>
          <p:cNvPr id="14" name="Zeitleiste"/>
          <p:cNvSpPr/>
          <p:nvPr/>
        </p:nvSpPr>
        <p:spPr>
          <a:xfrm>
            <a:off x="6263640" y="1508760"/>
            <a:ext cx="0" cy="402336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</p:sp>
      <p:sp>
        <p:nvSpPr>
          <p:cNvPr id="15" name="Punkt 1"/>
          <p:cNvSpPr/>
          <p:nvPr/>
        </p:nvSpPr>
        <p:spPr>
          <a:xfrm>
            <a:off x="6126480" y="1417320"/>
            <a:ext cx="274320" cy="27432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583680" y="1371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 2026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6583680" y="1737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Stellplatz alte Grundschule</a:t>
            </a:r>
            <a:endParaRPr lang="en-US" sz="1400" dirty="0"/>
          </a:p>
        </p:txBody>
      </p:sp>
      <p:sp>
        <p:nvSpPr>
          <p:cNvPr id="18" name="Punkt 2"/>
          <p:cNvSpPr/>
          <p:nvPr/>
        </p:nvSpPr>
        <p:spPr>
          <a:xfrm>
            <a:off x="6126480" y="2286000"/>
            <a:ext cx="274320" cy="27432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240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 März 2027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6583680" y="2606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Bau Planstraße (Erschließung)</a:t>
            </a:r>
            <a:endParaRPr lang="en-US" sz="1400" dirty="0"/>
          </a:p>
        </p:txBody>
      </p:sp>
      <p:sp>
        <p:nvSpPr>
          <p:cNvPr id="21" name="Punkt 3"/>
          <p:cNvSpPr/>
          <p:nvPr/>
        </p:nvSpPr>
        <p:spPr>
          <a:xfrm>
            <a:off x="6126480" y="3154680"/>
            <a:ext cx="274320" cy="27432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0" y="3108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Mitte 2027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6583680" y="3474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Unser Baubeginn</a:t>
            </a:r>
            <a:endParaRPr lang="en-US" sz="1400" dirty="0"/>
          </a:p>
        </p:txBody>
      </p:sp>
      <p:sp>
        <p:nvSpPr>
          <p:cNvPr id="24" name="Punkt 4"/>
          <p:cNvSpPr/>
          <p:nvPr/>
        </p:nvSpPr>
        <p:spPr>
          <a:xfrm>
            <a:off x="6126480" y="4023360"/>
            <a:ext cx="274320" cy="274320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0" y="3977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 Juli 2027</a:t>
            </a:r>
            <a:endParaRPr lang="en-US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6583680" y="43434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Kreisverkehr Loruper Straße</a:t>
            </a:r>
            <a:endParaRPr lang="en-US" sz="1400" dirty="0"/>
          </a:p>
        </p:txBody>
      </p:sp>
      <p:sp>
        <p:nvSpPr>
          <p:cNvPr id="27" name="Punkt 5"/>
          <p:cNvSpPr/>
          <p:nvPr/>
        </p:nvSpPr>
        <p:spPr>
          <a:xfrm>
            <a:off x="6126480" y="4892040"/>
            <a:ext cx="274320" cy="27432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bg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0" y="4846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Ende 2028</a:t>
            </a:r>
            <a:endParaRPr lang="en-US" sz="1800" dirty="0"/>
          </a:p>
        </p:txBody>
      </p:sp>
      <p:sp>
        <p:nvSpPr>
          <p:cNvPr id="29" name="Text 26"/>
          <p:cNvSpPr txBox="1"/>
          <p:nvPr/>
        </p:nvSpPr>
        <p:spPr>
          <a:xfrm>
            <a:off x="6583680" y="5212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Marktplatz, Rathaus fertig und unsere Eröffnung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der Bebauungsplan vorgibt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Stadt</a:t>
            </a:r>
            <a:endParaRPr lang="en-US" sz="1000" dirty="0"/>
          </a:p>
        </p:txBody>
      </p:sp>
      <p:graphicFrame>
        <p:nvGraphicFramePr>
          <p:cNvPr id="5" name="Tabelle B-Pla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4023360"/>
                <a:gridCol w="4142232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Festsetzung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Wert im B-Plan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Unser Entwurf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Grundflächenzahl (GRZ)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0,6 → max. 576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576 m² Grundfläche (60 %, GRZ-Maximum)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Vollgeschosse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zwei (II im Kreis)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EG und 1. OG, dazu Staffelgeschoss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Traufhöhe / Höhe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6,50 m / 12,00 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Hauptbaukörper 6,50 m, gesamt ca. 9,90 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Dachform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laut Konzeptheft Mischgebiet, Details im Plan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Flachdach mit zurückgesetztem Staffelgeschoss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Baufenster (geschätzt)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 Plan geschätzt ca. 400–460 m², Stadt klären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ca. 32 × 18 m = 576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Stellplätze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auf dem Grundstück, ausreichende Anzahl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ca. 6–8, Rest siehe Stellplatzfolie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Klärungsbedarf"/>
          <p:cNvSpPr/>
          <p:nvPr/>
        </p:nvSpPr>
        <p:spPr>
          <a:xfrm>
            <a:off x="548640" y="4937760"/>
            <a:ext cx="11091672" cy="1143000"/>
          </a:xfrm>
          <a:prstGeom prst="roundRect">
            <a:avLst>
              <a:gd name="adj" fmla="val 64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77240" y="5029200"/>
            <a:ext cx="106344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Schriftlich klären: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Sind 576 m² Grundfläche zulässig (im Plan ist das Baufenster nach meiner Schätzung kleiner)? Zählt das Staffelgeschoss (ca. 498 m² in Holzbau, 86 % der Fläche darunter) als drittes Vollgeschoss? Ist die Flachdach-Lösung zulässig?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Staffelgeschoss in Holzbau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Bank und Stadt</a:t>
            </a:r>
            <a:endParaRPr lang="en-US" sz="1000" dirty="0"/>
          </a:p>
        </p:txBody>
      </p:sp>
      <p:sp>
        <p:nvSpPr>
          <p:cNvPr id="5" name="Kennzahl Staffelgeschoss in Holzbau, nur 0,8 m rundum zurückgesetzt"/>
          <p:cNvSpPr/>
          <p:nvPr/>
        </p:nvSpPr>
        <p:spPr>
          <a:xfrm>
            <a:off x="548640" y="1371600"/>
            <a:ext cx="3514344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508760"/>
            <a:ext cx="3148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498 m²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240280"/>
            <a:ext cx="3148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Staffelgeschoss in Holzbau, nur 0,8 m rundum zurückgesetzt</a:t>
            </a:r>
            <a:endParaRPr lang="en-US" sz="1400" dirty="0"/>
          </a:p>
        </p:txBody>
      </p:sp>
      <p:sp>
        <p:nvSpPr>
          <p:cNvPr id="8" name="Kennzahl Ersparnis gegenüber Massivbau (400 € je m², Annahme)"/>
          <p:cNvSpPr/>
          <p:nvPr/>
        </p:nvSpPr>
        <p:spPr>
          <a:xfrm>
            <a:off x="4337304" y="1371600"/>
            <a:ext cx="3514344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520184" y="1508760"/>
            <a:ext cx="3148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accent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199.200 €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4520184" y="2240280"/>
            <a:ext cx="3148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Ersparnis gegenüber Massivbau (400 € je m², Annahme)</a:t>
            </a:r>
            <a:endParaRPr lang="en-US" sz="1400" dirty="0"/>
          </a:p>
        </p:txBody>
      </p:sp>
      <p:sp>
        <p:nvSpPr>
          <p:cNvPr id="11" name="Kennzahl schmale Dachterrasse rundum (ca. 0,8 m), nicht Teil der BGF"/>
          <p:cNvSpPr/>
          <p:nvPr/>
        </p:nvSpPr>
        <p:spPr>
          <a:xfrm>
            <a:off x="8125968" y="1371600"/>
            <a:ext cx="3514344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08848" y="1508760"/>
            <a:ext cx="31485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chemeClr val="accent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77 m²</a:t>
            </a:r>
            <a:endParaRPr lang="en-US" sz="3000" dirty="0"/>
          </a:p>
        </p:txBody>
      </p:sp>
      <p:sp>
        <p:nvSpPr>
          <p:cNvPr id="13" name="Text 10"/>
          <p:cNvSpPr txBox="1"/>
          <p:nvPr/>
        </p:nvSpPr>
        <p:spPr>
          <a:xfrm>
            <a:off x="8308848" y="2240280"/>
            <a:ext cx="3148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schmale Dachterrasse rundum (ca. 0,8 m), nicht Teil der BGF</a:t>
            </a:r>
            <a:endParaRPr lang="en-US" sz="1400" dirty="0"/>
          </a:p>
        </p:txBody>
      </p:sp>
      <p:sp>
        <p:nvSpPr>
          <p:cNvPr id="14" name="Warum Holz oben"/>
          <p:cNvSpPr/>
          <p:nvPr/>
        </p:nvSpPr>
        <p:spPr>
          <a:xfrm>
            <a:off x="548640" y="3108960"/>
            <a:ext cx="11091672" cy="265176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2960" y="3291840"/>
            <a:ext cx="10543032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Leichter und schneller: weniger Last auf dem Klinker-Geschoss, kürzere Bauzeit.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 Partner aus dem Bekanntenkreis (Bauunternehmen unten, Zimmerei oben) können Preise und Termine gemeinsam angeben.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Holzbau hilft beim QNG-Nachweis und beim Effizienzhaus-40-Standard (KfW-Voraussetzung).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Brandschutz (Holzbau bis Gebäudeklasse 4, Aufzug und Treppenhaus massiv) und Schallschutz muss der Architekt nachweisen.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Zwei Geschosse plus Staffelgeschoss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Stadt und Bank</a:t>
            </a:r>
            <a:endParaRPr lang="en-US" sz="1000" dirty="0"/>
          </a:p>
        </p:txBody>
      </p:sp>
      <p:sp>
        <p:nvSpPr>
          <p:cNvPr id="5" name="Gelände"/>
          <p:cNvSpPr/>
          <p:nvPr/>
        </p:nvSpPr>
        <p:spPr>
          <a:xfrm>
            <a:off x="1280160" y="5852160"/>
            <a:ext cx="5486400" cy="54864"/>
          </a:xfrm>
          <a:prstGeom prst="rect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6" name="Schnitt EG"/>
          <p:cNvSpPr/>
          <p:nvPr/>
        </p:nvSpPr>
        <p:spPr>
          <a:xfrm>
            <a:off x="1554480" y="4892040"/>
            <a:ext cx="4937760" cy="877824"/>
          </a:xfrm>
          <a:prstGeom prst="rect">
            <a:avLst/>
          </a:prstGeom>
          <a:solidFill>
            <a:srgbClr val="F4D58F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7" name="Schnitt OG"/>
          <p:cNvSpPr/>
          <p:nvPr/>
        </p:nvSpPr>
        <p:spPr>
          <a:xfrm>
            <a:off x="1554480" y="4069080"/>
            <a:ext cx="4937760" cy="822960"/>
          </a:xfrm>
          <a:prstGeom prst="rect">
            <a:avLst/>
          </a:prstGeom>
          <a:solidFill>
            <a:srgbClr val="9A4034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8" name="Schnitt Staffel"/>
          <p:cNvSpPr/>
          <p:nvPr/>
        </p:nvSpPr>
        <p:spPr>
          <a:xfrm>
            <a:off x="1554480" y="3218688"/>
            <a:ext cx="4498848" cy="850392"/>
          </a:xfrm>
          <a:prstGeom prst="rect">
            <a:avLst/>
          </a:prstGeom>
          <a:solidFill>
            <a:srgbClr val="7A5C3A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9" name="Schnitt Dach"/>
          <p:cNvSpPr/>
          <p:nvPr/>
        </p:nvSpPr>
        <p:spPr>
          <a:xfrm>
            <a:off x="1371600" y="3136392"/>
            <a:ext cx="4864608" cy="82296"/>
          </a:xfrm>
          <a:prstGeom prst="rect">
            <a:avLst/>
          </a:prstGeom>
          <a:solidFill>
            <a:srgbClr val="D6D1C8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0" name="Brüstung"/>
          <p:cNvSpPr/>
          <p:nvPr/>
        </p:nvSpPr>
        <p:spPr>
          <a:xfrm>
            <a:off x="6053328" y="3767328"/>
            <a:ext cx="246888" cy="301752"/>
          </a:xfrm>
          <a:prstGeom prst="rect">
            <a:avLst/>
          </a:prstGeom>
          <a:solidFill>
            <a:srgbClr val="CFE0E8"/>
          </a:solidFill>
          <a:ln w="12700">
            <a:solidFill>
              <a:schemeClr val="accent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554480" y="4892040"/>
            <a:ext cx="49377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 große Gastro mit Bar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554480" y="40690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OG · 2 Büros, 3 Wohnungen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1554480" y="3218688"/>
            <a:ext cx="449884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Staffelgeschoss · 3 Wohnungen</a:t>
            </a:r>
            <a:endParaRPr lang="en-US" sz="1400" dirty="0"/>
          </a:p>
        </p:txBody>
      </p:sp>
      <p:sp>
        <p:nvSpPr>
          <p:cNvPr id="14" name="Marke ca. 9,90 m"/>
          <p:cNvSpPr/>
          <p:nvPr/>
        </p:nvSpPr>
        <p:spPr>
          <a:xfrm>
            <a:off x="1097280" y="3136392"/>
            <a:ext cx="5669280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dash"/>
          </a:ln>
        </p:spPr>
      </p:sp>
      <p:sp>
        <p:nvSpPr>
          <p:cNvPr id="15" name="Text 12"/>
          <p:cNvSpPr txBox="1"/>
          <p:nvPr/>
        </p:nvSpPr>
        <p:spPr>
          <a:xfrm>
            <a:off x="548640" y="295351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ca. 9,90 m</a:t>
            </a:r>
            <a:endParaRPr lang="en-US" sz="1200" dirty="0"/>
          </a:p>
        </p:txBody>
      </p:sp>
      <p:sp>
        <p:nvSpPr>
          <p:cNvPr id="16" name="Marke 6,50 m"/>
          <p:cNvSpPr/>
          <p:nvPr/>
        </p:nvSpPr>
        <p:spPr>
          <a:xfrm>
            <a:off x="1097280" y="4069080"/>
            <a:ext cx="5669280" cy="0"/>
          </a:xfrm>
          <a:prstGeom prst="line">
            <a:avLst/>
          </a:prstGeom>
          <a:noFill/>
          <a:ln w="12700">
            <a:solidFill>
              <a:schemeClr val="accent1"/>
            </a:solidFill>
            <a:prstDash val="dash"/>
          </a:ln>
        </p:spPr>
      </p:sp>
      <p:sp>
        <p:nvSpPr>
          <p:cNvPr id="17" name="Text 14"/>
          <p:cNvSpPr txBox="1"/>
          <p:nvPr/>
        </p:nvSpPr>
        <p:spPr>
          <a:xfrm>
            <a:off x="548640" y="38862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6,50 m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0" y="5943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Süd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1554480" y="5943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Nord</a:t>
            </a:r>
            <a:endParaRPr lang="en-US" sz="1200" dirty="0"/>
          </a:p>
        </p:txBody>
      </p:sp>
      <p:graphicFrame>
        <p:nvGraphicFramePr>
          <p:cNvPr id="7" name="Tabelle Fläche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40880" y="1463040"/>
          <a:ext cx="4599432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2926080"/>
                <a:gridCol w="850392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Ebene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Nutzung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BGF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Gastro ca. 510 m² mit Bar, Séparée und Küche, dazu Treppenhaus, Aufzug, Eingänge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576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OG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Büro-Ankermieter (100 und 65 m²), 3 Wohnungen à ca. 107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576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Staffel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Wohnungen à ca. 111 m², Holzbau, schmale Terrasse rundum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498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Wohnungen (655 m²), 2 Büros (165 m²)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1.650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Text 17"/>
          <p:cNvSpPr txBox="1"/>
          <p:nvPr/>
        </p:nvSpPr>
        <p:spPr>
          <a:xfrm>
            <a:off x="7040880" y="4937760"/>
            <a:ext cx="45994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BGF = Bruttogrundfläche, alle Geschossflächen zusammen. Das Staffelgeschoss in Holzbau springt rundum nur ca. 0,8 m zurück, so entsteht eine schmale Terrasse von ca. 77 m² um die Wohnungen.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Skizzen der Geschosse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Stadt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36195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Erdgeschoss</a:t>
            </a:r>
            <a:endParaRPr lang="en-US" sz="1800" dirty="0"/>
          </a:p>
        </p:txBody>
      </p:sp>
      <p:sp>
        <p:nvSpPr>
          <p:cNvPr id="6" name="Baukörper Erdgeschoss"/>
          <p:cNvSpPr/>
          <p:nvPr/>
        </p:nvSpPr>
        <p:spPr>
          <a:xfrm>
            <a:off x="548640" y="2011680"/>
            <a:ext cx="3619561" cy="2218883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4"/>
            </a:solidFill>
            <a:prstDash val="dash"/>
          </a:ln>
        </p:spPr>
      </p:sp>
      <p:sp>
        <p:nvSpPr>
          <p:cNvPr id="7" name="Raum Treppe, Aufzug"/>
          <p:cNvSpPr/>
          <p:nvPr/>
        </p:nvSpPr>
        <p:spPr>
          <a:xfrm>
            <a:off x="548640" y="2103120"/>
            <a:ext cx="452445" cy="2036003"/>
          </a:xfrm>
          <a:prstGeom prst="rect">
            <a:avLst/>
          </a:prstGeom>
          <a:solidFill>
            <a:srgbClr val="8A9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103120"/>
            <a:ext cx="452445" cy="2036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Treppe, Aufzug</a:t>
            </a:r>
            <a:endParaRPr lang="en-US" sz="1100" dirty="0"/>
          </a:p>
        </p:txBody>
      </p:sp>
      <p:sp>
        <p:nvSpPr>
          <p:cNvPr id="9" name="Raum Fläche"/>
          <p:cNvSpPr/>
          <p:nvPr/>
        </p:nvSpPr>
        <p:spPr>
          <a:xfrm>
            <a:off x="1001085" y="2103120"/>
            <a:ext cx="3167116" cy="2036003"/>
          </a:xfrm>
          <a:prstGeom prst="rect">
            <a:avLst/>
          </a:prstGeom>
          <a:solidFill>
            <a:srgbClr val="F2D48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Raum Gastraum und Lounge ca. 160 Plätze"/>
          <p:cNvSpPr/>
          <p:nvPr/>
        </p:nvSpPr>
        <p:spPr>
          <a:xfrm>
            <a:off x="1283863" y="2385898"/>
            <a:ext cx="2714671" cy="848335"/>
          </a:xfrm>
          <a:prstGeom prst="rect">
            <a:avLst/>
          </a:prstGeom>
          <a:solidFill>
            <a:srgbClr val="E7BE6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283863" y="2385898"/>
            <a:ext cx="2714671" cy="848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Gastraum und Lounge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F24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ca. 160 Plätze</a:t>
            </a:r>
            <a:endParaRPr lang="en-US" sz="1100" dirty="0"/>
          </a:p>
        </p:txBody>
      </p:sp>
      <p:sp>
        <p:nvSpPr>
          <p:cNvPr id="12" name="Raum Bar"/>
          <p:cNvSpPr/>
          <p:nvPr/>
        </p:nvSpPr>
        <p:spPr>
          <a:xfrm>
            <a:off x="1905975" y="3369966"/>
            <a:ext cx="1696669" cy="180978"/>
          </a:xfrm>
          <a:prstGeom prst="rect">
            <a:avLst/>
          </a:prstGeom>
          <a:solidFill>
            <a:srgbClr val="3A3F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905975" y="3369966"/>
            <a:ext cx="1696669" cy="180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</a:t>
            </a:r>
            <a:endParaRPr lang="en-US" sz="1100" dirty="0"/>
          </a:p>
        </p:txBody>
      </p:sp>
      <p:sp>
        <p:nvSpPr>
          <p:cNvPr id="14" name="Raum Séparée 30 Plätze"/>
          <p:cNvSpPr/>
          <p:nvPr/>
        </p:nvSpPr>
        <p:spPr>
          <a:xfrm>
            <a:off x="1001085" y="3517011"/>
            <a:ext cx="791779" cy="622112"/>
          </a:xfrm>
          <a:prstGeom prst="rect">
            <a:avLst/>
          </a:prstGeom>
          <a:solidFill>
            <a:srgbClr val="8A6A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1001085" y="3517011"/>
            <a:ext cx="791779" cy="622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Séparée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Plätze</a:t>
            </a:r>
            <a:endParaRPr lang="en-US" sz="1100" dirty="0"/>
          </a:p>
        </p:txBody>
      </p:sp>
      <p:sp>
        <p:nvSpPr>
          <p:cNvPr id="16" name="Raum Küche"/>
          <p:cNvSpPr/>
          <p:nvPr/>
        </p:nvSpPr>
        <p:spPr>
          <a:xfrm>
            <a:off x="1905975" y="3686678"/>
            <a:ext cx="735223" cy="452445"/>
          </a:xfrm>
          <a:prstGeom prst="rect">
            <a:avLst/>
          </a:prstGeom>
          <a:solidFill>
            <a:srgbClr val="7E8A9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905975" y="3686678"/>
            <a:ext cx="735223" cy="452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Küche</a:t>
            </a:r>
            <a:endParaRPr lang="en-US" sz="1100" dirty="0"/>
          </a:p>
        </p:txBody>
      </p:sp>
      <p:sp>
        <p:nvSpPr>
          <p:cNvPr id="18" name="Raum Lager"/>
          <p:cNvSpPr/>
          <p:nvPr/>
        </p:nvSpPr>
        <p:spPr>
          <a:xfrm>
            <a:off x="2641199" y="3686678"/>
            <a:ext cx="565556" cy="452445"/>
          </a:xfrm>
          <a:prstGeom prst="rect">
            <a:avLst/>
          </a:prstGeom>
          <a:solidFill>
            <a:srgbClr val="A6ADB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641199" y="3686678"/>
            <a:ext cx="565556" cy="452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Lager</a:t>
            </a:r>
            <a:endParaRPr lang="en-US" sz="1100" dirty="0"/>
          </a:p>
        </p:txBody>
      </p:sp>
      <p:sp>
        <p:nvSpPr>
          <p:cNvPr id="20" name="Raum WC"/>
          <p:cNvSpPr/>
          <p:nvPr/>
        </p:nvSpPr>
        <p:spPr>
          <a:xfrm>
            <a:off x="3206755" y="3686678"/>
            <a:ext cx="961446" cy="452445"/>
          </a:xfrm>
          <a:prstGeom prst="rect">
            <a:avLst/>
          </a:prstGeom>
          <a:solidFill>
            <a:srgbClr val="A6ADB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206755" y="3686678"/>
            <a:ext cx="961446" cy="452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WC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4284696" y="1371600"/>
            <a:ext cx="36195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Obergeschoss</a:t>
            </a:r>
            <a:endParaRPr lang="en-US" sz="1800" dirty="0"/>
          </a:p>
        </p:txBody>
      </p:sp>
      <p:sp>
        <p:nvSpPr>
          <p:cNvPr id="23" name="Baukörper 1. Obergeschoss"/>
          <p:cNvSpPr/>
          <p:nvPr/>
        </p:nvSpPr>
        <p:spPr>
          <a:xfrm>
            <a:off x="4284696" y="2011680"/>
            <a:ext cx="3619561" cy="2218883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4"/>
            </a:solidFill>
            <a:prstDash val="dash"/>
          </a:ln>
        </p:spPr>
      </p:sp>
      <p:sp>
        <p:nvSpPr>
          <p:cNvPr id="24" name="Raum Treppe, Aufzug"/>
          <p:cNvSpPr/>
          <p:nvPr/>
        </p:nvSpPr>
        <p:spPr>
          <a:xfrm>
            <a:off x="4284696" y="2103120"/>
            <a:ext cx="452445" cy="2036003"/>
          </a:xfrm>
          <a:prstGeom prst="rect">
            <a:avLst/>
          </a:prstGeom>
          <a:solidFill>
            <a:srgbClr val="8A9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284696" y="2103120"/>
            <a:ext cx="452445" cy="2036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Treppe, Aufzug</a:t>
            </a:r>
            <a:endParaRPr lang="en-US" sz="1100" dirty="0"/>
          </a:p>
        </p:txBody>
      </p:sp>
      <p:sp>
        <p:nvSpPr>
          <p:cNvPr id="26" name="Raum Büro 1 100 m²"/>
          <p:cNvSpPr/>
          <p:nvPr/>
        </p:nvSpPr>
        <p:spPr>
          <a:xfrm>
            <a:off x="4737141" y="2103120"/>
            <a:ext cx="701290" cy="2036003"/>
          </a:xfrm>
          <a:prstGeom prst="rect">
            <a:avLst/>
          </a:prstGeom>
          <a:solidFill>
            <a:srgbClr val="3F627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737141" y="2103120"/>
            <a:ext cx="701290" cy="2036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Büro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m²</a:t>
            </a:r>
            <a:endParaRPr lang="en-US" sz="1100" dirty="0"/>
          </a:p>
        </p:txBody>
      </p:sp>
      <p:sp>
        <p:nvSpPr>
          <p:cNvPr id="28" name="Raum Büro 2 65 m²"/>
          <p:cNvSpPr/>
          <p:nvPr/>
        </p:nvSpPr>
        <p:spPr>
          <a:xfrm>
            <a:off x="5438431" y="2103120"/>
            <a:ext cx="463756" cy="2036003"/>
          </a:xfrm>
          <a:prstGeom prst="rect">
            <a:avLst/>
          </a:prstGeom>
          <a:solidFill>
            <a:srgbClr val="5B7D8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5438431" y="2103120"/>
            <a:ext cx="463756" cy="2036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Büro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 m²</a:t>
            </a:r>
            <a:endParaRPr lang="en-US" sz="1100" dirty="0"/>
          </a:p>
        </p:txBody>
      </p:sp>
      <p:sp>
        <p:nvSpPr>
          <p:cNvPr id="30" name="Raum WE 1 107 m²"/>
          <p:cNvSpPr/>
          <p:nvPr/>
        </p:nvSpPr>
        <p:spPr>
          <a:xfrm>
            <a:off x="5902187" y="2103120"/>
            <a:ext cx="667357" cy="2036003"/>
          </a:xfrm>
          <a:prstGeom prst="rect">
            <a:avLst/>
          </a:prstGeom>
          <a:solidFill>
            <a:srgbClr val="9A403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5902187" y="2103120"/>
            <a:ext cx="667357" cy="2036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 m²</a:t>
            </a:r>
            <a:endParaRPr lang="en-US" sz="1100" dirty="0"/>
          </a:p>
        </p:txBody>
      </p:sp>
      <p:sp>
        <p:nvSpPr>
          <p:cNvPr id="32" name="Raum WE 2 107 m²"/>
          <p:cNvSpPr/>
          <p:nvPr/>
        </p:nvSpPr>
        <p:spPr>
          <a:xfrm>
            <a:off x="6569543" y="2103120"/>
            <a:ext cx="667357" cy="2036003"/>
          </a:xfrm>
          <a:prstGeom prst="rect">
            <a:avLst/>
          </a:prstGeom>
          <a:solidFill>
            <a:srgbClr val="9A403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569543" y="2103120"/>
            <a:ext cx="667357" cy="2036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 m²</a:t>
            </a:r>
            <a:endParaRPr lang="en-US" sz="1100" dirty="0"/>
          </a:p>
        </p:txBody>
      </p:sp>
      <p:sp>
        <p:nvSpPr>
          <p:cNvPr id="34" name="Raum WE 3 107 m²"/>
          <p:cNvSpPr/>
          <p:nvPr/>
        </p:nvSpPr>
        <p:spPr>
          <a:xfrm>
            <a:off x="7236900" y="2103120"/>
            <a:ext cx="667357" cy="2036003"/>
          </a:xfrm>
          <a:prstGeom prst="rect">
            <a:avLst/>
          </a:prstGeom>
          <a:solidFill>
            <a:srgbClr val="9A403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236900" y="2103120"/>
            <a:ext cx="667357" cy="20360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 m²</a:t>
            </a: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8020751" y="1371600"/>
            <a:ext cx="36195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Staffel (Holzbau)</a:t>
            </a:r>
            <a:endParaRPr lang="en-US" sz="1800" dirty="0"/>
          </a:p>
        </p:txBody>
      </p:sp>
      <p:sp>
        <p:nvSpPr>
          <p:cNvPr id="37" name="Baukörper Staffel (Holzbau)"/>
          <p:cNvSpPr/>
          <p:nvPr/>
        </p:nvSpPr>
        <p:spPr>
          <a:xfrm>
            <a:off x="8020751" y="2011680"/>
            <a:ext cx="3619561" cy="2218883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4"/>
            </a:solidFill>
            <a:prstDash val="dash"/>
          </a:ln>
        </p:spPr>
      </p:sp>
      <p:sp>
        <p:nvSpPr>
          <p:cNvPr id="38" name="Raum Fläche"/>
          <p:cNvSpPr/>
          <p:nvPr/>
        </p:nvSpPr>
        <p:spPr>
          <a:xfrm>
            <a:off x="8020751" y="2103120"/>
            <a:ext cx="3619561" cy="2036003"/>
          </a:xfrm>
          <a:prstGeom prst="rect">
            <a:avLst/>
          </a:prstGeom>
          <a:solidFill>
            <a:srgbClr val="C9C4B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9" name="Raum Treppe"/>
          <p:cNvSpPr/>
          <p:nvPr/>
        </p:nvSpPr>
        <p:spPr>
          <a:xfrm>
            <a:off x="8111240" y="2193609"/>
            <a:ext cx="384578" cy="1855025"/>
          </a:xfrm>
          <a:prstGeom prst="rect">
            <a:avLst/>
          </a:prstGeom>
          <a:solidFill>
            <a:srgbClr val="8A9199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111240" y="2193609"/>
            <a:ext cx="384578" cy="1855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Treppe</a:t>
            </a:r>
            <a:endParaRPr lang="en-US" sz="1100" dirty="0"/>
          </a:p>
        </p:txBody>
      </p:sp>
      <p:sp>
        <p:nvSpPr>
          <p:cNvPr id="41" name="Raum WE 4 111 m²"/>
          <p:cNvSpPr/>
          <p:nvPr/>
        </p:nvSpPr>
        <p:spPr>
          <a:xfrm>
            <a:off x="8495818" y="2193609"/>
            <a:ext cx="1018002" cy="1855025"/>
          </a:xfrm>
          <a:prstGeom prst="rect">
            <a:avLst/>
          </a:prstGeom>
          <a:solidFill>
            <a:srgbClr val="7A5C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495818" y="2193609"/>
            <a:ext cx="1018002" cy="1855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 m²</a:t>
            </a:r>
            <a:endParaRPr lang="en-US" sz="1100" dirty="0"/>
          </a:p>
        </p:txBody>
      </p:sp>
      <p:sp>
        <p:nvSpPr>
          <p:cNvPr id="43" name="Raum WE 5 111 m²"/>
          <p:cNvSpPr/>
          <p:nvPr/>
        </p:nvSpPr>
        <p:spPr>
          <a:xfrm>
            <a:off x="9513820" y="2193609"/>
            <a:ext cx="1018002" cy="1855025"/>
          </a:xfrm>
          <a:prstGeom prst="rect">
            <a:avLst/>
          </a:prstGeom>
          <a:solidFill>
            <a:srgbClr val="7A5C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9513820" y="2193609"/>
            <a:ext cx="1018002" cy="1855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5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 m²</a:t>
            </a:r>
            <a:endParaRPr lang="en-US" sz="1100" dirty="0"/>
          </a:p>
        </p:txBody>
      </p:sp>
      <p:sp>
        <p:nvSpPr>
          <p:cNvPr id="45" name="Raum WE 6 111 m²"/>
          <p:cNvSpPr/>
          <p:nvPr/>
        </p:nvSpPr>
        <p:spPr>
          <a:xfrm>
            <a:off x="10531821" y="2193609"/>
            <a:ext cx="1018002" cy="1855025"/>
          </a:xfrm>
          <a:prstGeom prst="rect">
            <a:avLst/>
          </a:prstGeom>
          <a:solidFill>
            <a:srgbClr val="7A5C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10531821" y="2193609"/>
            <a:ext cx="1018002" cy="18550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6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111 m²</a:t>
            </a:r>
            <a:endParaRPr lang="en-US" sz="1100" dirty="0"/>
          </a:p>
        </p:txBody>
      </p:sp>
      <p:sp>
        <p:nvSpPr>
          <p:cNvPr id="47" name="Hinweis"/>
          <p:cNvSpPr/>
          <p:nvPr/>
        </p:nvSpPr>
        <p:spPr>
          <a:xfrm>
            <a:off x="548640" y="4892040"/>
            <a:ext cx="11091672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777240" y="49834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Grundfläche 32 × 18 m = 576 m² (GRZ-Maximum 0,6). Die Gastro nutzt das ganze EG (ca. 510 m²), Treppenhaus und Aufzug liegen am Westende und erschließen Büros und Wohnungen getrennt von der Gastro. Im 1. OG liegen die zwei Büro-Ankermieter und 3 Wohnungen, die Staffel in Holzbau hat ca. 498 m² BGF mit 3 Wohnungen, die beige Fläche ist die schmale Terrasse (ca. 77 m²).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Modern, Klinker, Milchglas und Staffelgeschoss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Stadt</a:t>
            </a:r>
            <a:endParaRPr lang="en-US" sz="1000" dirty="0"/>
          </a:p>
        </p:txBody>
      </p:sp>
      <p:pic>
        <p:nvPicPr>
          <p:cNvPr id="5" name="Image 0" descr="Visualisierung Außenansich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5394960" cy="3008376"/>
          </a:xfrm>
          <a:prstGeom prst="rect">
            <a:avLst/>
          </a:prstGeom>
        </p:spPr>
      </p:pic>
      <p:pic>
        <p:nvPicPr>
          <p:cNvPr id="6" name="Image 1" descr="Eckansicht als Skizze: Flachdach mit Staffelgeschoss, Balkone, vollverglastes Erdgeschoss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17920" y="1280160"/>
            <a:ext cx="5394960" cy="3374136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48640" y="43434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KI-Visualisierung</a:t>
            </a:r>
            <a:endParaRPr lang="en-US" sz="1200" dirty="0"/>
          </a:p>
        </p:txBody>
      </p:sp>
      <p:sp>
        <p:nvSpPr>
          <p:cNvPr id="8" name="Text 3"/>
          <p:cNvSpPr txBox="1"/>
          <p:nvPr/>
        </p:nvSpPr>
        <p:spPr>
          <a:xfrm>
            <a:off x="6217920" y="468172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Unsere Skizze (Eckansicht)</a:t>
            </a:r>
            <a:endParaRPr lang="en-US" sz="1200" dirty="0"/>
          </a:p>
        </p:txBody>
      </p:sp>
      <p:sp>
        <p:nvSpPr>
          <p:cNvPr id="9" name="Text 4"/>
          <p:cNvSpPr txBox="1"/>
          <p:nvPr/>
        </p:nvSpPr>
        <p:spPr>
          <a:xfrm>
            <a:off x="548640" y="5120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Klinker</a:t>
            </a:r>
            <a:endParaRPr lang="en-US" sz="1600" dirty="0"/>
          </a:p>
        </p:txBody>
      </p:sp>
      <p:sp>
        <p:nvSpPr>
          <p:cNvPr id="10" name="Text 5"/>
          <p:cNvSpPr txBox="1"/>
          <p:nvPr/>
        </p:nvSpPr>
        <p:spPr>
          <a:xfrm>
            <a:off x="548640" y="54864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dunkel, Langformat, passend zum Umfeld</a:t>
            </a:r>
            <a:endParaRPr lang="en-US" sz="1400" dirty="0"/>
          </a:p>
        </p:txBody>
      </p:sp>
      <p:sp>
        <p:nvSpPr>
          <p:cNvPr id="11" name="Text 6"/>
          <p:cNvSpPr txBox="1"/>
          <p:nvPr/>
        </p:nvSpPr>
        <p:spPr>
          <a:xfrm>
            <a:off x="3337560" y="5120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Staffelgeschoss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3337560" y="54864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Holzbau, Terrasse rundum</a:t>
            </a:r>
            <a:endParaRPr lang="en-US" sz="1400" dirty="0"/>
          </a:p>
        </p:txBody>
      </p:sp>
      <p:sp>
        <p:nvSpPr>
          <p:cNvPr id="13" name="Text 8"/>
          <p:cNvSpPr txBox="1"/>
          <p:nvPr/>
        </p:nvSpPr>
        <p:spPr>
          <a:xfrm>
            <a:off x="6126480" y="5120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Balkone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6126480" y="54864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bodentiefe Fenster, Milchglas-Brüstungen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8915400" y="5120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Glas-EG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8915400" y="54864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Gastro mit Bar, Terrasse und Vordach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Große Gastro mit Bar, neu und modern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Stadt</a:t>
            </a:r>
            <a:endParaRPr lang="en-US" sz="1000" dirty="0"/>
          </a:p>
        </p:txBody>
      </p:sp>
      <p:pic>
        <p:nvPicPr>
          <p:cNvPr id="5" name="Image 0" descr="Visualisierung Gastraum mit Ba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7498080" cy="4215384"/>
          </a:xfrm>
          <a:prstGeom prst="rect">
            <a:avLst/>
          </a:prstGeom>
        </p:spPr>
      </p:pic>
      <p:pic>
        <p:nvPicPr>
          <p:cNvPr id="6" name="Image 1" descr="Visualisierung Ba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280160"/>
            <a:ext cx="3319272" cy="1865376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8321040" y="3383280"/>
            <a:ext cx="3319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ca. 190 Plätze</a:t>
            </a:r>
            <a:endParaRPr lang="en-US" sz="1600" dirty="0"/>
          </a:p>
        </p:txBody>
      </p:sp>
      <p:sp>
        <p:nvSpPr>
          <p:cNvPr id="8" name="Text 3"/>
          <p:cNvSpPr txBox="1"/>
          <p:nvPr/>
        </p:nvSpPr>
        <p:spPr>
          <a:xfrm>
            <a:off x="8321040" y="3749040"/>
            <a:ext cx="3319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innen (160 im Gastraum, 30 im Séparée), plus ca. 60 auf der Terrasse</a:t>
            </a:r>
            <a:endParaRPr lang="en-US" sz="1300" dirty="0"/>
          </a:p>
        </p:txBody>
      </p:sp>
      <p:sp>
        <p:nvSpPr>
          <p:cNvPr id="9" name="Text 4"/>
          <p:cNvSpPr txBox="1"/>
          <p:nvPr/>
        </p:nvSpPr>
        <p:spPr>
          <a:xfrm>
            <a:off x="8321040" y="4251960"/>
            <a:ext cx="3319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Bar</a:t>
            </a:r>
            <a:endParaRPr lang="en-US" sz="1600" dirty="0"/>
          </a:p>
        </p:txBody>
      </p:sp>
      <p:sp>
        <p:nvSpPr>
          <p:cNvPr id="10" name="Text 5"/>
          <p:cNvSpPr txBox="1"/>
          <p:nvPr/>
        </p:nvSpPr>
        <p:spPr>
          <a:xfrm>
            <a:off x="8321040" y="4617720"/>
            <a:ext cx="3319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Barhocker, Polsterbänke, Backbar</a:t>
            </a:r>
            <a:endParaRPr lang="en-US" sz="1300" dirty="0"/>
          </a:p>
        </p:txBody>
      </p:sp>
      <p:sp>
        <p:nvSpPr>
          <p:cNvPr id="11" name="Text 6"/>
          <p:cNvSpPr txBox="1"/>
          <p:nvPr/>
        </p:nvSpPr>
        <p:spPr>
          <a:xfrm>
            <a:off x="8321040" y="5120640"/>
            <a:ext cx="3319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8321040" y="5486400"/>
            <a:ext cx="33192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Olivgrün, Cognac-Samt, Bordeaux, Eiche, schwarzer Stahl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Visualisierungen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Stadt</a:t>
            </a:r>
            <a:endParaRPr lang="en-US" sz="1000" dirty="0"/>
          </a:p>
        </p:txBody>
      </p:sp>
      <p:pic>
        <p:nvPicPr>
          <p:cNvPr id="5" name="Image 0" descr="Visualisierung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3514344" cy="2080260"/>
          </a:xfrm>
          <a:prstGeom prst="rect">
            <a:avLst/>
          </a:prstGeom>
        </p:spPr>
      </p:pic>
      <p:pic>
        <p:nvPicPr>
          <p:cNvPr id="6" name="Image 1" descr="Visualisierung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7304" y="1325880"/>
            <a:ext cx="3514344" cy="2080260"/>
          </a:xfrm>
          <a:prstGeom prst="rect">
            <a:avLst/>
          </a:prstGeom>
        </p:spPr>
      </p:pic>
      <p:pic>
        <p:nvPicPr>
          <p:cNvPr id="7" name="Image 2" descr="Visualisierung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5968" y="1325880"/>
            <a:ext cx="3514344" cy="2080260"/>
          </a:xfrm>
          <a:prstGeom prst="rect">
            <a:avLst/>
          </a:prstGeom>
        </p:spPr>
      </p:pic>
      <p:pic>
        <p:nvPicPr>
          <p:cNvPr id="8" name="Image 3" descr="Visualisierung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680460"/>
            <a:ext cx="3514344" cy="2080260"/>
          </a:xfrm>
          <a:prstGeom prst="rect">
            <a:avLst/>
          </a:prstGeom>
        </p:spPr>
      </p:pic>
      <p:pic>
        <p:nvPicPr>
          <p:cNvPr id="9" name="Image 4" descr="Visualisierung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7304" y="3680460"/>
            <a:ext cx="3514344" cy="2080260"/>
          </a:xfrm>
          <a:prstGeom prst="rect">
            <a:avLst/>
          </a:prstGeom>
        </p:spPr>
      </p:pic>
      <p:sp>
        <p:nvSpPr>
          <p:cNvPr id="10" name="Text 2"/>
          <p:cNvSpPr txBox="1"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KI-generierte Visualisierungen zur Orientierung, Gestalt und Materialien. Fassadenteilung, Länge (32 m) und Büro-Fenster im 1. OG weichen im Detail von den Skizzen ab, Maße folgen mit dem Architekten.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Stellplätze sind der Knackpunkt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Stadt</a:t>
            </a:r>
            <a:endParaRPr lang="en-US" sz="1000" dirty="0"/>
          </a:p>
        </p:txBody>
      </p:sp>
      <p:graphicFrame>
        <p:nvGraphicFramePr>
          <p:cNvPr id="5" name="Diagramm Stellplätze" descr=""/>
          <p:cNvGraphicFramePr/>
          <p:nvPr/>
        </p:nvGraphicFramePr>
        <p:xfrm>
          <a:off x="548640" y="1371600"/>
          <a:ext cx="53035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2"/>
          <p:cNvSpPr txBox="1"/>
          <p:nvPr/>
        </p:nvSpPr>
        <p:spPr>
          <a:xfrm>
            <a:off x="6400800" y="13716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Vorschlag für die Stadt</a:t>
            </a:r>
            <a:endParaRPr lang="en-US" sz="1900" dirty="0"/>
          </a:p>
        </p:txBody>
      </p:sp>
      <p:sp>
        <p:nvSpPr>
          <p:cNvPr id="7" name="Text 3"/>
          <p:cNvSpPr txBox="1"/>
          <p:nvPr/>
        </p:nvSpPr>
        <p:spPr>
          <a:xfrm>
            <a:off x="6400800" y="1874520"/>
            <a:ext cx="52120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Bedarf ca. 52 Stellplätze, auf dem Grundstück passen bei 576 m² Gebäude nur ca. 6–8.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Restplätze auf der öffentlichen Parkfläche nebenan (im Plan eingezeichnet) per Vereinbarung nutzen, besonders am Abend.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Alternativ Ablöse statt Bau, die Höhe muss die Stadt nennen.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Klären, ob der 10 m breite Grünstreifen teils befestigt werden darf.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Flächen und Mieten: Wohnungen, Büros und Gastro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Bank</a:t>
            </a:r>
            <a:endParaRPr lang="en-US" sz="1000" dirty="0"/>
          </a:p>
        </p:txBody>
      </p:sp>
      <p:graphicFrame>
        <p:nvGraphicFramePr>
          <p:cNvPr id="13" name="Tabelle Miete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371600"/>
                <a:gridCol w="1463040"/>
                <a:gridCol w="1645920"/>
                <a:gridCol w="1828800"/>
                <a:gridCol w="1764792"/>
              </a:tblGrid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Einheit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Geschoss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Fläche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Miete je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Kaltmiete / Monat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Kaltmiete / Jahr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 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OG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107,0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11,18 €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1.196 €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14.351 €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 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OG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107,0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11,18 €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1.196 €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14.351 €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 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OG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107,0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11,18 €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1.196 €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14.351 €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 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Staffel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111,3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11,18 €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1.244 €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14.932 €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 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Staffel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111,3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11,18 €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1.244 €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14.932 €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 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Staffel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111,3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11,18 €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1.244 €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14.932 €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Summe Wohnen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655,0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7.321 €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87.847 €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Gastro (Pacht 10 €/m²)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510,0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61.200 €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Büro 1 (Ankermieter)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OG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11.400 €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Büro 2 (Ankermieter)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 OG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65,0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7.800 €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Rohertrag gesamt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14.021 €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168.247 €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Gewerbeflächen: große Gastro und zwei Ankermieter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Bank</a:t>
            </a:r>
            <a:endParaRPr lang="en-US" sz="1000" dirty="0"/>
          </a:p>
        </p:txBody>
      </p:sp>
      <p:graphicFrame>
        <p:nvGraphicFramePr>
          <p:cNvPr id="14" name="Tabelle Gastro Bedarf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394960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1188720"/>
                <a:gridCol w="11887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Gastro-Flächenbedarf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Menge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Fläche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Gastraum inkl. Lounge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 Plätze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304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Séparée (Feiern)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 Plätze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 und Theken-Zone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Küche mit Spülküche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Lager, Kühlung, Anlieferung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WC (Herren, Damen, barrierefrei)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Eingang, Garderobe, Flure, Technik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Gastro gesamt (ca. 190 Plätze)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510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7" name="Tabelle Ankermieter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371600"/>
          <a:ext cx="542239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914400"/>
                <a:gridCol w="1005840"/>
                <a:gridCol w="112471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Ankermieter Büro (1. OG)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Fläche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Miete /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Miete / Jahr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Büro 1: Versicherungsgesellschaft o. ä.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11.400 €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Büro 2: Makler o. ä.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7.800 €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Summe Büro, 10 Jahre fest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9,70 €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19.200 €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Wirkung"/>
          <p:cNvSpPr/>
          <p:nvPr/>
        </p:nvSpPr>
        <p:spPr>
          <a:xfrm>
            <a:off x="6217920" y="3383280"/>
            <a:ext cx="5422392" cy="2468880"/>
          </a:xfrm>
          <a:prstGeom prst="roundRect">
            <a:avLst>
              <a:gd name="adj" fmla="val 296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6446520" y="3520440"/>
            <a:ext cx="496519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Ankermieter: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Büros bringen 19.200 € im Jahr über 10 Jahre (Indexmiete, zusammen 0,21 Mio. €) und decken 8 % des Kapitaldienstes. Zusammen mit den Wohnungen decken die langfristigen Mieten 44 %, den Rest tragen Pacht und Gastro-Gewinn.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Gastro: </a:t>
            </a:r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190 Plätze auf 510 m² (2,7 m² je Platz), Pacht 8 % vom Umsatz.</a:t>
            </a:r>
            <a:endParaRPr lang="en-US" sz="1250" dirty="0"/>
          </a:p>
        </p:txBody>
      </p:sp>
      <p:sp>
        <p:nvSpPr>
          <p:cNvPr id="9" name="Text 4"/>
          <p:cNvSpPr txBox="1"/>
          <p:nvPr/>
        </p:nvSpPr>
        <p:spPr>
          <a:xfrm>
            <a:off x="548640" y="4983480"/>
            <a:ext cx="5394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EG gehört ganz der Gastro, die Büros liegen im 1. OG mit Aufzug und eigenem Eingang (Versicherung, Makler). Die Grundfläche ist auf das Maximum der GRZ (576 m²) vergrößert.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KfW-Kredite 297, 298 und 299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Bank und Stadt</a:t>
            </a:r>
            <a:endParaRPr lang="en-US" sz="1000" dirty="0"/>
          </a:p>
        </p:txBody>
      </p:sp>
      <p:graphicFrame>
        <p:nvGraphicFramePr>
          <p:cNvPr id="15" name="Tabelle KfW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560320"/>
                <a:gridCol w="2651760"/>
                <a:gridCol w="1554480"/>
                <a:gridCol w="130759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Programm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Wofür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Rahmen (mit QNG)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 Projekt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Zins (Annahme)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KfW 297 Klimafreundlicher Neubau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selbst genutzte Wohnungen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bis 150.000 € je Wohnung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2,50 %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KfW 298 Klimafreundlicher Neubau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vermietete Wohnungen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bis 150.000 € je Wohnung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900.000 €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2,50 %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KfW 299 Klimafreundlicher Neubau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Gastro und Büros (Nichtwohngebäude)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bis 2.000 € je m² Nettogrundfläche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1.147.500 €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Hausbank (Rest)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Restfinanzierung inkl. Bauzeitzinsen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2.805.528 €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4,00 %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Voraussetzungen"/>
          <p:cNvSpPr/>
          <p:nvPr/>
        </p:nvSpPr>
        <p:spPr>
          <a:xfrm>
            <a:off x="548640" y="3794760"/>
            <a:ext cx="11091672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3931920"/>
            <a:ext cx="1054303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Voraussetzungen: 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Effizienzhaus 40 (Gastro: Effizienzgebäude 40), QNG-Zertifikat für den vollen Rahmen, Heizung ohne Öl, Gas und Biomasse (z. B. Wärmepumpe), Energieeffizienz-Experte, Antrag vor Baubeginn über die Hausbank.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Gemischte Nutzung: 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Wohnteil (297/298) und Gastro (299) werden getrennt gefördert. Kreditrahmen insgesamt 2.047.500 €, das sind 42 % des Darlehens. Die KfW-Zinsen schwanken in den Quellen zwischen 0,6 % und 3,05 %. Mehrkosten für den Standard angenommen mit 3 % (119.558 €).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Gesamtkosten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Bank</a:t>
            </a:r>
            <a:endParaRPr lang="en-US" sz="1000" dirty="0"/>
          </a:p>
        </p:txBody>
      </p:sp>
      <p:graphicFrame>
        <p:nvGraphicFramePr>
          <p:cNvPr id="16" name="Tabelle Koste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40664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2011680"/>
                <a:gridCol w="1234440"/>
                <a:gridCol w="77724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Rechnung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Betrag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Anteil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Grundstück inkl. Steuer und Notar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960 m² × 230 € + ca. 7 %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236.256 €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Bau, Massivbau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1.650 m² × 2.200 €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3.630.000 €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Abschlag Holzbau (Staffelgeschoss)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498 m² × 400 € günstiger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−199.200 €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Dachterrasse rundum (schmal)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 m² × 450 €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34.650 €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Baunebenkosten (Architekt, Statik, Gebühren)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15 % vom Bau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519.818 €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Mehrkosten Effizienzhaus 40 und QNG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3 % auf Bau inkl. Nebenkosten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119.558 €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Ausbau Gastro (190 Plätze) und Büros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1.000 € je Platz, Büros 150 €/m²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214.750 €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Finanzierungskosten (Bauzeit, Bereitstellung, Anlaufzeit)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 Monate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297.196 €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Gesamtkosten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4.853.028 €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Diagramm Kosten" descr=""/>
          <p:cNvGraphicFramePr/>
          <p:nvPr/>
        </p:nvGraphicFramePr>
        <p:xfrm>
          <a:off x="8138160" y="1280160"/>
          <a:ext cx="36576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2"/>
          <p:cNvSpPr txBox="1"/>
          <p:nvPr/>
        </p:nvSpPr>
        <p:spPr>
          <a:xfrm>
            <a:off x="548640" y="5760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sind ca. 2.941 € pro m² BGF.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Finanzierungsplan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Bank</a:t>
            </a:r>
            <a:endParaRPr lang="en-US" sz="1000" dirty="0"/>
          </a:p>
        </p:txBody>
      </p:sp>
      <p:graphicFrame>
        <p:nvGraphicFramePr>
          <p:cNvPr id="17" name="Tabelle Herkunf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9494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371600"/>
                <a:gridCol w="914400"/>
                <a:gridCol w="10058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Mittelherkunft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Betrag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Anteil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Zins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KfW 297 (selbst genutzte Wohnungen)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2,50 %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KfW 298 (vermietete Wohnungen)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900.000 €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2,50 %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KfW 299 (Nichtwohngebäude: Gastro und Büros)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1.147.500 €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Hausbank-Darlehen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2.805.528 €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4,00 %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Eigenkapital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Summe Finanzierung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4.853.028 €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Finanzierungskosten"/>
          <p:cNvSpPr/>
          <p:nvPr/>
        </p:nvSpPr>
        <p:spPr>
          <a:xfrm>
            <a:off x="7772400" y="1371600"/>
            <a:ext cx="3867912" cy="3840480"/>
          </a:xfrm>
          <a:prstGeom prst="roundRect">
            <a:avLst>
              <a:gd name="adj" fmla="val 19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001000" y="1554480"/>
            <a:ext cx="3410712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Mischzins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3,49 % über alle Darlehen.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Bau- und Anlaufzeit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Monate Bau und 12 Monate Anlaufzeit kosten 297.196 € an Zinsen und Bereitstellungsgebühr, finanziert von der Hausbank.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Danach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 18.140 € pro Monat (Zins plus 1 % Anfangstilgung).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5720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Kosten von 4.853.028 € sind komplett durch Fremdkapital gedeckt.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Zinsberechnung und Rate je Darlehen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Bank</a:t>
            </a:r>
            <a:endParaRPr lang="en-US" sz="1000" dirty="0"/>
          </a:p>
        </p:txBody>
      </p:sp>
      <p:graphicFrame>
        <p:nvGraphicFramePr>
          <p:cNvPr id="18" name="Tabelle Zinse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011680"/>
                <a:gridCol w="1097280"/>
                <a:gridCol w="1097280"/>
                <a:gridCol w="1828800"/>
                <a:gridCol w="185623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Darlehen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Betrag bei Rate-Start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Zins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Tilgung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 / Monat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Rate / Jahr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KfW Wohnen (297 und 298)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900.000 €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2,50 %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2.625 €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31.500 €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KfW Gastro (299)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1.147.500 €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3,00 %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3.825 €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45.900 €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Hausbank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2.805.528 €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4,00 %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11.690 €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140.276 €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4.853.028 €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3,49 %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18.140 €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217.676 €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429768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 ersten Jahr nach der Anlaufzeit zahlst du 168.363 € Zinsen und 49.313 € Tilgung.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Zinsänderung nach 10 Jahren: +1 Prozentpunkt auf die Restschuld kostet ca. 3.561 € pro Monat mehr.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Abzahlungsplan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Bank</a:t>
            </a:r>
            <a:endParaRPr lang="en-US" sz="1000" dirty="0"/>
          </a:p>
        </p:txBody>
      </p:sp>
      <p:graphicFrame>
        <p:nvGraphicFramePr>
          <p:cNvPr id="5" name="Diagramm Restschuld" descr=""/>
          <p:cNvGraphicFramePr/>
          <p:nvPr/>
        </p:nvGraphicFramePr>
        <p:xfrm>
          <a:off x="548640" y="1280160"/>
          <a:ext cx="621792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9" name="Tabelle Abzahlungspla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49440" y="1280160"/>
          <a:ext cx="469087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005840"/>
                <a:gridCol w="1005840"/>
                <a:gridCol w="1124712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Jahr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Zinsen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Tilgung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Restschuld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168.363 €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49.313 €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4.803.715 €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166.615 €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51.062 €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4.752.653 €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164.802 €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52.874 €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4.699.779 €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160.976 €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56.700 €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4.588.326 €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(Ende Zinsbindung)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150.110 €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67.567 €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4.273.010 €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137.085 €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80.591 €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3.897.048 €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121.462 €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96.214 €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3.448.361 €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102.707 €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114.969 €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2.912.398 €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80.176 €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137.500 €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2.271.614 €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53.089 €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164.587 €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1.504.850 €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2"/>
          <p:cNvSpPr txBox="1"/>
          <p:nvPr/>
        </p:nvSpPr>
        <p:spPr>
          <a:xfrm>
            <a:off x="548640" y="57150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Nach 10 Jahren Zinsbindung beträgt die Restschuld 4.273.010 €. Die Anschlussfinanzierung muss eingeplant werden.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Ertrag und Kapitaldienst pro Monat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Bank</a:t>
            </a:r>
            <a:endParaRPr lang="en-US" sz="1000" dirty="0"/>
          </a:p>
        </p:txBody>
      </p:sp>
      <p:graphicFrame>
        <p:nvGraphicFramePr>
          <p:cNvPr id="20" name="Tabelle Cashflow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6949440" cy="914400"/>
        </p:xfrm>
        <a:graphic>
          <a:graphicData uri="http://schemas.openxmlformats.org/drawingml/2006/table">
            <a:tbl>
              <a:tblPr/>
              <a:tblGrid>
                <a:gridCol w="3840480"/>
                <a:gridCol w="1554480"/>
                <a:gridCol w="1554480"/>
              </a:tblGrid>
              <a:tr h="39319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Position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 Monat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 Jahr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Kaltmiete Wohnen (6 Wohnungen)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+7.321 €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+87.847 €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Büromieten (2 Ankermieter, 10 Jahre fest)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+1.600 €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+19.200 €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Pacht Gastro (510 m² × 10 €)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+5.100 €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+61.200 €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Rücklagen (10 % von Miete, Büro, Pacht)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−1.402 €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−16.825 €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Nettoertrag Immobilie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+12.619 €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+151.422 €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Betriebsergebnis Gastro nach Pacht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+14.725 €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+176.700 €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Nettoertrag vor Kapitaldienst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+27.344 €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+328.122 €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Kapitaldienst (Zinsen und Tilgung)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−18.140 €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−217.676 €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Ergebnis nach Kapitaldienst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+9.204 €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+110.446 €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</a:tbl>
          </a:graphicData>
        </a:graphic>
      </p:graphicFrame>
      <p:sp>
        <p:nvSpPr>
          <p:cNvPr id="6" name="Kennzahlen"/>
          <p:cNvSpPr/>
          <p:nvPr/>
        </p:nvSpPr>
        <p:spPr>
          <a:xfrm>
            <a:off x="7863840" y="1371600"/>
            <a:ext cx="3776472" cy="4114800"/>
          </a:xfrm>
          <a:prstGeom prst="roundRect">
            <a:avLst>
              <a:gd name="adj" fmla="val 193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092440" y="1554480"/>
            <a:ext cx="331927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Kapitaldienstdeckung (DSCR)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Gesamt 1,51, nur Immobilie 0,70, nur Wohnen und Büro 0,44. Banken verlangen meist mindestens 1,2.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Zinsdeckung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1,95.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Anfangsrendite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3,12 % auf die Gesamtkosten (Nettoertrag Immobilie).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57607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Ohne den Gastro-Gewinn deckt die Immobilie allein die Raten nicht. Der Pachtvertrag mit einem tragfähigen Betreiber ist für die Bank entscheidend.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Wie viel Umsatz braucht die Gastro?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Bank</a:t>
            </a:r>
            <a:endParaRPr lang="en-US" sz="1000" dirty="0"/>
          </a:p>
        </p:txBody>
      </p:sp>
      <p:graphicFrame>
        <p:nvGraphicFramePr>
          <p:cNvPr id="21" name="Tabelle Gastro Umsatz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9494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194560"/>
                <a:gridCol w="219456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Umsatz pro Monat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Gewinn vor Pacht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Gewinn nach Pacht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12.200 €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+7.100 €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15.250 €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+10.150 €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19.825 €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+14.725 €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24.400 €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+19.300 €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27.450 €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+22.350 €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</a:tbl>
          </a:graphicData>
        </a:graphic>
      </p:graphicFrame>
      <p:sp>
        <p:nvSpPr>
          <p:cNvPr id="6" name="Break-even"/>
          <p:cNvSpPr/>
          <p:nvPr/>
        </p:nvSpPr>
        <p:spPr>
          <a:xfrm>
            <a:off x="7863840" y="1371600"/>
            <a:ext cx="3776472" cy="3291840"/>
          </a:xfrm>
          <a:prstGeom prst="roundRect">
            <a:avLst>
              <a:gd name="adj" fmla="val 222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092440" y="1554480"/>
            <a:ext cx="3319272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Betrieb allein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 ca. 16.700 € Umsatz deckt der Betrieb seine Pacht.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Haus insgesamt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 ca. 34.800 € Umsatz sind alle Raten bezahlt.</a:t>
            </a:r>
            <a:endParaRPr lang="en-US" sz="135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93776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Umsatz von 65.000 € entspricht nur ca. 4.100 € je Sitzplatz und Jahr (190 Plätze), das ist für 510 m² vorsichtig.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Ertragswert und Beleihung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Bank</a:t>
            </a:r>
            <a:endParaRPr lang="en-US" sz="1000" dirty="0"/>
          </a:p>
        </p:txBody>
      </p:sp>
      <p:graphicFrame>
        <p:nvGraphicFramePr>
          <p:cNvPr id="22" name="Tabelle Ertragswer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66928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64592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Ertragswert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Betrag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Rohertrag pro Jahr (Mieten und Pacht)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168.247 €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Bewirtschaftungskosten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−22.421 €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Reinertrag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145.826 €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Bodenwert (960 m² × 230 €)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220.800 €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Gebäudeertragswert (mittl. Vervielfältiger 19,9)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2.673.663 €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Ertragswert gesamt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2.894.463 €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davon Wohnen / Büro / Gastro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1,82 / 0,27 / 0,80 Mio.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3" name="Tabelle Beleihung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371600"/>
          <a:ext cx="5239512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67335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Beleihung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Betrag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Sachwert (Boden + Herstellungskosten)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4.325.626 €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Beleihungswert (niedrigerer Wert, −10 %)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2.605.017 €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Gesamtkosten und Darlehen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4.853.028 €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Beleihungsauslauf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186 %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Ertragswert minus Gesamtkosten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−1.958.565 €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Betrag über 80 % Auslauf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2.769.015 €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2"/>
          <p:cNvSpPr txBox="1"/>
          <p:nvPr/>
        </p:nvSpPr>
        <p:spPr>
          <a:xfrm>
            <a:off x="548640" y="507492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Einordnung: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Mieten und die Pacht tragen einen Wert von 2,89 Mio. €, die Kosten liegen bei 4,85 Mio. €. Eine Bank beleiht üblicherweise nur bis ca. 80 % des Beleihungswerts. Für die Finanzierung braucht es deshalb zusätzliche Sicherheiten (Grundschulden auf weitere Immobilien, Bürgschaft) oder Eigenkapital in Höhe von ca. 2,77 Mio. €.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Prognose und Belastungstest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Bank</a:t>
            </a:r>
            <a:endParaRPr lang="en-US" sz="1000" dirty="0"/>
          </a:p>
        </p:txBody>
      </p:sp>
      <p:graphicFrame>
        <p:nvGraphicFramePr>
          <p:cNvPr id="23" name="Tabelle Prognos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1672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1545336"/>
                <a:gridCol w="1545336"/>
                <a:gridCol w="1545336"/>
                <a:gridCol w="1545336"/>
                <a:gridCol w="1527048"/>
              </a:tblGrid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Jahr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Nettoertrag vor Kapitaldienst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328.122 €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338.216 €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348.621 €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359.349 €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376.065 €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Kapitaldienst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−217.676 €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−217.676 €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−217.676 €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−217.676 €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−217.676 €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Ergebnis nach Kapitaldienst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+9.204 €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+10.045 €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+10.912 €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+11.806 €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+13.199 €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DSCR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1,60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1,65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1,73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Restschuld Jahresende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4.803.715 €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4.699.779 €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4.588.326 €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4.468.794 €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4.273.010 €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elle Belastungstes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20440"/>
          <a:ext cx="11091672" cy="914400"/>
        </p:xfrm>
        <a:graphic>
          <a:graphicData uri="http://schemas.openxmlformats.org/drawingml/2006/table">
            <a:tbl>
              <a:tblPr/>
              <a:tblGrid>
                <a:gridCol w="6035040"/>
                <a:gridCol w="1737360"/>
                <a:gridCol w="1371600"/>
                <a:gridCol w="1947672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Belastungstest (pro Monat)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Ergebnis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DSCR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zum Plan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+9.204 €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1,51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Anschlusszins nach 10 Jahren +1 Prozentpunkt (auf Restschuld)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+5.643 €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−3.561 €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Mieten Wohnen −10 %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+8.545 €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1,47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−659 €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Gastro-Umsatz −20 %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+5.239 €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1,29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−3.965 €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Gastro-Umsatz −40 %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+1.274 €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1,07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−7.930 €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Baukosten +10 % (Kredit steigt entsprechend)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+7.714 €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1,39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−1.490 €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Größerer Büro-Ankermieter zieht aus (Leerstand)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+8.349 €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1,46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−855 €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Beide Büros leer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+7.764 €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1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1,43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−1.440 €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Gastro fällt ganz aus (keine Pacht, kein Betriebsergebnis)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−10.111 €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0,44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−19.315 €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Prüfung: zwei Wohnungen als Airbnb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Bank</a:t>
            </a:r>
            <a:endParaRPr lang="en-US" sz="1000" dirty="0"/>
          </a:p>
        </p:txBody>
      </p:sp>
      <p:graphicFrame>
        <p:nvGraphicFramePr>
          <p:cNvPr id="24" name="Tabelle Airbnb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2011680"/>
                <a:gridCol w="2011680"/>
                <a:gridCol w="194767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Zwei Apartments à ...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 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Preis pro Nacht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Netto Airbnb je Apartment und Monat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602 €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Netto langfristige Miete je Apartment und Monat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553 €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674 €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Möblierung (im Kredit)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40.200 €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Mehrertrag für 2 Apartments pro Monat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−60 €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−177 €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accent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−278 €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E4E2"/>
                    </a:solidFill>
                  </a:tcPr>
                </a:tc>
              </a:tr>
            </a:tbl>
          </a:graphicData>
        </a:graphic>
      </p:graphicFrame>
      <p:sp>
        <p:nvSpPr>
          <p:cNvPr id="6" name="Ergebnis"/>
          <p:cNvSpPr/>
          <p:nvPr/>
        </p:nvSpPr>
        <p:spPr>
          <a:xfrm>
            <a:off x="548640" y="4297680"/>
            <a:ext cx="11091672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22960" y="4434840"/>
            <a:ext cx="105430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Ergebnis: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Kurzzeitvermietung lohnt sich nicht. Auch kleine Apartments bringen nach Möblierung, Kapitaldienst und Kosten weniger als langfristige Mieter. Dazu kommen Aufwand, Reinigung und bei mehr als 12 Betten Sonderbau-Brandschutz. Deshalb bleiben alle 6 Wohnungen langfristig vermietet.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Risiken und was wir dagegen tun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die Bank</a:t>
            </a:r>
            <a:endParaRPr lang="en-US" sz="1000" dirty="0"/>
          </a:p>
        </p:txBody>
      </p:sp>
      <p:sp>
        <p:nvSpPr>
          <p:cNvPr id="5" name="Risiko 1"/>
          <p:cNvSpPr/>
          <p:nvPr/>
        </p:nvSpPr>
        <p:spPr>
          <a:xfrm>
            <a:off x="548640" y="1371600"/>
            <a:ext cx="5362956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7240" y="150876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Sicherheiten und Beleihung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2011680"/>
            <a:ext cx="49057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Beleihungsauslauf 186 % bei 100 % Fremdfinanzierung. Gegenmaßnahme: Grundschulden auf weitere Immobilien, Bürgschaft oder Eigenkapital, Pachtvertrag mit Bonitätsnachweis.</a:t>
            </a:r>
            <a:endParaRPr lang="en-US" sz="1400" dirty="0"/>
          </a:p>
        </p:txBody>
      </p:sp>
      <p:sp>
        <p:nvSpPr>
          <p:cNvPr id="8" name="Risiko 2"/>
          <p:cNvSpPr/>
          <p:nvPr/>
        </p:nvSpPr>
        <p:spPr>
          <a:xfrm>
            <a:off x="6277356" y="1371600"/>
            <a:ext cx="5362956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05956" y="150876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Gastro-Umsatz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6505956" y="2011680"/>
            <a:ext cx="49057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Haus insgesamt ab ca. 35.000 € Umsatz im Plus, bei Ausfall der Gastro fehlen ca. 19.315 € pro Monat, bei Auszug des großen Büro-Ankermieters ca. 855 €. Gegenmaßnahme: Konzept, erfahrener Betreiber, Pachtstaffel, Mietverträge über 10 Jahre mit Bonitätsprüfung.</a:t>
            </a:r>
            <a:endParaRPr lang="en-US" sz="1400" dirty="0"/>
          </a:p>
        </p:txBody>
      </p:sp>
      <p:sp>
        <p:nvSpPr>
          <p:cNvPr id="11" name="Risiko 3"/>
          <p:cNvSpPr/>
          <p:nvPr/>
        </p:nvSpPr>
        <p:spPr>
          <a:xfrm>
            <a:off x="548640" y="3703320"/>
            <a:ext cx="5362956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7240" y="384048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Zins</a:t>
            </a:r>
            <a:endParaRPr lang="en-US" sz="1900" dirty="0"/>
          </a:p>
        </p:txBody>
      </p:sp>
      <p:sp>
        <p:nvSpPr>
          <p:cNvPr id="13" name="Text 10"/>
          <p:cNvSpPr txBox="1"/>
          <p:nvPr/>
        </p:nvSpPr>
        <p:spPr>
          <a:xfrm>
            <a:off x="777240" y="4343400"/>
            <a:ext cx="49057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KfW-Zinsen und Rahmen sind Stand Okt. 2026 unsicher, nach 10 Jahren ist der Folgezins offen. Gegenmaßnahme: Zusage vor Baubeginn, Forward-Darlehen, Tilgungsaussetzung.</a:t>
            </a:r>
            <a:endParaRPr lang="en-US" sz="1400" dirty="0"/>
          </a:p>
        </p:txBody>
      </p:sp>
      <p:sp>
        <p:nvSpPr>
          <p:cNvPr id="14" name="Risiko 4"/>
          <p:cNvSpPr/>
          <p:nvPr/>
        </p:nvSpPr>
        <p:spPr>
          <a:xfrm>
            <a:off x="6277356" y="3703320"/>
            <a:ext cx="5362956" cy="2103120"/>
          </a:xfrm>
          <a:prstGeom prst="roundRect">
            <a:avLst>
              <a:gd name="adj" fmla="val 34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505956" y="384048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Genehmigung und Standard</a:t>
            </a:r>
            <a:endParaRPr lang="en-US" sz="1900" dirty="0"/>
          </a:p>
        </p:txBody>
      </p:sp>
      <p:sp>
        <p:nvSpPr>
          <p:cNvPr id="16" name="Text 13"/>
          <p:cNvSpPr txBox="1"/>
          <p:nvPr/>
        </p:nvSpPr>
        <p:spPr>
          <a:xfrm>
            <a:off x="6505956" y="4343400"/>
            <a:ext cx="49057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576 m² Grundfläche, Staffelgeschoss und Flachdach müssen bestätigt werden, KfW verlangt Effizienzhaus 40 mit QNG. Gegenmaßnahme: Vorabstimmung, Energieeffizienz-Experte früh einbinden.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ich von Stadt und Bank brauche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Stadt und Bank</a:t>
            </a:r>
            <a:endParaRPr lang="en-US" sz="1000" dirty="0"/>
          </a:p>
        </p:txBody>
      </p:sp>
      <p:sp>
        <p:nvSpPr>
          <p:cNvPr id="4" name="Bedarf 1"/>
          <p:cNvSpPr/>
          <p:nvPr/>
        </p:nvSpPr>
        <p:spPr>
          <a:xfrm>
            <a:off x="548640" y="1371600"/>
            <a:ext cx="5362956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Von der Stadt: Genehmigung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965960"/>
            <a:ext cx="49057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576 m² Grundfläche, Staffelgeschoss, Flachdach und Höhe schriftlich bestätigen</a:t>
            </a:r>
            <a:endParaRPr lang="en-US" sz="1400" dirty="0"/>
          </a:p>
        </p:txBody>
      </p:sp>
      <p:sp>
        <p:nvSpPr>
          <p:cNvPr id="7" name="Bedarf 2"/>
          <p:cNvSpPr/>
          <p:nvPr/>
        </p:nvSpPr>
        <p:spPr>
          <a:xfrm>
            <a:off x="6277356" y="1371600"/>
            <a:ext cx="5362956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05956" y="150876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Von der Stadt: Stellplätze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05956" y="1965960"/>
            <a:ext cx="49057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Mitnutzung der öffentlichen Parkfläche oder faire Ablöse</a:t>
            </a:r>
            <a:endParaRPr lang="en-US" sz="1400" dirty="0"/>
          </a:p>
        </p:txBody>
      </p:sp>
      <p:sp>
        <p:nvSpPr>
          <p:cNvPr id="10" name="Bedarf 3"/>
          <p:cNvSpPr/>
          <p:nvPr/>
        </p:nvSpPr>
        <p:spPr>
          <a:xfrm>
            <a:off x="548640" y="2880360"/>
            <a:ext cx="5362956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01752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Von der Stadt: Grundstück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474720"/>
            <a:ext cx="49057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Kaufpreis 230 €/m² mit Baureife, Reservierung bis zur Finanzierungszusage</a:t>
            </a:r>
            <a:endParaRPr lang="en-US" sz="1400" dirty="0"/>
          </a:p>
        </p:txBody>
      </p:sp>
      <p:sp>
        <p:nvSpPr>
          <p:cNvPr id="13" name="Bedarf 4"/>
          <p:cNvSpPr/>
          <p:nvPr/>
        </p:nvSpPr>
        <p:spPr>
          <a:xfrm>
            <a:off x="6277356" y="2880360"/>
            <a:ext cx="5362956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05956" y="301752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Von der Bank: Darlehen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505956" y="3474720"/>
            <a:ext cx="49057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Finanzierung von 4,85 Mio. € mit KfW 297/298/299 und tilgungsfreier Anlaufzeit von 12 Monaten</a:t>
            </a:r>
            <a:endParaRPr lang="en-US" sz="1400" dirty="0"/>
          </a:p>
        </p:txBody>
      </p:sp>
      <p:sp>
        <p:nvSpPr>
          <p:cNvPr id="16" name="Bedarf 5"/>
          <p:cNvSpPr/>
          <p:nvPr/>
        </p:nvSpPr>
        <p:spPr>
          <a:xfrm>
            <a:off x="548640" y="4389120"/>
            <a:ext cx="5362956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52628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Von der Bank: Sicherheiten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777240" y="4983480"/>
            <a:ext cx="49057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Gespräch über zusätzliche Grundschulden oder Bürgschaft wegen des Beleihungsauslaufs</a:t>
            </a:r>
            <a:endParaRPr lang="en-US" sz="1400" dirty="0"/>
          </a:p>
        </p:txBody>
      </p:sp>
      <p:sp>
        <p:nvSpPr>
          <p:cNvPr id="19" name="Bedarf 6"/>
          <p:cNvSpPr/>
          <p:nvPr/>
        </p:nvSpPr>
        <p:spPr>
          <a:xfrm>
            <a:off x="6277356" y="4389120"/>
            <a:ext cx="5362956" cy="13258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05956" y="4526280"/>
            <a:ext cx="49057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Von der Bank: KfW-Antrag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505956" y="4983480"/>
            <a:ext cx="49057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Antrag für 297/298 und 299 vor Baubeginn über die Hausbank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Nächste Schritte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Für Stadt und Bank</a:t>
            </a:r>
            <a:endParaRPr lang="en-US" sz="1000" dirty="0"/>
          </a:p>
        </p:txBody>
      </p:sp>
      <p:sp>
        <p:nvSpPr>
          <p:cNvPr id="5" name="Schritt 1"/>
          <p:cNvSpPr/>
          <p:nvPr/>
        </p:nvSpPr>
        <p:spPr>
          <a:xfrm>
            <a:off x="548640" y="137160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325880" y="13898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Okt 2026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3200400" y="13898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Gespräch mit der Stadt: Preis, Förderung, Stellplätze</a:t>
            </a:r>
            <a:endParaRPr lang="en-US" sz="1600" dirty="0"/>
          </a:p>
        </p:txBody>
      </p:sp>
      <p:sp>
        <p:nvSpPr>
          <p:cNvPr id="9" name="Schritt 2"/>
          <p:cNvSpPr/>
          <p:nvPr/>
        </p:nvSpPr>
        <p:spPr>
          <a:xfrm>
            <a:off x="548640" y="214884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1325880" y="21671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 2026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3200400" y="2167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Architekt, Baufenster, Höhen und Geschosse schriftlich klären</a:t>
            </a:r>
            <a:endParaRPr lang="en-US" sz="1600" dirty="0"/>
          </a:p>
        </p:txBody>
      </p:sp>
      <p:sp>
        <p:nvSpPr>
          <p:cNvPr id="13" name="Schritt 3"/>
          <p:cNvSpPr/>
          <p:nvPr/>
        </p:nvSpPr>
        <p:spPr>
          <a:xfrm>
            <a:off x="548640" y="292608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2926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325880" y="29443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Dez 2026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3200400" y="29443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Hausbank: Finanzierung, Anlaufzeit, KfW 297/298/299 und Sicherheiten klären</a:t>
            </a:r>
            <a:endParaRPr lang="en-US" sz="1600" dirty="0"/>
          </a:p>
        </p:txBody>
      </p:sp>
      <p:sp>
        <p:nvSpPr>
          <p:cNvPr id="17" name="Schritt 4"/>
          <p:cNvSpPr/>
          <p:nvPr/>
        </p:nvSpPr>
        <p:spPr>
          <a:xfrm>
            <a:off x="548640" y="370332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1325880" y="372160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 2027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3200400" y="37216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Städtebaulicher Vertrag, Bauantrag, KfW-Antrag vor Baubeginn</a:t>
            </a:r>
            <a:endParaRPr lang="en-US" sz="1600" dirty="0"/>
          </a:p>
        </p:txBody>
      </p:sp>
      <p:sp>
        <p:nvSpPr>
          <p:cNvPr id="21" name="Schritt 5"/>
          <p:cNvSpPr/>
          <p:nvPr/>
        </p:nvSpPr>
        <p:spPr>
          <a:xfrm>
            <a:off x="548640" y="4480560"/>
            <a:ext cx="502920" cy="50292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48640" y="4480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1325880" y="44988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Mitte 2027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3200400" y="44988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Baubeginn, 15 Monate Bauzeit</a:t>
            </a:r>
            <a:endParaRPr lang="en-US" sz="1600" dirty="0"/>
          </a:p>
        </p:txBody>
      </p:sp>
      <p:sp>
        <p:nvSpPr>
          <p:cNvPr id="25" name="Schritt 6"/>
          <p:cNvSpPr/>
          <p:nvPr/>
        </p:nvSpPr>
        <p:spPr>
          <a:xfrm>
            <a:off x="548640" y="52578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48640" y="5257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1325880" y="52760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Ende 2028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3200400" y="52760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Eröffnung zusammen mit der neuen Mitte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56032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100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Anhang</a:t>
            </a:r>
            <a:endParaRPr lang="en-US" sz="4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7490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D8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Annahmen, Gastro-Kosten, Gastro-Ausbau, Mietdaten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Rechenannahmen und offene Punkte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Anhang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5317236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Grundstück 960 m² × 230 € plus ca. 7 % (5 % Grunderwerbsteuer, ca. 2 % Notar)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Bau 1.650 m² BGF × 2.200 €, Staffel (498 m²) in Holzbau 400 €/m² günstiger, Terrasse 77 m² × 450 €, Baunebenkosten 15 %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100 % Fremdfinanzierung, 1 % Anfangstilgung, tilgungsfreie Anlaufzeit 12 Monate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Bauzeit 15 Monate, Bereitstellungszins 3 % p. a. ab Monat 7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Zins KfW 297/298 2,5 %, KfW 299 3,0 %, Hausbank 4,0 % (Annahmen)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6323076" y="1371600"/>
            <a:ext cx="5317236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Gastro-Umsatz 65.000 € netto, Marge vor Pacht 30,5 %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Wohnungen (655 m²) zu 11,18 €/m² Kaltmiete, 2 Büros (165 m²) zu 9,50 und 10,00 €/m² (10 Jahre fest), Gastro-Pacht 10 €/m² auf 510 m²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Lohn des Bauherrn wird vorerst nicht gerechnet, Rücklagen 10 % der Miete und Pacht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KfW-Kredite statt Zuschuss, Antrag vor Baubeginn; Mehrkosten Effizienzhaus 40 und QNG 3 %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Nebenkosten (Grundsteuer, Versicherung, Betriebskosten) werden auf die Mieter umgelegt, die Hausverwaltung deckt die Rücklage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Offen: Baufenster, Staffelgeschoss, Höhen, Stellplatzsatzung, Zins nach 10 Jahren, Sicherheiten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Gastro: Kosten pro Monat bei 65.000 € Umsatz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Anhang</a:t>
            </a:r>
            <a:endParaRPr lang="en-US" sz="1000" dirty="0"/>
          </a:p>
        </p:txBody>
      </p:sp>
      <p:graphicFrame>
        <p:nvGraphicFramePr>
          <p:cNvPr id="30" name="Tabelle Gastro-Koste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1672" cy="914400"/>
        </p:xfrm>
        <a:graphic>
          <a:graphicData uri="http://schemas.openxmlformats.org/drawingml/2006/table">
            <a:tbl>
              <a:tblPr/>
              <a:tblGrid>
                <a:gridCol w="6400800"/>
                <a:gridCol w="2286000"/>
                <a:gridCol w="2404872"/>
              </a:tblGrid>
              <a:tr h="3703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Richtwert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Betrag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Wareneinsatz (Einkauf Essen und Getränke)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ca. 28 %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18.200 €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Personal (ohne Chef-Lohn)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ca. 30 %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19.500 €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Pacht ans Haus (510 m² × 10 €)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5.100 €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Energie, Wasser, Müll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ca. 3 %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Reinigung, Wäsche, Verbrauchsmaterial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ca. 2 %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Werbung und Marketing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ca. 1,5 %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Reparaturen, Wartung, Kassensystem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ca. 1,5 %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Sonstiges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ca. 1,5 %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Versicherungen, GEMA, Gebühren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ca. 1 %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Steuerberater, Buchhaltung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ca. 1 %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Summe Kosten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50.275 €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03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Gewinn nach Pacht, vor Lohn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14.725 €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Gastro-Ausbau nach Posten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Anhang</a:t>
            </a:r>
            <a:endParaRPr lang="en-US" sz="1000" dirty="0"/>
          </a:p>
        </p:txBody>
      </p:sp>
      <p:graphicFrame>
        <p:nvGraphicFramePr>
          <p:cNvPr id="31" name="Tabelle Gastro-Ausbau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731520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182880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Posten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Betrag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Küche (Herd, Kühlräume, Edelstahl, Spülküche)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Lüftung und Abluft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Theke und Bar (Zapfanlage, Kühlung, Backbar)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Möbel (ca. 190 Plätze, Lounge, Séparée)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Beleuchtung und Deko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Wand, Boden, Decke, Akustik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Gäste-WC Ausstattung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Kasse, Technik, Musik, WLAN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Terrasse (Holzdeck, Möbel, Heizstrahler, 60 Plätze)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Planung und Genehmigung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Eröffnung, Marketing, Warenerstbestückung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4.000 €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Puffer 5 %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9.050 €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Summe (im Modell: 190.000 €)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190.050 €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Hinweis Ausbau"/>
          <p:cNvSpPr/>
          <p:nvPr/>
        </p:nvSpPr>
        <p:spPr>
          <a:xfrm>
            <a:off x="8229600" y="1234440"/>
            <a:ext cx="3410712" cy="2926080"/>
          </a:xfrm>
          <a:prstGeom prst="roundRect">
            <a:avLst>
              <a:gd name="adj" fmla="val 25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8458200" y="1417320"/>
            <a:ext cx="2953512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Baunebenkosten von 15 % fallen auf Möbel und Geräte nicht an, die Planung steckt als eigener Posten drin. Eine erste Schätzung für einen aufwendigeren Ausbau lag bei ca. 310.000 €. Für die große Gastro (510 m², 190 Plätze) sind 190.000 € angesetzt. Bei 250.000 € Ausbau steigt die Rate um ca. 228 € im Monat.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chemeClr val="accent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Mietdaten für Werlte</a:t>
            </a:r>
            <a:endParaRPr lang="en-US" sz="3000" dirty="0"/>
          </a:p>
        </p:txBody>
      </p:sp>
      <p:sp>
        <p:nvSpPr>
          <p:cNvPr id="3" name="Zielgruppe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Anhang</a:t>
            </a:r>
            <a:endParaRPr lang="en-US" sz="1000" dirty="0"/>
          </a:p>
        </p:txBody>
      </p:sp>
      <p:graphicFrame>
        <p:nvGraphicFramePr>
          <p:cNvPr id="32" name="Tabelle Miete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786384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237744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Quelle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Wert für Werlte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ImmoScout24 (Wohnungen, Durchschnitt)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7,78 €/m²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miete-aktuell.de (Kaltmiete 2026)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8,13 €/m²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mietpreise.info (14 Inserate, Spanne 6,09–14,48 €)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9,58 €/m²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mietpreise.info (Neubau)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10,73–11,02 €/m²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Landkreis Emsland (ImmoScout24, Q2 2026)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8,10 €/m²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Annahme Miete"/>
          <p:cNvSpPr/>
          <p:nvPr/>
        </p:nvSpPr>
        <p:spPr>
          <a:xfrm>
            <a:off x="8778240" y="1371600"/>
            <a:ext cx="2862072" cy="3291840"/>
          </a:xfrm>
          <a:prstGeom prst="roundRect">
            <a:avLst>
              <a:gd name="adj" fmla="val 255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9006840" y="1554480"/>
            <a:ext cx="2404872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 Modell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Wohnungen 11,18 €/m² Kaltmiete (950 € für 85 m², Bauherr, zentrale Lage). Büro 9,50–10,00 €/m², Gastro-Pacht 10 €/m², ohne Marktdaten.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93776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Quellen: mietpreise.info/mietspiegel/werlte, miete-aktuell.de, immobilienscout24.de (Kreis Emsland), Abruf Oktober 2026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3112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eue Mitte Werlte">
  <a:themeElements>
    <a:clrScheme name="Neue Mitte Werlte">
      <a:dk1>
        <a:srgbClr val="1F2421"/>
      </a:dk1>
      <a:lt1>
        <a:srgbClr val="FFFFFF"/>
      </a:lt1>
      <a:dk2>
        <a:srgbClr val="2F4A3E"/>
      </a:dk2>
      <a:lt2>
        <a:srgbClr val="F1F0EE"/>
      </a:lt2>
      <a:accent1>
        <a:srgbClr val="8C3B32"/>
      </a:accent1>
      <a:accent2>
        <a:srgbClr val="2F4A3E"/>
      </a:accent2>
      <a:accent3>
        <a:srgbClr val="C49A45"/>
      </a:accent3>
      <a:accent4>
        <a:srgbClr val="5B6770"/>
      </a:accent4>
      <a:accent5>
        <a:srgbClr val="2E7D5B"/>
      </a:accent5>
      <a:accent6>
        <a:srgbClr val="B3261E"/>
      </a:accent6>
      <a:hlink>
        <a:srgbClr val="8C3B32"/>
      </a:hlink>
      <a:folHlink>
        <a:srgbClr val="5B6770"/>
      </a:folHlink>
    </a:clrScheme>
    <a:fontScheme name="Neue Mitte Werlte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Neue Mitte Werlte – Baufeld 3: Große Gastro und 6 Wohnungen</dc:title>
  <dc:subject>PptxGenJS Presentation</dc:subject>
  <dc:creator>Bessam Hasso</dc:creator>
  <cp:lastModifiedBy>Bessam Hasso</cp:lastModifiedBy>
  <cp:revision>1</cp:revision>
  <dcterms:created xsi:type="dcterms:W3CDTF">2026-10-19T16:57:06Z</dcterms:created>
  <dcterms:modified xsi:type="dcterms:W3CDTF">2026-10-19T16:57:06Z</dcterms:modified>
</cp:coreProperties>
</file>