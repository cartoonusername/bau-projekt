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A: 930 m² BGF, EG Gastro 290 m² mit Frühstück, 1. OG und Staffel (Holzbau) als Hotel mit 15 Zimmern.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Alles Annahmen, es gibt keine belastbaren Hoteldaten für Werlte. Pachtquote und Kostenanteile sind Richtwerte und müssen mit einem Hotelbetreiber oder DEHOGA-Zahlen geprüft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des ganzen Hauses pro Monat: Gastro (ohne Lohn) plus Hotel minus Rate (11.199 €). Ein Kredit, 3,3 % Zins, 1 % Tilgung.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52 % Auslastung, Eigenbetrieb.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3,3 % Zins, ohne Lohn des Bauherrn. Airbnb bei 45 %, Hotel bei 52 % Auslastung.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Einheit mit eigenem Kredit ohne Eigenkapital. Käufer zahlen 3,3 % Zins; Preis für das Plus: nur Zinsen, ohne Tilgung. Hotelzimmer als Anlage: Betreiber zahlt 22 % vom Umsatz als Pacht, verteilt auf die Zimmer.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mit Bauamt und Brandschutz klären, die Hinweise sind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Hotel mit großer Gastro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Zimmer über der Gastro im Erdgeschoss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Konzept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5" name="Kennzahl Zimmer: ca. 9 im 1. OG, ca. 6 in der Staffel mit Terrasse"/>
          <p:cNvSpPr/>
          <p:nvPr/>
        </p:nvSpPr>
        <p:spPr>
          <a:xfrm>
            <a:off x="548640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Zimmer: ca. 9 im 1. OG, ca. 6 in der Staffel mit Terrasse</a:t>
            </a:r>
            <a:endParaRPr lang="en-US" sz="1300" dirty="0"/>
          </a:p>
        </p:txBody>
      </p:sp>
      <p:sp>
        <p:nvSpPr>
          <p:cNvPr id="8" name="Kennzahl Zimmerausstattung (18.000 € je Zimmer), mit im Kredit"/>
          <p:cNvSpPr/>
          <p:nvPr/>
        </p:nvSpPr>
        <p:spPr>
          <a:xfrm>
            <a:off x="3378708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1588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270.000 €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158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Zimmerausstattung (18.000 € je Zimmer), mit im Kredit</a:t>
            </a:r>
            <a:endParaRPr lang="en-US" sz="1300" dirty="0"/>
          </a:p>
        </p:txBody>
      </p:sp>
      <p:sp>
        <p:nvSpPr>
          <p:cNvPr id="11" name="Kennzahl Ergebnis Haus pro Monat bei 52 % Auslastung, Eigenbetrieb"/>
          <p:cNvSpPr/>
          <p:nvPr/>
        </p:nvSpPr>
        <p:spPr>
          <a:xfrm>
            <a:off x="6208776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1656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+9.350 €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91656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Haus pro Monat bei 52 % Auslastung, Eigenbetrieb</a:t>
            </a:r>
            <a:endParaRPr lang="en-US" sz="1300" dirty="0"/>
          </a:p>
        </p:txBody>
      </p:sp>
      <p:sp>
        <p:nvSpPr>
          <p:cNvPr id="14" name="Kennzahl zum Vergleich: Dauermiete (950 € je Wohnung)"/>
          <p:cNvSpPr/>
          <p:nvPr/>
        </p:nvSpPr>
        <p:spPr>
          <a:xfrm>
            <a:off x="9038844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1724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21724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Dauermiete (950 € je Wohnung)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Hotel bringt bei guter Auslastung etwa so viel wie Dauermiete, mit viel mehr Arbeit.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52 % Auslastung und 85 € pro Zimmer liegt der Eigenbetrieb 510 € unter der Dauermiete, verpachtet 2.164 € darunter.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Annahmen für das Hotel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4" name="Tabelle Annahmen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Zimmer / BGF je 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/ ca. 38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Zimmer und Nacht inkl. Frühstück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Wareneinsatz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Vertrieb und Provisionen (Booking u. a.)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Verwaltung, Versicherung, 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 (vor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Synergie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Frühstück läuft über die Gastro im EG, Hotelgäste können dort auch abends essen. Das zusätzliche Gastro-Geschäft ist nicht eingerechnet.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Verpachtung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Betreiber zahlt etwa 22 % vom Umsatz als Pacht (Annahme).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Auslastung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5" name="Tabelle Auslastung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1920240"/>
                <a:gridCol w="2011680"/>
                <a:gridCol w="173736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Hotel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 nach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Eigenbetrieb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(22 %)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+6.775 €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+7.543 €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27.147 €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(Vergleich)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Preis pro Zimmer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6" name="Tabelle Preis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92024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−1.175 €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+10.014 €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+10.678 €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drei Konzepte im Vergleich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7" name="Tabelle Vergleich Konzep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737360"/>
                <a:gridCol w="1554480"/>
                <a:gridCol w="1828800"/>
                <a:gridCol w="2496312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Konzept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Zusatzkosten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Aufwand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(6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Airbnb (6 Apartments)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 (Gäste, Reinigung)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Hotel, Eigenbetrieb (15 Zimmer)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sehr hoch (Personal, 24 Stunden)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Hotel,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gering, Betreiber nötig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Verwandten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8" name="Tabelle Verkauf Verwand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1463040"/>
                <a:gridCol w="1463040"/>
                <a:gridCol w="1554480"/>
                <a:gridCol w="1280160"/>
                <a:gridCol w="1463040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für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122.944 €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0233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Selbstkostenpreis ist jede Einheit im Minus. Für ein Plus von 250 € müsste der Preis so tief sinken, dass du insgesamt 1.761.049 € Differenz trägst.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 dann: Gastro 15.250 € minus Rate EG 4.176 € minus Zinsen auf die Differenz 5.147 € = +5.926 € pro Monat. Eine Bank finanziert eine so hohe Differenz kaum.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5" name="Sonderbau Beherbergung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Sonderbau Beherbergung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Hotel mit 15 Zimmern gilt als Beherbergungsstätte mit strengen Brandschutz- und Fluchtwegauflagen, auch für das Holz-Staffelgeschoss.</a:t>
            </a:r>
            <a:endParaRPr lang="en-US" sz="1300" dirty="0"/>
          </a:p>
        </p:txBody>
      </p:sp>
      <p:sp>
        <p:nvSpPr>
          <p:cNvPr id="8" name="Betrieb und Personal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Rezeption, Reinigung, Frühstück: Das ist ein zweiter Betrieb neben der Gastro, ohne Erfahrung oder Partner schwer.</a:t>
            </a:r>
            <a:endParaRPr lang="en-US" sz="1300" dirty="0"/>
          </a:p>
        </p:txBody>
      </p:sp>
      <p:sp>
        <p:nvSpPr>
          <p:cNvPr id="11" name="Stellplätze und Lärm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und Lärm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Hotelgäste brauchen zusätzliche Stellplätze (ca. 0,5 bis 1 je Zimmer), und Gastro und Zimmer liegen übereinander.</a:t>
            </a:r>
            <a:endParaRPr lang="en-US" sz="1300" dirty="0"/>
          </a:p>
        </p:txBody>
      </p:sp>
      <p:sp>
        <p:nvSpPr>
          <p:cNvPr id="14" name="Markt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keine belastbaren Zahlen zur Nachfrage in Werlte. Vor einer Entscheidung sind Betreiber-Gespräche und Marktdaten nötig.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Fazit und 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Hotel schlägt Dauermiete nur ab etwa 57 % Auslastung und mit viel Aufwand. Verpachtet liegt es dauerhaft unter der Dauermiete.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Hotelbetreiber oder Hotelberater für Werlte befragen (Preis, Auslastung, Pacht).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Beherbergungsstatistik (LSN) und Emsland Touristik anfragen.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und Stellplätze mit dem Bauamt klären.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Hotel</dc:title>
  <dc:subject>PptxGenJS Presentation</dc:subject>
  <dc:creator>Bessam Hasso</dc:creator>
  <cp:lastModifiedBy>Bessam Hasso</cp:lastModifiedBy>
  <cp:revision>1</cp:revision>
  <dcterms:created xsi:type="dcterms:W3CDTF">2026-10-15T17:25:55Z</dcterms:created>
  <dcterms:modified xsi:type="dcterms:W3CDTF">2026-10-15T17:25:55Z</dcterms:modified>
</cp:coreProperties>
</file>