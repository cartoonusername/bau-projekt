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A: 930 m² BGF, EG Gastro 290 m² mit Frühstück, 1. OG und Staffel (Holzbau) als Hotel mit 15 Zimmern.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Alles Annahmen, es gibt keine belastbaren Hoteldaten für Werlte. Pachtquote und Kostenanteile sind Richtwerte und müssen mit einem Hotelbetreiber oder DEHOGA-Zahlen geprüft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Ergebnis des ganzen Hauses pro Monat: Gastro (ohne Lohn) plus Hotel minus Rate (11.199 €). Ein Kredit, 3,3 % Zins, 1 % Tilgung.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52 % Auslastung, Eigenbetrieb.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A, 3,3 % Zins, ohne Lohn des Bauherrn. Airbnb bei 45 %, Hotel bei 52 % Auslastung.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Bitte mit Bauamt und Brandschutz klären, die Hinweise sind keine Rechtsberatung.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ßenansic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MITTE WERLTE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Baufeld 3: Hotel mit großer Gastro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Zimmer über der Gastro im Erdgeschoss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Bessam Hasso, Werlte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Bebauungsplan Nr. 123, 1. Änderung (Entwurf 25.08.2026)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Oktober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Konzept auf einen Blick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2</a:t>
            </a:r>
            <a:endParaRPr lang="en-US" sz="1000" dirty="0"/>
          </a:p>
        </p:txBody>
      </p:sp>
      <p:sp>
        <p:nvSpPr>
          <p:cNvPr id="5" name="Kennzahl Zimmer: ca. 9 im 1. OG, ca. 6 in der Staffel mit Terrasse"/>
          <p:cNvSpPr/>
          <p:nvPr/>
        </p:nvSpPr>
        <p:spPr>
          <a:xfrm>
            <a:off x="548640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Zimmer: ca. 9 im 1. OG, ca. 6 in der Staffel mit Terrasse</a:t>
            </a:r>
            <a:endParaRPr lang="en-US" sz="1300" dirty="0"/>
          </a:p>
        </p:txBody>
      </p:sp>
      <p:sp>
        <p:nvSpPr>
          <p:cNvPr id="8" name="Kennzahl Zimmerausstattung (18.000 € je Zimmer), mit im Kredit"/>
          <p:cNvSpPr/>
          <p:nvPr/>
        </p:nvSpPr>
        <p:spPr>
          <a:xfrm>
            <a:off x="3378708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1588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270.000 €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1588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Zimmerausstattung (18.000 € je Zimmer), mit im Kredit</a:t>
            </a:r>
            <a:endParaRPr lang="en-US" sz="1300" dirty="0"/>
          </a:p>
        </p:txBody>
      </p:sp>
      <p:sp>
        <p:nvSpPr>
          <p:cNvPr id="11" name="Kennzahl Ergebnis Haus pro Monat bei 52 % Auslastung, Eigenbetrieb"/>
          <p:cNvSpPr/>
          <p:nvPr/>
        </p:nvSpPr>
        <p:spPr>
          <a:xfrm>
            <a:off x="6208776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91656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+9.350 €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391656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Haus pro Monat bei 52 % Auslastung, Eigenbetrieb</a:t>
            </a:r>
            <a:endParaRPr lang="en-US" sz="1300" dirty="0"/>
          </a:p>
        </p:txBody>
      </p:sp>
      <p:sp>
        <p:nvSpPr>
          <p:cNvPr id="14" name="Kennzahl zum Vergleich: Dauermiete (950 € je Wohnung)"/>
          <p:cNvSpPr/>
          <p:nvPr/>
        </p:nvSpPr>
        <p:spPr>
          <a:xfrm>
            <a:off x="9038844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21724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+9.860 €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221724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Vergleich: Dauermiete (950 € je Wohnung)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10896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Hotel bringt bei guter Auslastung etwa so viel wie Dauermiete, mit viel mehr Arbeit.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52 % Auslastung und 85 € pro Zimmer liegt der Eigenbetrieb 510 € unter der Dauermiete, verpachtet 2.164 € darunter.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Annahmen für das Hotel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2</a:t>
            </a:r>
            <a:endParaRPr lang="en-US" sz="1000" dirty="0"/>
          </a:p>
        </p:txBody>
      </p:sp>
      <p:graphicFrame>
        <p:nvGraphicFramePr>
          <p:cNvPr id="4" name="Tabelle Annahmen Hot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Annahme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Zimmer / BGF je Zimmer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/ ca. 38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pro Zimmer und Nacht inkl. Frühstück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Frühstück und Wareneinsatz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Reinigung und Wäsche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Vertrieb und Provisionen (Booking u. a.)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Verwaltung, Versicherung, Sonstiges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Bleibt vom Umsatz (vor Rate)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"/>
          <p:cNvSpPr/>
          <p:nvPr/>
        </p:nvSpPr>
        <p:spPr>
          <a:xfrm>
            <a:off x="7863840" y="1371600"/>
            <a:ext cx="3776472" cy="420624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554480"/>
            <a:ext cx="3319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Frühstück und Synergie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Frühstück läuft über die Gastro im EG, Hotelgäste können dort auch abends essen. Das zusätzliche Gastro-Geschäft ist nicht eingerechnet.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Verpachtung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Betreiber zahlt etwa 22 % vom Umsatz als Pacht (Annahme).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Ergebnis je Auslastung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2</a:t>
            </a:r>
            <a:endParaRPr lang="en-US" sz="1000" dirty="0"/>
          </a:p>
        </p:txBody>
      </p:sp>
      <p:graphicFrame>
        <p:nvGraphicFramePr>
          <p:cNvPr id="5" name="Tabelle Auslastung Hot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920240"/>
                <a:gridCol w="2011680"/>
                <a:gridCol w="1737360"/>
                <a:gridCol w="18562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Auslastung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Hotel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Hotel nach 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Haus: Eigenbetrieb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(22 %)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Haus: verpachtet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+8.047 €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+6.775 €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19.391 €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5.429 €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+9.133 €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+7.543 €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23.269 €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+10.218 €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+8.310 €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27.147 €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7.601 €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+11.304 €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+9.078 €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Dauermiete (Vergleich)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Ergebnis je Preis pro Zimmer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2</a:t>
            </a:r>
            <a:endParaRPr lang="en-US" sz="1000" dirty="0"/>
          </a:p>
        </p:txBody>
      </p:sp>
      <p:graphicFrame>
        <p:nvGraphicFramePr>
          <p:cNvPr id="6" name="Tabelle Preis Hot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182880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je Zimmer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gegenüber Dauermiete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17.794 €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+8.685 €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−1.175 €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+9.350 €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+10.014 €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+10.678 €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drei Konzepte im Vergleich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2</a:t>
            </a:r>
            <a:endParaRPr lang="en-US" sz="1000" dirty="0"/>
          </a:p>
        </p:txBody>
      </p:sp>
      <p:graphicFrame>
        <p:nvGraphicFramePr>
          <p:cNvPr id="7" name="Tabelle Vergleich Konzep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737360"/>
                <a:gridCol w="1554480"/>
                <a:gridCol w="1828800"/>
                <a:gridCol w="2496312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Konzept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Zusatzkosten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Haus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Aufwand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Dauermiete (6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Airbnb (6 Apartments)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11.137 €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+7.107 €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 (Gäste, Reinigung)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Hotel, Eigenbetrieb (15 Zimmer)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11.199 €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+9.350 €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sehr hoch (Personal, 24 Stunden)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Hotel, verpachtet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11.199 €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+7.696 €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gering, Betreiber nötig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Recht und Risiken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2</a:t>
            </a:r>
            <a:endParaRPr lang="en-US" sz="1000" dirty="0"/>
          </a:p>
        </p:txBody>
      </p:sp>
      <p:sp>
        <p:nvSpPr>
          <p:cNvPr id="5" name="Sonderbau Beherbergung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Sonderbau Beherbergung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Hotel mit 15 Zimmern gilt als Beherbergungsstätte mit strengen Brandschutz- und Fluchtwegauflagen, auch für das Holz-Staffelgeschoss.</a:t>
            </a:r>
            <a:endParaRPr lang="en-US" sz="1300" dirty="0"/>
          </a:p>
        </p:txBody>
      </p:sp>
      <p:sp>
        <p:nvSpPr>
          <p:cNvPr id="8" name="Betrieb und Personal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Betrieb und Personal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965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Rezeption, Reinigung, Frühstück: Das ist ein zweiter Betrieb neben der Gastro, ohne Erfahrung oder Partner schwer.</a:t>
            </a:r>
            <a:endParaRPr lang="en-US" sz="1300" dirty="0"/>
          </a:p>
        </p:txBody>
      </p:sp>
      <p:sp>
        <p:nvSpPr>
          <p:cNvPr id="11" name="Stellplätze und Lärm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 und Lärm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160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Hotelgäste brauchen zusätzliche Stellplätze (ca. 0,5 bis 1 je Zimmer), und Gastro und Zimmer liegen übereinander.</a:t>
            </a:r>
            <a:endParaRPr lang="en-US" sz="1300" dirty="0"/>
          </a:p>
        </p:txBody>
      </p:sp>
      <p:sp>
        <p:nvSpPr>
          <p:cNvPr id="14" name="Markt"/>
          <p:cNvSpPr/>
          <p:nvPr/>
        </p:nvSpPr>
        <p:spPr>
          <a:xfrm>
            <a:off x="621792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160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keine belastbaren Zahlen zur Nachfrage in Werlte. Vor einer Entscheidung sind Betreiber-Gespräche und Marktdaten nötig.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Fazit und nächste Schritte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Hotel schlägt Dauermiete nur ab etwa 57 % Auslastung und mit viel Aufwand. Verpachtet liegt es dauerhaft unter der Dauermiete.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Hotelbetreiber oder Hotelberater für Werlte befragen (Preis, Auslastung, Pacht).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Beherbergungsstatistik (LSN) und Emsland Touristik anfragen.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Brandschutz und Stellplätze mit dem Bauamt klären.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3: Gastro und Hotel</dc:title>
  <dc:subject>PptxGenJS Presentation</dc:subject>
  <dc:creator>Bessam Hasso</dc:creator>
  <cp:lastModifiedBy>Bessam Hasso</cp:lastModifiedBy>
  <cp:revision>1</cp:revision>
  <dcterms:created xsi:type="dcterms:W3CDTF">2026-10-15T17:12:26Z</dcterms:created>
  <dcterms:modified xsi:type="dcterms:W3CDTF">2026-10-15T17:12:26Z</dcterms:modified>
</cp:coreProperties>
</file>