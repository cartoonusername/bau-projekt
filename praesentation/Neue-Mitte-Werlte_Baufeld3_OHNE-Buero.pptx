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8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Stellplätze</c:v>
                </c:pt>
              </c:strCache>
            </c:strRef>
          </c:tx>
          <c:spPr>
            <a:solidFill>
              <a:srgbClr val="8C3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3B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4A3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Bedarf (Annahme)</c:v>
                  </c:pt>
                  <c:pt idx="1">
                    <c:v>Platz auf dem Grundstück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F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Kosten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49A45"/>
              </a:solidFill>
              <a:effectLst/>
            </c:spPr>
          </c:dPt>
          <c:dPt>
            <c:idx val="1"/>
            <c:bubble3D val="0"/>
            <c:spPr>
              <a:solidFill>
                <a:srgbClr val="8C3B32"/>
              </a:solidFill>
              <a:effectLst/>
            </c:spPr>
          </c:dPt>
          <c:dPt>
            <c:idx val="2"/>
            <c:bubble3D val="0"/>
            <c:spPr>
              <a:solidFill>
                <a:srgbClr val="5B6770"/>
              </a:solidFill>
              <a:effectLst/>
            </c:spPr>
          </c:dPt>
          <c:dPt>
            <c:idx val="3"/>
            <c:bubble3D val="0"/>
            <c:spPr>
              <a:solidFill>
                <a:srgbClr val="2F4A3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Grundstück</c:v>
                </c:pt>
                <c:pt idx="1">
                  <c:v>Bau</c:v>
                </c:pt>
                <c:pt idx="2">
                  <c:v>Baunebenkosten</c:v>
                </c:pt>
                <c:pt idx="3">
                  <c:v>Gastro-Ausbau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236256</c:v>
                </c:pt>
                <c:pt idx="1">
                  <c:v>2592000</c:v>
                </c:pt>
                <c:pt idx="2">
                  <c:v>388800</c:v>
                </c:pt>
                <c:pt idx="3">
                  <c:v>287250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42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Euro pro Monat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Miete</c:v>
                  </c:pt>
                  <c:pt idx="1">
                    <c:v>Gastro</c:v>
                  </c:pt>
                  <c:pt idx="2">
                    <c:v>Rate</c:v>
                  </c:pt>
                  <c:pt idx="3">
                    <c:v>Lohn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8140</c:v>
                </c:pt>
                <c:pt idx="1">
                  <c:v>9080</c:v>
                </c:pt>
                <c:pt idx="2">
                  <c:v>-13342</c:v>
                </c:pt>
                <c:pt idx="3">
                  <c:v>-6814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 (3,3 %)</c:v>
                </c:pt>
              </c:strCache>
            </c:strRef>
          </c:tx>
          <c:spPr>
            <a:solidFill>
              <a:srgbClr val="2F4A3E"/>
            </a:solidFill>
            <a:ln w="38100" cap="flat">
              <a:solidFill>
                <a:srgbClr val="2F4A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F4A3E"/>
              </a:solidFill>
              <a:ln w="9525" cap="flat">
                <a:solidFill>
                  <a:srgbClr val="2F4A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0 %</c:v>
                  </c:pt>
                  <c:pt idx="1">
                    <c:v>5 %</c:v>
                  </c:pt>
                  <c:pt idx="2">
                    <c:v>10 %</c:v>
                  </c:pt>
                  <c:pt idx="3">
                    <c:v>15 %</c:v>
                  </c:pt>
                  <c:pt idx="4">
                    <c:v>20 %</c:v>
                  </c:pt>
                  <c:pt idx="5">
                    <c:v>25 %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-2936</c:v>
                </c:pt>
                <c:pt idx="1">
                  <c:v>-2269</c:v>
                </c:pt>
                <c:pt idx="2">
                  <c:v>-1602</c:v>
                </c:pt>
                <c:pt idx="3">
                  <c:v>-935</c:v>
                </c:pt>
                <c:pt idx="4">
                  <c:v>-268</c:v>
                </c:pt>
                <c:pt idx="5">
                  <c:v>399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Ausgang (4,0 %)</c:v>
                </c:pt>
              </c:strCache>
            </c:strRef>
          </c:tx>
          <c:spPr>
            <a:solidFill>
              <a:srgbClr val="8C3B32"/>
            </a:solidFill>
            <a:ln w="38100" cap="flat">
              <a:solidFill>
                <a:srgbClr val="8C3B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C3B32"/>
              </a:solidFill>
              <a:ln w="9525" cap="flat">
                <a:solidFill>
                  <a:srgbClr val="8C3B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0 %</c:v>
                  </c:pt>
                  <c:pt idx="1">
                    <c:v>5 %</c:v>
                  </c:pt>
                  <c:pt idx="2">
                    <c:v>10 %</c:v>
                  </c:pt>
                  <c:pt idx="3">
                    <c:v>15 %</c:v>
                  </c:pt>
                  <c:pt idx="4">
                    <c:v>20 %</c:v>
                  </c:pt>
                  <c:pt idx="5">
                    <c:v>25 %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-5286</c:v>
                </c:pt>
                <c:pt idx="1">
                  <c:v>-4502</c:v>
                </c:pt>
                <c:pt idx="2">
                  <c:v>-3717</c:v>
                </c:pt>
                <c:pt idx="3">
                  <c:v>-2932</c:v>
                </c:pt>
                <c:pt idx="4">
                  <c:v>-2148</c:v>
                </c:pt>
                <c:pt idx="5">
                  <c:v>-1363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F242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Titelfolie. Das Bild ist eine Referenzstudie mit Flachdach, der Entwurf wird mit Satteldach angepasst.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Das Haus trägt sich erst mit Förderung und günstigem Zins, die Gastro muss den Rest tragen.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Quelle: Konzeptheft Neue Mitte Werlte (Seiten 13, 16 und 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Grundstückskennwerte aus Bebauungsplan Nr. 123 (Entwurf). Baufenster aus dem Planfoto geschätzt, Bauamt muss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Schnitt schematisch, Maße aus dem B-Plan (TH 6,50 m, H 12 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Schematische Skizzen, nicht maßstäblich genau. Aufteilung wird mit dem Architekten verfeinert.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Referenzbild zeigt ein Flachdach. Im Entwurf kommt ein Satteldach (TH 6,50 m, H 12 m), Materialien und Gliederung bleiben.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Referenzbild für Stimmung und Materialien, keine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Bedarf nach groben Annahmen (1,5 pro Wohnung, 1 je 35 m² Büro, 1 je 10 m² Gastraum). Die Stellplatzsatzung der Stadt gilt verbindlich.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Baukosten 2.700 €/m² BGF und 15 % Baunebenkosten sind Annahmen und müssen durch Architekt und Angebote bestätigt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Zinsen in der Bauzeit und im Aufschub werden dem Kredit zugeschlagen. Der Aufschub von 12 Monaten muss mit der Bank verhandelt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Mieten nach Marktdaten für Werlte (Neubau ca. 10,7 bis 11 €/m²). Gastro-Margen nach Branchen-Richtwerten.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Förderung als Zuschuss in Prozent der Kosten, der den Kredit von Anfang an verkleinert (Annahme). Höhe und Zweck der Städtebauförderung sind offen.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Gastro-Marge vor Pacht 30,5 % vom Umsatz (Branchen-Richtwert, nicht aus Werlte). Break-even = Ergebnis nach Lohn genau 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Ohne Büro wächst die Gastro um 70 m² (ca. 30 Plätze), die Büro-Miete von 700 € fällt weg, die Pacht steigt um 840 €.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Wirkungen gerechnet mit dem Modell (Plan 3,3 %, ohne Förderung als Basis).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Zeitplan der Stadt aus dem Konzeptheft, Bauantrag und Förderzusagen sind meine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Zahlen sind Planungsannahmen, keine Zusagen.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Prozentwerte sind Branchen-Richtwerte aus meiner Einschätzung, nicht aus Quellen für Werlte.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Preise sind eigene Schätzungen, ein Gastro-Fachplaner und Angebote von Küchen- und Lüftungsbauern müssen sie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gibt keinen amtlichen Mietspiegel für Werlte, die Portale arbeiten mit kleinen Stichproben.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F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ferenzstudie Außenansic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MITTE WERLTE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Baufeld 3: Gastro und Wohnen am Rathaus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Baukonzept und Wirtschaftlichkeit, Variante ohne Büro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Bessam Hasso, Werlte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Bebauungsplan Nr. 123, 1. Änderung (Entwurf 25.08.2026)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Oktober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Vorhaben auf einen Blick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Kennzahl Gesamtkosten (ohne Bauzeitzinsen)"/>
          <p:cNvSpPr/>
          <p:nvPr/>
        </p:nvSpPr>
        <p:spPr>
          <a:xfrm>
            <a:off x="548640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3,50 Mio. €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Gesamtkosten (ohne Bauzeitzinsen)</a:t>
            </a:r>
            <a:endParaRPr lang="en-US" sz="1400" dirty="0"/>
          </a:p>
        </p:txBody>
      </p:sp>
      <p:sp>
        <p:nvSpPr>
          <p:cNvPr id="8" name="Kennzahl Wohnungen auf 960 m² BGF, Gastro 260 m²"/>
          <p:cNvSpPr/>
          <p:nvPr/>
        </p:nvSpPr>
        <p:spPr>
          <a:xfrm>
            <a:off x="3367278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50158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3550158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Wohnungen auf 960 m² BGF, Gastro 260 m²</a:t>
            </a:r>
            <a:endParaRPr lang="en-US" sz="1400" dirty="0"/>
          </a:p>
        </p:txBody>
      </p:sp>
      <p:sp>
        <p:nvSpPr>
          <p:cNvPr id="11" name="Kennzahl Rate pro Monat (3,3 %, ohne Förderung)"/>
          <p:cNvSpPr/>
          <p:nvPr/>
        </p:nvSpPr>
        <p:spPr>
          <a:xfrm>
            <a:off x="6185916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68796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13.342 €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6368796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pro Monat (3,3 %, ohne Förderung)</a:t>
            </a:r>
            <a:endParaRPr lang="en-US" sz="1400" dirty="0"/>
          </a:p>
        </p:txBody>
      </p:sp>
      <p:sp>
        <p:nvSpPr>
          <p:cNvPr id="14" name="Kennzahl Ergebnis pro Monat nach Lohn, ohne Förderung"/>
          <p:cNvSpPr/>
          <p:nvPr/>
        </p:nvSpPr>
        <p:spPr>
          <a:xfrm>
            <a:off x="9004554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7434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−2.936 €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9187434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pro Monat nach Lohn, ohne Förderung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pro Monat nach Lohn bei 40.000 € Gastro-Umsatz (Plan, 3,3 % Zins)</a:t>
            </a:r>
            <a:endParaRPr lang="en-US" sz="1600" dirty="0"/>
          </a:p>
        </p:txBody>
      </p:sp>
      <p:graphicFrame>
        <p:nvGraphicFramePr>
          <p:cNvPr id="3" name="Tabelle Förder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13332"/>
                <a:gridCol w="1513332"/>
                <a:gridCol w="1513332"/>
                <a:gridCol w="1513332"/>
                <a:gridCol w="1513332"/>
                <a:gridCol w="15133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Förderung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Ergebnis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−2.936 €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−2.269 €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−1.602 €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−935 €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−268 €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+399 €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48640" y="45720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25 % Förderung läuft das Haus erstmals im Plus.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4,0 % Zins braucht es deutlich mehr: siehe Szenarien. Dazu kommt eine Anlaufphase von 12 Monaten ohne Rate (Aufschub).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Eckgrundstück an der neuen Mitte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Fakt 1"/>
          <p:cNvSpPr/>
          <p:nvPr/>
        </p:nvSpPr>
        <p:spPr>
          <a:xfrm>
            <a:off x="548640" y="137160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ca. 960 m²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Baufeld 3, östlich des Rathauses, südlich der Planstraße</a:t>
            </a:r>
            <a:endParaRPr lang="en-US" sz="1400" dirty="0"/>
          </a:p>
        </p:txBody>
      </p:sp>
      <p:sp>
        <p:nvSpPr>
          <p:cNvPr id="8" name="Fakt 2"/>
          <p:cNvSpPr/>
          <p:nvPr/>
        </p:nvSpPr>
        <p:spPr>
          <a:xfrm>
            <a:off x="548640" y="265176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43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Mischgebiet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Gewerbe im EG erwünscht, Stellplätze auf dem Grundstück</a:t>
            </a:r>
            <a:endParaRPr lang="en-US" sz="1400" dirty="0"/>
          </a:p>
        </p:txBody>
      </p:sp>
      <p:sp>
        <p:nvSpPr>
          <p:cNvPr id="11" name="Fakt 3"/>
          <p:cNvSpPr/>
          <p:nvPr/>
        </p:nvSpPr>
        <p:spPr>
          <a:xfrm>
            <a:off x="548640" y="393192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Baureife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26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liegt vor, Baubeginn jederzeit möglich</a:t>
            </a:r>
            <a:endParaRPr lang="en-US" sz="1400" dirty="0"/>
          </a:p>
        </p:txBody>
      </p:sp>
      <p:sp>
        <p:nvSpPr>
          <p:cNvPr id="14" name="Zeitleiste"/>
          <p:cNvSpPr/>
          <p:nvPr/>
        </p:nvSpPr>
        <p:spPr>
          <a:xfrm>
            <a:off x="6263640" y="1508760"/>
            <a:ext cx="0" cy="40233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5" name="Punkt 1"/>
          <p:cNvSpPr/>
          <p:nvPr/>
        </p:nvSpPr>
        <p:spPr>
          <a:xfrm>
            <a:off x="6126480" y="141732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Stellplatz alte Grundschule</a:t>
            </a:r>
            <a:endParaRPr lang="en-US" sz="1400" dirty="0"/>
          </a:p>
        </p:txBody>
      </p:sp>
      <p:sp>
        <p:nvSpPr>
          <p:cNvPr id="18" name="Punkt 2"/>
          <p:cNvSpPr/>
          <p:nvPr/>
        </p:nvSpPr>
        <p:spPr>
          <a:xfrm>
            <a:off x="6126480" y="228600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März 2027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Planstraße (Erschließung)</a:t>
            </a:r>
            <a:endParaRPr lang="en-US" sz="1400" dirty="0"/>
          </a:p>
        </p:txBody>
      </p:sp>
      <p:sp>
        <p:nvSpPr>
          <p:cNvPr id="21" name="Punkt 3"/>
          <p:cNvSpPr/>
          <p:nvPr/>
        </p:nvSpPr>
        <p:spPr>
          <a:xfrm>
            <a:off x="6126480" y="31546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 2027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Baubeginn</a:t>
            </a:r>
            <a:endParaRPr lang="en-US" sz="1400" dirty="0"/>
          </a:p>
        </p:txBody>
      </p:sp>
      <p:sp>
        <p:nvSpPr>
          <p:cNvPr id="24" name="Punkt 4"/>
          <p:cNvSpPr/>
          <p:nvPr/>
        </p:nvSpPr>
        <p:spPr>
          <a:xfrm>
            <a:off x="6126480" y="402336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Juli 2027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Kreisverkehr Loruper Straße</a:t>
            </a:r>
            <a:endParaRPr lang="en-US" sz="1400" dirty="0"/>
          </a:p>
        </p:txBody>
      </p:sp>
      <p:sp>
        <p:nvSpPr>
          <p:cNvPr id="27" name="Punkt 5"/>
          <p:cNvSpPr/>
          <p:nvPr/>
        </p:nvSpPr>
        <p:spPr>
          <a:xfrm>
            <a:off x="6126480" y="48920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 2028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Marktplatz, Rathaus fertig und unsere Eröffnung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der Bebauungsplan vorgibt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graphicFrame>
        <p:nvGraphicFramePr>
          <p:cNvPr id="5" name="Tabelle B-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  <a:gridCol w="377647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Festsetzung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Wert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Unser Entwurf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Grundflächenzahl (GRZ)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0,6 → max. 576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340 m² Grundfläche (35 %)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Geschosse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zwei (II im Kreis), laut Konzeptheft 2 bis 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EG, 1. OG, Dachgeschoss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Traufhöhe / Höhe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6,50 m / 12,00 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Satteldach, ca. 38° Neigung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Bauweise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offen (o), Sockelhöhe 0,30 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freistehendes Gebäude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Baufenster (geschätzt)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27 × 15–17 m = 400–460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24 × 14 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Stellplätze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auf dem Grundstück, ausreichende Anzahl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10–13, Rest siehe Stellplatzfolie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Klärungsbedarf"/>
          <p:cNvSpPr/>
          <p:nvPr/>
        </p:nvSpPr>
        <p:spPr>
          <a:xfrm>
            <a:off x="548640" y="4937760"/>
            <a:ext cx="11091672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02920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Schriftlich klären: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Zählt das Dachgeschoss als drittes Geschoss? Bleibt es bei TH 6,50 m / H 12 m? Darf auf dem 10 m breiten Streifen zur Marktstraße geparkt werden?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Ebenen unter dem Satteldach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Schnitt EG"/>
          <p:cNvSpPr/>
          <p:nvPr/>
        </p:nvSpPr>
        <p:spPr>
          <a:xfrm>
            <a:off x="2194560" y="4807915"/>
            <a:ext cx="4352544" cy="1088136"/>
          </a:xfrm>
          <a:prstGeom prst="rect">
            <a:avLst/>
          </a:prstGeom>
          <a:solidFill>
            <a:srgbClr val="D9C9A8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chnitt OG"/>
          <p:cNvSpPr/>
          <p:nvPr/>
        </p:nvSpPr>
        <p:spPr>
          <a:xfrm>
            <a:off x="2194560" y="3875227"/>
            <a:ext cx="4352544" cy="932688"/>
          </a:xfrm>
          <a:prstGeom prst="rect">
            <a:avLst/>
          </a:prstGeom>
          <a:solidFill>
            <a:srgbClr val="B5594D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chnitt Dach"/>
          <p:cNvSpPr/>
          <p:nvPr/>
        </p:nvSpPr>
        <p:spPr>
          <a:xfrm>
            <a:off x="2057400" y="2165299"/>
            <a:ext cx="4626864" cy="1709928"/>
          </a:xfrm>
          <a:prstGeom prst="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94560" y="4807915"/>
            <a:ext cx="43525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3875227"/>
            <a:ext cx="43525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194560" y="2934767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Dachgeschoss</a:t>
            </a:r>
            <a:endParaRPr lang="en-US" sz="1400" dirty="0"/>
          </a:p>
        </p:txBody>
      </p:sp>
      <p:sp>
        <p:nvSpPr>
          <p:cNvPr id="11" name="Marke First 12,00 m"/>
          <p:cNvSpPr/>
          <p:nvPr/>
        </p:nvSpPr>
        <p:spPr>
          <a:xfrm>
            <a:off x="1828800" y="2165299"/>
            <a:ext cx="5084064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548640" y="1982419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12,00 m</a:t>
            </a:r>
            <a:endParaRPr lang="en-US" sz="1200" dirty="0"/>
          </a:p>
        </p:txBody>
      </p:sp>
      <p:sp>
        <p:nvSpPr>
          <p:cNvPr id="13" name="Marke Traufe 6,50 m"/>
          <p:cNvSpPr/>
          <p:nvPr/>
        </p:nvSpPr>
        <p:spPr>
          <a:xfrm>
            <a:off x="1828800" y="3875227"/>
            <a:ext cx="5084064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548640" y="3692347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Traufe 6,50 m</a:t>
            </a:r>
            <a:endParaRPr lang="en-US" sz="1200" dirty="0"/>
          </a:p>
        </p:txBody>
      </p:sp>
      <p:graphicFrame>
        <p:nvGraphicFramePr>
          <p:cNvPr id="6" name="Tabelle Fläch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463040"/>
          <a:ext cx="459943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8503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Ebene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Nutzung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BGF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Gastro 260 m², Technik und Treppenhaus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340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 OG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 Wohnungen à ca. 43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340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Dach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 Penthouses à ca. 90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280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Summe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8 Wohnungen, ca. 440 m² Wohnfläche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960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7040880" y="4937760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BGF = Bruttogrundfläche, alle Geschossflächen zusammen. Die Penthouses liegen im Dachgeschoss mit Dachterrasse.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Skizzen der Geschosse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Erdgeschoss</a:t>
            </a:r>
            <a:endParaRPr lang="en-US" sz="1800" dirty="0"/>
          </a:p>
        </p:txBody>
      </p:sp>
      <p:sp>
        <p:nvSpPr>
          <p:cNvPr id="6" name="Baukörper Erdgeschoss"/>
          <p:cNvSpPr/>
          <p:nvPr/>
        </p:nvSpPr>
        <p:spPr>
          <a:xfrm>
            <a:off x="548640" y="2011680"/>
            <a:ext cx="3621024" cy="232531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7" name="Raum Gastro 260 m²"/>
          <p:cNvSpPr/>
          <p:nvPr/>
        </p:nvSpPr>
        <p:spPr>
          <a:xfrm>
            <a:off x="548640" y="2103120"/>
            <a:ext cx="2761031" cy="2142439"/>
          </a:xfrm>
          <a:prstGeom prst="rect">
            <a:avLst/>
          </a:prstGeom>
          <a:solidFill>
            <a:srgbClr val="C49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2761031" cy="214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 260 m²</a:t>
            </a:r>
            <a:endParaRPr lang="en-US" sz="1100" dirty="0"/>
          </a:p>
        </p:txBody>
      </p:sp>
      <p:sp>
        <p:nvSpPr>
          <p:cNvPr id="9" name="Raum Treppe, Technik"/>
          <p:cNvSpPr/>
          <p:nvPr/>
        </p:nvSpPr>
        <p:spPr>
          <a:xfrm>
            <a:off x="3309671" y="2103120"/>
            <a:ext cx="859993" cy="2142439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09671" y="2103120"/>
            <a:ext cx="859993" cy="214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Treppe, Technik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283964" y="137160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Obergeschoss</a:t>
            </a:r>
            <a:endParaRPr lang="en-US" sz="1800" dirty="0"/>
          </a:p>
        </p:txBody>
      </p:sp>
      <p:sp>
        <p:nvSpPr>
          <p:cNvPr id="12" name="Baukörper 1. Obergeschoss"/>
          <p:cNvSpPr/>
          <p:nvPr/>
        </p:nvSpPr>
        <p:spPr>
          <a:xfrm>
            <a:off x="4283964" y="2011680"/>
            <a:ext cx="3621024" cy="232531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13" name="Raum WE 1 · 43 m²"/>
          <p:cNvSpPr/>
          <p:nvPr/>
        </p:nvSpPr>
        <p:spPr>
          <a:xfrm>
            <a:off x="4283964" y="2103120"/>
            <a:ext cx="1207008" cy="814730"/>
          </a:xfrm>
          <a:prstGeom prst="rect">
            <a:avLst/>
          </a:prstGeom>
          <a:solidFill>
            <a:srgbClr val="B559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83964" y="2103120"/>
            <a:ext cx="1207008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1 · 43 m²</a:t>
            </a:r>
            <a:endParaRPr lang="en-US" sz="1100" dirty="0"/>
          </a:p>
        </p:txBody>
      </p:sp>
      <p:sp>
        <p:nvSpPr>
          <p:cNvPr id="15" name="Raum WE 2 · 43 m²"/>
          <p:cNvSpPr/>
          <p:nvPr/>
        </p:nvSpPr>
        <p:spPr>
          <a:xfrm>
            <a:off x="5490972" y="2103120"/>
            <a:ext cx="1207008" cy="814730"/>
          </a:xfrm>
          <a:prstGeom prst="rect">
            <a:avLst/>
          </a:prstGeom>
          <a:solidFill>
            <a:srgbClr val="B559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90972" y="2103120"/>
            <a:ext cx="1207008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2 · 43 m²</a:t>
            </a:r>
            <a:endParaRPr lang="en-US" sz="1100" dirty="0"/>
          </a:p>
        </p:txBody>
      </p:sp>
      <p:sp>
        <p:nvSpPr>
          <p:cNvPr id="17" name="Raum WE 3 · 43 m²"/>
          <p:cNvSpPr/>
          <p:nvPr/>
        </p:nvSpPr>
        <p:spPr>
          <a:xfrm>
            <a:off x="6697980" y="2103120"/>
            <a:ext cx="1207008" cy="814730"/>
          </a:xfrm>
          <a:prstGeom prst="rect">
            <a:avLst/>
          </a:prstGeom>
          <a:solidFill>
            <a:srgbClr val="B559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97980" y="2103120"/>
            <a:ext cx="1207008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3 · 43 m²</a:t>
            </a:r>
            <a:endParaRPr lang="en-US" sz="1100" dirty="0"/>
          </a:p>
        </p:txBody>
      </p:sp>
      <p:sp>
        <p:nvSpPr>
          <p:cNvPr id="19" name="Raum Flur, Treppe, Aufzug"/>
          <p:cNvSpPr/>
          <p:nvPr/>
        </p:nvSpPr>
        <p:spPr>
          <a:xfrm>
            <a:off x="4283964" y="2917850"/>
            <a:ext cx="3621024" cy="512978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83964" y="2917850"/>
            <a:ext cx="3621024" cy="51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Flur, Treppe, Aufzug</a:t>
            </a:r>
            <a:endParaRPr lang="en-US" sz="1100" dirty="0"/>
          </a:p>
        </p:txBody>
      </p:sp>
      <p:sp>
        <p:nvSpPr>
          <p:cNvPr id="21" name="Raum WE 4 · 43 m²"/>
          <p:cNvSpPr/>
          <p:nvPr/>
        </p:nvSpPr>
        <p:spPr>
          <a:xfrm>
            <a:off x="4283964" y="3430829"/>
            <a:ext cx="1207008" cy="814730"/>
          </a:xfrm>
          <a:prstGeom prst="rect">
            <a:avLst/>
          </a:prstGeom>
          <a:solidFill>
            <a:srgbClr val="B559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283964" y="3430829"/>
            <a:ext cx="1207008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4 · 43 m²</a:t>
            </a:r>
            <a:endParaRPr lang="en-US" sz="1100" dirty="0"/>
          </a:p>
        </p:txBody>
      </p:sp>
      <p:sp>
        <p:nvSpPr>
          <p:cNvPr id="23" name="Raum WE 5 · 43 m²"/>
          <p:cNvSpPr/>
          <p:nvPr/>
        </p:nvSpPr>
        <p:spPr>
          <a:xfrm>
            <a:off x="5490972" y="3430829"/>
            <a:ext cx="1207008" cy="814730"/>
          </a:xfrm>
          <a:prstGeom prst="rect">
            <a:avLst/>
          </a:prstGeom>
          <a:solidFill>
            <a:srgbClr val="B559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90972" y="3430829"/>
            <a:ext cx="1207008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5 · 43 m²</a:t>
            </a:r>
            <a:endParaRPr lang="en-US" sz="1100" dirty="0"/>
          </a:p>
        </p:txBody>
      </p:sp>
      <p:sp>
        <p:nvSpPr>
          <p:cNvPr id="25" name="Raum WE 6 · 43 m²"/>
          <p:cNvSpPr/>
          <p:nvPr/>
        </p:nvSpPr>
        <p:spPr>
          <a:xfrm>
            <a:off x="6697980" y="3430829"/>
            <a:ext cx="1207008" cy="814730"/>
          </a:xfrm>
          <a:prstGeom prst="rect">
            <a:avLst/>
          </a:prstGeom>
          <a:solidFill>
            <a:srgbClr val="B5594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97980" y="3430829"/>
            <a:ext cx="1207008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6 · 43 m²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019288" y="137160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Dachgeschoss</a:t>
            </a:r>
            <a:endParaRPr lang="en-US" sz="1800" dirty="0"/>
          </a:p>
        </p:txBody>
      </p:sp>
      <p:sp>
        <p:nvSpPr>
          <p:cNvPr id="28" name="Baukörper Dachgeschoss"/>
          <p:cNvSpPr/>
          <p:nvPr/>
        </p:nvSpPr>
        <p:spPr>
          <a:xfrm>
            <a:off x="8019288" y="2011680"/>
            <a:ext cx="3621024" cy="232531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29" name="Raum Penthouse 1 · 90 m²"/>
          <p:cNvSpPr/>
          <p:nvPr/>
        </p:nvSpPr>
        <p:spPr>
          <a:xfrm>
            <a:off x="8321040" y="2103120"/>
            <a:ext cx="1508760" cy="1357884"/>
          </a:xfrm>
          <a:prstGeom prst="rect">
            <a:avLst/>
          </a:prstGeom>
          <a:solidFill>
            <a:srgbClr val="8C3B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21040" y="2103120"/>
            <a:ext cx="150876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Penthouse 1 · 90 m²</a:t>
            </a:r>
            <a:endParaRPr lang="en-US" sz="1100" dirty="0"/>
          </a:p>
        </p:txBody>
      </p:sp>
      <p:sp>
        <p:nvSpPr>
          <p:cNvPr id="31" name="Raum Penthouse 2 · 90 m²"/>
          <p:cNvSpPr/>
          <p:nvPr/>
        </p:nvSpPr>
        <p:spPr>
          <a:xfrm>
            <a:off x="9829800" y="2103120"/>
            <a:ext cx="1508760" cy="1357884"/>
          </a:xfrm>
          <a:prstGeom prst="rect">
            <a:avLst/>
          </a:prstGeom>
          <a:solidFill>
            <a:srgbClr val="8C3B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829800" y="2103120"/>
            <a:ext cx="1508760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Penthouse 2 · 90 m²</a:t>
            </a:r>
            <a:endParaRPr lang="en-US" sz="1100" dirty="0"/>
          </a:p>
        </p:txBody>
      </p:sp>
      <p:sp>
        <p:nvSpPr>
          <p:cNvPr id="33" name="Raum Dachterrassen, Treppe"/>
          <p:cNvSpPr/>
          <p:nvPr/>
        </p:nvSpPr>
        <p:spPr>
          <a:xfrm>
            <a:off x="8321040" y="3461004"/>
            <a:ext cx="3017520" cy="784555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21040" y="3461004"/>
            <a:ext cx="3017520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Dachterrassen, Treppe</a:t>
            </a:r>
            <a:endParaRPr lang="en-US" sz="1100" dirty="0"/>
          </a:p>
        </p:txBody>
      </p:sp>
      <p:sp>
        <p:nvSpPr>
          <p:cNvPr id="35" name="Hinweis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7240" y="49834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Grundfläche 24 × 14,2 m = 340 m², das passt in das geschätzte Baufenster von ca. 27 × 15–17 m. Das Dachgeschoss ist wegen der Schräge kleiner (ca. 280 m² BGF).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Rotes Klinker, Glas im Erdgeschoss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Referenzstudie Außenansicht mit Klinkerfassade, Balkonen und Glasfront im Erdgeschos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6949440" cy="38770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303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Referenzstudie, im Entwurf mit Satteldach statt Flachdach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86384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Klinker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rot, passend zum Umfeld und zum Rathaus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86384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Satteldach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863840" y="2788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38°, Traufe 6,50 m, First 12 m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86384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Balkone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863840" y="3794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Loggien in den Obergeschossen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4389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Glasfront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863840" y="4800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 mit Terrasse und Stahlstützen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und Restaurant mit Charakter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Referenz Innenraum: Samt-Banquetten, dunkelgrüne Wände, Stahl-Glas-Trennw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852160" cy="392277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349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 für Stimmung und Materialien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Materialien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766560" y="1783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dunkelgrüne Wände, Holz, Samt, schwarze Stahl-Glas-Elemente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76656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Licht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766560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 Pendelleuchten und Lichtvouten, Kerzenlicht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76656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Plätze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766560" y="3794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95 Plätze innen plus Terrasse auf 260 m²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76656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Konzept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0" y="4800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am Tag und Bar am Abend, mit Blick auf den Platz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Stellplätze sind der Knackpunkt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graphicFrame>
        <p:nvGraphicFramePr>
          <p:cNvPr id="5" name="Diagramm Stellplätze" descr=""/>
          <p:cNvGraphicFramePr/>
          <p:nvPr/>
        </p:nvGraphicFramePr>
        <p:xfrm>
          <a:off x="548640" y="137160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Vorschlag für die Stadt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87452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Bedarf ca. 24 Stellplätze, auf dem Grundstück passen ca. 10–13.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Restplätze auf der öffentlichen Parkfläche nebenan (im Plan eingezeichnet) per Vereinbarung nutzen.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 Ablöse statt Bau, die Höhe muss die Stadt nennen.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Klären, ob der 10 m breite Grünstreifen teils befestigt werden darf.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Gesamtkosten ohne Förderung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1" name="Tabelle 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9456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Posten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Rechnung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Betrag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Grundstück inkl. Steuer, Notar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960 m² × 230 € + ca. 7 %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236.256 €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Bau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960 m² × 2.700 €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2.592.000 €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Baunebenkosten (Architekt, Statik, Gebühren)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15 % vom Bau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388.800 €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Gastro-Ausbau (Küche, Theke, Möbel, Technik)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inkl. 70 m² Zusatzfläche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287.250 €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Gesamtkosten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3.504.306 €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Diagramm Kosten" descr=""/>
          <p:cNvGraphicFramePr/>
          <p:nvPr/>
        </p:nvGraphicFramePr>
        <p:xfrm>
          <a:off x="7772400" y="1280160"/>
          <a:ext cx="3931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120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sind ca. 3.650 € pro m² BGF.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Finanzierung zu 100 % ohne Eigenkapital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2" name="Tabelle Finanzier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5895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Plan (3,3 %)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Ausgang (4,0 %)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Gesamtkosten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3.504.306 €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3.504.306 €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Zinsen in der Bauzeit (15 Monate)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73.963 €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89.899 €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Bereitstellungszinsen (3 % p. a. ab Monat 7)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24.510 €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24.510 €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Zinsen im Aufschub-Jahr (keine Rate)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120.707 €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147.432 €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Kredit bei Start der Rate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3.723.486 €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3.766.148 €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Rate pro Monat (1 % Tilgung)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13.342 €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15.692 €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   davon Zinsen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10.240 €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12.554 €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   davon Tilgung (Rückzahlung der Schuld)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3.103 €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3.138 €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e"/>
          <p:cNvSpPr/>
          <p:nvPr/>
        </p:nvSpPr>
        <p:spPr>
          <a:xfrm>
            <a:off x="8503920" y="1371600"/>
            <a:ext cx="3136392" cy="4114800"/>
          </a:xfrm>
          <a:prstGeom prst="roundRect">
            <a:avLst>
              <a:gd name="adj" fmla="val 23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732520" y="1554480"/>
            <a:ext cx="26791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Annahmen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Baubeginn Mitte 2027, 15 Monate Bauzeit, gleichmäßiger Abruf.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3,3 % Mischzins aus Förderkrediten (Annahme).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Ausgang: 4,0 % bei 10 Jahren Zinsbindung (Stand 17.09.2026).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pro Monat übrig bleibt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3" name="Tabelle Cashflo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73736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 Monat, Plan, ohne Förderung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Betrag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 Wohnungen: 260 m² × 11 €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+2.860 €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 Penthouses: 180 m² × 12 €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+2.160 €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Gastro-Pacht: 260 m² × 12 €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+3.120 €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Gastro-Gewinn nach Pacht (40.000 € Umsatz)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+9.080 €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Rate (Zinsen und Tilgung)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−13.342 €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Dein Lohn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−6.000 €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Rücklagen (10 % der Miete und Pacht)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−814 €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Ergebnis pro Monat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−2.936 €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Diagramm Cashflow" descr=""/>
          <p:cNvGraphicFramePr/>
          <p:nvPr/>
        </p:nvGraphicFramePr>
        <p:xfrm>
          <a:off x="7406640" y="1280160"/>
          <a:ext cx="4297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Lohn im Diagramm inkl. Rücklagen. Die ca. 3.100 € Tilgung in der Rate sind Vermögensaufbau (Schuld sinkt), kein Verlust.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Förderung entscheidet über das Ergebnis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graphicFrame>
        <p:nvGraphicFramePr>
          <p:cNvPr id="14" name="Tabelle Szenari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1920240"/>
                <a:gridCol w="2103120"/>
                <a:gridCol w="192024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Förderung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Gesamtkosten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Rate (3,3 %)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Ergebnis (3,3 %)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Rate (4,0 %)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Ergebnis (4,0 %)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3.504.306 €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13.342 €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−2.936 €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15.692 €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−5.286 €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3.329.091 €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12.675 €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−2.269 €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14.908 €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−4.502 €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3.153.875 €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12.008 €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−1.602 €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14.123 €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−3.717 €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2.978.660 €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11.341 €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−935 €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13.338 €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−2.932 €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20 %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2.803.445 €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10.674 €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−268 €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12.554 €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−2.148 €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25 %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2.628.230 €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10.007 €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+399 €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11.769 €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−1.363 €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Diagramm Förderung" descr=""/>
          <p:cNvGraphicFramePr/>
          <p:nvPr/>
        </p:nvGraphicFramePr>
        <p:xfrm>
          <a:off x="548640" y="4343400"/>
          <a:ext cx="6858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7680960" y="4572000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5 Prozentpunkte Förderung steigt das Ergebnis um ca. 667 € im Monat. Gastro-Umsatz 40.000 €, nach Lohn und Rücklagen.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viel Umsatz braucht die Gastro?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5" name="Tabelle Umsat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9966"/>
                <a:gridCol w="1559966"/>
                <a:gridCol w="1559966"/>
                <a:gridCol w="1559966"/>
                <a:gridCol w="155996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Ergebnis pro Monat (Plan 3,3 %)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36.000 €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40.000 €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44.000 €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48.000 €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52.000 €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Förderung 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−4.156 €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−2.936 €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−1.716 €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−496 €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+724 €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Förderung 10 %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−2.822 €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−1.602 €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−382 €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+838 €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+2.058 €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Förderung 15 %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−2.155 €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−935 €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+285 €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+1.505 €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+2.725 €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Förderung 20 %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−1.488 €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−268 €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+952 €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+2.172 €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+3.392 €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Break-even-Umsatz (Ergebnis nach Lohn = 0)</a:t>
            </a:r>
            <a:endParaRPr lang="en-US" sz="1800" dirty="0"/>
          </a:p>
        </p:txBody>
      </p:sp>
      <p:graphicFrame>
        <p:nvGraphicFramePr>
          <p:cNvPr id="29" name="Tabelle Break-ev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49958"/>
                <a:gridCol w="1949958"/>
                <a:gridCol w="1949958"/>
                <a:gridCol w="194995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Förderung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Plan, 3,3 %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49.628 €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45.253 €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43.066 €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40.879 €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Ausgang, 4,0 %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57.332 €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52.187 €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49.615 €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47.042 €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Vergleich: mit und ohne Büro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6" name="Tabelle Vergleic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Mit Büro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Ohne Büro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Gastrofläche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190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260 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Gesamtkosten (ohne Förderung)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3.474.306 €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3.504.306 €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Miete + Pacht pro Monat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8.140 €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Rate Plan, ohne Förderung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13.228 €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13.342 €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Ergebnis bei 0 % Förderung (40.000 €)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−2.108 €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−2.936 €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Ergebnis bei 10 % Förderung (40.000 €)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−786 €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−1.602 €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Ergebnis bei 15 % Förderung (40.000 €)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−124 €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−935 €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Ergebnis bei 20 % Förderung (40.000 €)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+537 €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−268 €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</a:tbl>
          </a:graphicData>
        </a:graphic>
      </p:graphicFrame>
      <p:sp>
        <p:nvSpPr>
          <p:cNvPr id="6" name="Fazit Vergleich"/>
          <p:cNvSpPr/>
          <p:nvPr/>
        </p:nvSpPr>
        <p:spPr>
          <a:xfrm>
            <a:off x="8412480" y="1371600"/>
            <a:ext cx="3227832" cy="4114800"/>
          </a:xfrm>
          <a:prstGeom prst="roundRect">
            <a:avLst>
              <a:gd name="adj" fmla="val 22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41080" y="1554480"/>
            <a:ext cx="27706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Gleichstand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Büro ist die Variante erst ab ca. 42.700 € Umsatz (+7 %) so gut wie mit Büro.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Büro hängt das ganze Erdgeschoss an der Gastro, eine feste Büro-Miete ist für die Bank sicherer.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ich von der Stadt brauche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Forderung 1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Städtebauförderung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 Förderung bringen ca. +1.334 € im Monat</a:t>
            </a:r>
            <a:endParaRPr lang="en-US" sz="1400" dirty="0"/>
          </a:p>
        </p:txBody>
      </p:sp>
      <p:sp>
        <p:nvSpPr>
          <p:cNvPr id="8" name="Forderung 2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5956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Grundstückspreis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05956" y="196596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30 € weniger pro m² bringen ca. +119 € im Monat</a:t>
            </a:r>
            <a:endParaRPr lang="en-US" sz="1400" dirty="0"/>
          </a:p>
        </p:txBody>
      </p:sp>
      <p:sp>
        <p:nvSpPr>
          <p:cNvPr id="11" name="Forderung 3"/>
          <p:cNvSpPr/>
          <p:nvPr/>
        </p:nvSpPr>
        <p:spPr>
          <a:xfrm>
            <a:off x="548640" y="288036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1752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Pacht oder Mietzuschuss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47472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1.000 € Zuschuss im Monat sind 1.000 € mehr im Monat</a:t>
            </a:r>
            <a:endParaRPr lang="en-US" sz="1400" dirty="0"/>
          </a:p>
        </p:txBody>
      </p:sp>
      <p:sp>
        <p:nvSpPr>
          <p:cNvPr id="14" name="Forderung 4"/>
          <p:cNvSpPr/>
          <p:nvPr/>
        </p:nvSpPr>
        <p:spPr>
          <a:xfrm>
            <a:off x="6277356" y="288036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5956" y="301752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Stellplätze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505956" y="347472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Mitnutzung der öffentlichen Parkfläche oder faire Ablöse</a:t>
            </a:r>
            <a:endParaRPr lang="en-US" sz="1400" dirty="0"/>
          </a:p>
        </p:txBody>
      </p:sp>
      <p:sp>
        <p:nvSpPr>
          <p:cNvPr id="17" name="Forderung 5"/>
          <p:cNvSpPr/>
          <p:nvPr/>
        </p:nvSpPr>
        <p:spPr>
          <a:xfrm>
            <a:off x="548640" y="438912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5262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Fristen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98348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Erschließung (Planstraße ab März 2027) und Baubeginn Mitte 2027 abstimmen</a:t>
            </a:r>
            <a:endParaRPr lang="en-US" sz="1400" dirty="0"/>
          </a:p>
        </p:txBody>
      </p:sp>
      <p:sp>
        <p:nvSpPr>
          <p:cNvPr id="20" name="Forderung 6"/>
          <p:cNvSpPr/>
          <p:nvPr/>
        </p:nvSpPr>
        <p:spPr>
          <a:xfrm>
            <a:off x="6277356" y="438912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05956" y="45262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Zinsvorteil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6505956" y="498348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0,5 % weniger Zins bringen ca. +1.647 € im Monat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Nächste Schritte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Schritt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89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 2026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1389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Gespräch mit der Stadt: Preis, Förderung, Stellplätze</a:t>
            </a:r>
            <a:endParaRPr lang="en-US" sz="1600" dirty="0"/>
          </a:p>
        </p:txBody>
      </p:sp>
      <p:sp>
        <p:nvSpPr>
          <p:cNvPr id="9" name="Schritt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167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2167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Architekt, Baufenster, Höhen und Geschosse schriftlich klären</a:t>
            </a:r>
            <a:endParaRPr lang="en-US" sz="1600" dirty="0"/>
          </a:p>
        </p:txBody>
      </p:sp>
      <p:sp>
        <p:nvSpPr>
          <p:cNvPr id="13" name="Schritt 3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2026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2944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Bank: Finanzierung, Aufschub, Förderkredite anfragen</a:t>
            </a:r>
            <a:endParaRPr lang="en-US" sz="1600" dirty="0"/>
          </a:p>
        </p:txBody>
      </p:sp>
      <p:sp>
        <p:nvSpPr>
          <p:cNvPr id="17" name="Schritt 4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721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3721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Städtebaulicher Vertrag, Bauantrag</a:t>
            </a:r>
            <a:endParaRPr lang="en-US" sz="1600" dirty="0"/>
          </a:p>
        </p:txBody>
      </p:sp>
      <p:sp>
        <p:nvSpPr>
          <p:cNvPr id="21" name="Schritt 5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4498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 2027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3200400" y="4498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Baubeginn, 15 Monate Bauzeit</a:t>
            </a:r>
            <a:endParaRPr lang="en-US" sz="1600" dirty="0"/>
          </a:p>
        </p:txBody>
      </p:sp>
      <p:sp>
        <p:nvSpPr>
          <p:cNvPr id="25" name="Schritt 6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5276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 2028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200400" y="52760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Eröffnung zusammen mit der neuen Mitte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Anhang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49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Annahmen, Gastro-Kosten, Gastro-Ausbau, Mietdaten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Rechenannahmen und offene Punkte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Grundstück 960 m² × 230 € plus ca. 7 % (5 % Grunderwerbsteuer, ca. 2 % Notar)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960 m² BGF × 2.700 €, Baunebenkosten 15 %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Fremdfinanzierung, 1 % Tilgung, Aufschub 12 Monate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Bauzeit 15 Monate, Bereitstellungszins 3 % p. a. ab Monat 7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Zins Plan 3,3 % (Förderkredite, Annahme), Ausgang 4,0 %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323076" y="137160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Gastro-Umsatz 40.000 € netto, Marge vor Pacht 30,5 %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Lohn Bessam 6.000 €, Rücklagen 10 % der Miete und Pacht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Förderung als Zuschuss in % der Gesamtkosten (Annahme)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enthalten: Hausverwaltung, Versicherung, Grundsteuer (ca. 300–500 €/Monat)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Offen: Baufenster, Geschosse, Höhen, Stellplatzsatzung, Zins nach 10 Jahren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Gastro: Kosten pro Monat bei 40.000 € Umsatz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21" name="Tabelle Gastro-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2286000"/>
                <a:gridCol w="2404872"/>
              </a:tblGrid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Posten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Richtwert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Betrag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Wareneinsatz (Einkauf Essen und Getränke)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28 %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11.200 €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Personal (ohne Chef-Lohn)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30 %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Pacht ans Haus (260 m² × 12 €)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3.120 €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Energie, Wasser, Müll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3 %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1.200 €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Reinigung, Wäsche, Verbrauchsmaterial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2 %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Werbung und 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1,5 %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Reparaturen, Wartung, Kassensystem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1,5 %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Sonstiges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1,5 %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Versicherungen, GEMA, Gebühren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1 %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Steuerberater, Buchhaltung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ca. 1 %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Summe Kosten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30.920 €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Gewinn nach Pacht, vor Lohn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9.080 €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Gastro-Ausbau nach Posten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22" name="Tabelle Gastro-Ausb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6809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55448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Posten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Normal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Sparsam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Küche (Herd, Kühlräume, Edelstahl, Spülküche)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55.000 €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Lüftung und Abluft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Theke und Bar (Zapfanlage, Kühlung)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28.000 €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Möbel (ca. 65 Plätze, Banquetten)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22.000 €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Beleuchtung und Deko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Wand, Boden, Decke, Akustik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18.000 €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Gäste-WC Ausstattung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Kasse, Technik, Musik, WLAN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Terrasse (Holzdeck, Möbel, Heizstrahler)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Planung und Genehmigung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Geschirr, Gläser, Besteck, Textilien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Eröffnung, Marketing, Warenerstbestückung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5.000 €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Puffer 5 %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12.250 €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8.950 €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Summe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257.250 €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187.950 €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 Ausbau"/>
          <p:cNvSpPr/>
          <p:nvPr/>
        </p:nvSpPr>
        <p:spPr>
          <a:xfrm>
            <a:off x="8595360" y="1234440"/>
            <a:ext cx="304495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823960" y="1417320"/>
            <a:ext cx="25877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Modell steht „Normal“ plus 30.000 € für die zusätzlichen 70 m² (Möbel, Boden, Deko, Geschirr), zusammen 287.250 €.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Mietdaten für Werlte</a:t>
            </a:r>
            <a:endParaRPr lang="en-US" sz="32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23" name="Tabelle Mie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Quelle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Wert für Werlte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ImmoScout24 (Wohnungen, Durchschnitt)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7,78 €/m²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miete-aktuell.de (Kaltmiete 2026)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8,13 €/m²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mietpreise.info (14 Inserate, Spanne 6,09–14,48 €)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9,58 €/m²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mietpreise.info (Neubau)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10,73–11,02 €/m²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Landkreis Emsland (ImmoScout24, Q2 2026)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8,10 €/m²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Annahme Miete"/>
          <p:cNvSpPr/>
          <p:nvPr/>
        </p:nvSpPr>
        <p:spPr>
          <a:xfrm>
            <a:off x="8778240" y="1371600"/>
            <a:ext cx="2862072" cy="3017520"/>
          </a:xfrm>
          <a:prstGeom prst="roundRect">
            <a:avLst>
              <a:gd name="adj" fmla="val 2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006840" y="1554480"/>
            <a:ext cx="24048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Modell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Wohnungen 11 €, Penthouses 12 €, Büro 10 €, Gastro-Pacht 12 €/m². Büro und Gastro sind ohne Marktdaten angesetzt.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mietpreise.info/mietspiegel/werlte, miete-aktuell.de, immobilienscout24.de (Kreis Emsland), Abruf Oktober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e Mitte Werlte">
  <a:themeElements>
    <a:clrScheme name="Neue Mitte Werlte">
      <a:dk1>
        <a:srgbClr val="1F2421"/>
      </a:dk1>
      <a:lt1>
        <a:srgbClr val="FFFFFF"/>
      </a:lt1>
      <a:dk2>
        <a:srgbClr val="2F4A3E"/>
      </a:dk2>
      <a:lt2>
        <a:srgbClr val="F1F0EE"/>
      </a:lt2>
      <a:accent1>
        <a:srgbClr val="8C3B32"/>
      </a:accent1>
      <a:accent2>
        <a:srgbClr val="2F4A3E"/>
      </a:accent2>
      <a:accent3>
        <a:srgbClr val="C49A45"/>
      </a:accent3>
      <a:accent4>
        <a:srgbClr val="5B6770"/>
      </a:accent4>
      <a:accent5>
        <a:srgbClr val="2E7D5B"/>
      </a:accent5>
      <a:accent6>
        <a:srgbClr val="B3261E"/>
      </a:accent6>
      <a:hlink>
        <a:srgbClr val="8C3B32"/>
      </a:hlink>
      <a:folHlink>
        <a:srgbClr val="5B6770"/>
      </a:folHlink>
    </a:clrScheme>
    <a:fontScheme name="Neue Mitte Werl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 Mitte Werlte – Baufeld 3 (ohne Büro)</dc:title>
  <dc:subject>PptxGenJS Presentation</dc:subject>
  <dc:creator>Bessam Hasso</dc:creator>
  <cp:lastModifiedBy>Bessam Hasso</cp:lastModifiedBy>
  <cp:revision>1</cp:revision>
  <dcterms:created xsi:type="dcterms:W3CDTF">2026-10-13T12:22:42Z</dcterms:created>
  <dcterms:modified xsi:type="dcterms:W3CDTF">2026-10-13T12:22:42Z</dcterms:modified>
</cp:coreProperties>
</file>