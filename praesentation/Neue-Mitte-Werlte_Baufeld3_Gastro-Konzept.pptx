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Zahlen zu Plätzen, Preisen und Gästen sind Planungsannahmen, noch kein Betreiberkonzept.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Zielgruppen sind Annahmen, es gibt keine Marktstudie für Werlte. Eine Betreiber- und Wettbewerbsanalyse steht noch aus.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Vorschlag für Öffnungszeiten, Ruhetag Montag. Hauptfokus ist der Abend an der Bar. Snacks bis kurz vor Schluss.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Gerichte und Preise sind Beispiele für die Kalkulation, kein fertiges Konzept. Küche: regional und modern, kurze Karte, frische Zutaten.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Konzeptideen und Zahlen sind Annahmen, keine Betreiberplanung. Der Abend bringt den größten Teil des Umsatzes.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Schematische Skizze, nicht maßstäblich genau. Aufteilung wird mit Gastro-Fachplaner und Architekt verfeinert. Süden liegt unten.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Stimmung nach dem Referenzbild des Bauherrn: olivgrüne Wände mit Vertäfelung, Cognac-Samt, schwarzer Stahl und warmes Licht.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KI-Visualisierungen zur Orientierung, keine Planung.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Terrasse mit Vordach zum Marktplatz. Nutzungszeiten und Lärmschutz mit der Stadt abstimmen.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Plausibilitätsrechnung mit Annahmen für Gäste und Bon. Ca. 4.100 € Umsatz je Sitzplatz und Jahr bei 190 Plätzen, Branchen-Median Österreich ca. 12.000 €.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 ca. 30 % vom Umsatz (Branchen-Richtwert). Der Lohn des Bauherrn ist nicht gerechnet. Beträge sind Arbeitgeber-Brutto, Annahmen.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Marge vor Pacht 30,5 % vom Umsatz (Branchen-Richtwert, nicht aus Werlte). Bei sehr niedrigem Umsatz drücken die Fixkosten stärker, die Rechnung ist dort zu günstig.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Hochgerechnet vom Budget des Bauherrn (150.000 € für 150 Plätze): 1.000 € je Platz bei 190 Plätzen. Angebote von Küchen- und Lüftungsbauern müssen es bestätigen.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Hinweise sind keine Rechtsberatung. Bitte mit Bauamt und Ordnungsamt klären.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Zeitplan passend zum Baubeginn Mitte 2027 und zur Eröffnung Ende 2028.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F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411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astraum mit Vertäfelung, Cognac-Banketten und B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MITTE WERLTE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 im Erdgeschoss: Gestaltung und Konzept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Frühstück, Bowls und Bar für den ganzen Tag, ca. 510 m² im ganzen EG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029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Bessam Hasso, Werlte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Baufeld 3, Bebauungsplan Nr. 123, 1. Änderung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Oktober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Idee: ein Ort für den ganzen Tag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Morgens und mittags"/>
          <p:cNvSpPr/>
          <p:nvPr/>
        </p:nvSpPr>
        <p:spPr>
          <a:xfrm>
            <a:off x="548640" y="137160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08760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Morgens und mittags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57400"/>
            <a:ext cx="3057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Frühstück, Brunch am Wochenende und Bowls, Salate und Suppe zum Mittag. Frisch, schnell, fair im Preis für Beschäftigte aus Rathaus und Umgebung.</a:t>
            </a:r>
            <a:endParaRPr lang="en-US" sz="1400" dirty="0"/>
          </a:p>
        </p:txBody>
      </p:sp>
      <p:sp>
        <p:nvSpPr>
          <p:cNvPr id="8" name="Abends: Bar mit Snacks"/>
          <p:cNvSpPr/>
          <p:nvPr/>
        </p:nvSpPr>
        <p:spPr>
          <a:xfrm>
            <a:off x="4337304" y="137160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5904" y="1508760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Abends: Bar mit Snacks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65904" y="2057400"/>
            <a:ext cx="3057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mit Snacks in warmer, dunkler Atmosphäre mit Cognac-Banketten und Kerzenlicht, keine große Restaurantküche. Der Abend bringt ca. 61 % vom Umsatz.</a:t>
            </a:r>
            <a:endParaRPr lang="en-US" sz="1400" dirty="0"/>
          </a:p>
        </p:txBody>
      </p:sp>
      <p:sp>
        <p:nvSpPr>
          <p:cNvPr id="11" name="Cocktails und Events"/>
          <p:cNvSpPr/>
          <p:nvPr/>
        </p:nvSpPr>
        <p:spPr>
          <a:xfrm>
            <a:off x="8125968" y="137160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54568" y="1508760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Cocktails und Events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354568" y="2057400"/>
            <a:ext cx="3057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Cocktails, Wein und Bier an der großen Theke, Fr und Sa bis 01 Uhr. Live-Musik, Séparée mit 30 Plätzen für Feiern.</a:t>
            </a:r>
            <a:endParaRPr lang="en-US" sz="1400" dirty="0"/>
          </a:p>
        </p:txBody>
      </p:sp>
      <p:sp>
        <p:nvSpPr>
          <p:cNvPr id="14" name="Kennzahl Gastro im ganzen EG"/>
          <p:cNvSpPr/>
          <p:nvPr/>
        </p:nvSpPr>
        <p:spPr>
          <a:xfrm>
            <a:off x="548640" y="3840480"/>
            <a:ext cx="256717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393192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510 m²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572000"/>
            <a:ext cx="220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 im ganzen EG</a:t>
            </a:r>
            <a:endParaRPr lang="en-US" sz="1300" dirty="0"/>
          </a:p>
        </p:txBody>
      </p:sp>
      <p:sp>
        <p:nvSpPr>
          <p:cNvPr id="17" name="Kennzahl Plätze innen (160 Gastraum, 30 Séparée)"/>
          <p:cNvSpPr/>
          <p:nvPr/>
        </p:nvSpPr>
        <p:spPr>
          <a:xfrm>
            <a:off x="3390138" y="3840480"/>
            <a:ext cx="256717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73018" y="393192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190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3573018" y="4572000"/>
            <a:ext cx="220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Plätze innen (160 Gastraum, 30 Séparée)</a:t>
            </a:r>
            <a:endParaRPr lang="en-US" sz="1300" dirty="0"/>
          </a:p>
        </p:txBody>
      </p:sp>
      <p:sp>
        <p:nvSpPr>
          <p:cNvPr id="20" name="Kennzahl Plätze auf der Terrasse"/>
          <p:cNvSpPr/>
          <p:nvPr/>
        </p:nvSpPr>
        <p:spPr>
          <a:xfrm>
            <a:off x="6231636" y="3840480"/>
            <a:ext cx="256717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393192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60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6414516" y="4572000"/>
            <a:ext cx="220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Plätze auf der Terrasse</a:t>
            </a:r>
            <a:endParaRPr lang="en-US" sz="1300" dirty="0"/>
          </a:p>
        </p:txBody>
      </p:sp>
      <p:sp>
        <p:nvSpPr>
          <p:cNvPr id="23" name="Kennzahl Barhocker an der Theke"/>
          <p:cNvSpPr/>
          <p:nvPr/>
        </p:nvSpPr>
        <p:spPr>
          <a:xfrm>
            <a:off x="9073134" y="3840480"/>
            <a:ext cx="256717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56014" y="393192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800" dirty="0"/>
          </a:p>
        </p:txBody>
      </p:sp>
      <p:sp>
        <p:nvSpPr>
          <p:cNvPr id="25" name="Text 22"/>
          <p:cNvSpPr txBox="1"/>
          <p:nvPr/>
        </p:nvSpPr>
        <p:spPr>
          <a:xfrm>
            <a:off x="9256014" y="4572000"/>
            <a:ext cx="220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Barhocker an der Theke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Arbeitstitel: Café und Bar am Marktplatz. Ein Name und eine Marke sind noch offen.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 kommt und warum hier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graphicFrame>
        <p:nvGraphicFramePr>
          <p:cNvPr id="4" name="Tabelle Zielgrupp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834640"/>
                <a:gridCol w="405079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Zielgruppe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 sie suchen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Beschäftigte aus Rathaus und Umgebung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Mittag, Di–Fr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schnell, frisch, fair im Preis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Familien und Senioren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Brunch am Wochenende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Platz, Frühstück, Kaffee und Kuchen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Paare und Freunde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Abend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gemütlich essen und trinken am Marktplatz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Vereine, Firmen, Familienfeiern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nach Absprache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Séparée mit Menü, Getränkepaket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Radtouristen und Besucher aus dem Hümmling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Sommer, Wochenende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Terrasse, Kaffee, Bowls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Lage"/>
          <p:cNvSpPr/>
          <p:nvPr/>
        </p:nvSpPr>
        <p:spPr>
          <a:xfrm>
            <a:off x="548640" y="4663440"/>
            <a:ext cx="1109167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754880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neuen Marktplatz neben dem Rathaus, ab Ende 2028 mit der neuen Mitte fertig. Die Terrasse zum Platz und die vollverglaste Fassade machen die Gastro von außen sichtbar.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Tag in der Gastro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graphicFrame>
        <p:nvGraphicFramePr>
          <p:cNvPr id="5" name="Tabelle Tagesablau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286000"/>
                <a:gridCol w="19202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Angebot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Stimmung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08:00–11:00 (Di–Fr), 09:00–14:00 (Sa, So)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Frühstück, am Wochenende Brunch, Kaffee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hell, entspannt, Familien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11:30–14:30 (Di–Fr)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Bowls, Salate, Suppe des Tages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schnell, Tische für zwei und vier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14:30–17:00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Kaffee, Kuchen, kleine Snacks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ruhig, Terrasse im Sommer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 17:00 (Di–Do, So bis 22:00)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 mit Snacks, Wein, Bier, Cocktails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Kerzenlicht, Banketten, Hauptgeschäft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Fr, Sa bis 01:00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Bar, Cocktails, Snacks, Live-Musik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Theke, Lounge, Séparée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Frühstück am Fen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9752" y="1371600"/>
            <a:ext cx="4480560" cy="30175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159752" y="4434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Frühstück und Brunch am Morgen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Speisen und Getränke (Beispielkarte)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Frühstück und Brunch"/>
          <p:cNvSpPr/>
          <p:nvPr/>
        </p:nvSpPr>
        <p:spPr>
          <a:xfrm>
            <a:off x="548640" y="1371600"/>
            <a:ext cx="2567178" cy="3657600"/>
          </a:xfrm>
          <a:prstGeom prst="roundRect">
            <a:avLst>
              <a:gd name="adj" fmla="val 28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481328"/>
            <a:ext cx="220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Frühstück und Brunch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11680"/>
            <a:ext cx="220141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Frühstücksteller 12,90 €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Avocado-Toast mit Ei 10,90 €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Pancakes mit Früchten 9,90 €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Brunch am Sonntag 22,90 €</a:t>
            </a:r>
            <a:endParaRPr lang="en-US" sz="1300" dirty="0"/>
          </a:p>
        </p:txBody>
      </p:sp>
      <p:sp>
        <p:nvSpPr>
          <p:cNvPr id="8" name="Bowls und Mittag"/>
          <p:cNvSpPr/>
          <p:nvPr/>
        </p:nvSpPr>
        <p:spPr>
          <a:xfrm>
            <a:off x="3390138" y="1371600"/>
            <a:ext cx="2567178" cy="3657600"/>
          </a:xfrm>
          <a:prstGeom prst="roundRect">
            <a:avLst>
              <a:gd name="adj" fmla="val 28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73018" y="1481328"/>
            <a:ext cx="220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Bowls und Mittag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573018" y="2011680"/>
            <a:ext cx="220141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Bowl mit Huhn und Gemüse 12,90 €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Vegane Bowl 11,90 €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Salat mit Topping 10,90 €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Suppe des Tages 6,50 €</a:t>
            </a:r>
            <a:endParaRPr lang="en-US" sz="1300" dirty="0"/>
          </a:p>
        </p:txBody>
      </p:sp>
      <p:sp>
        <p:nvSpPr>
          <p:cNvPr id="11" name="Snacks zur Bar"/>
          <p:cNvSpPr/>
          <p:nvPr/>
        </p:nvSpPr>
        <p:spPr>
          <a:xfrm>
            <a:off x="6231636" y="1371600"/>
            <a:ext cx="2567178" cy="3657600"/>
          </a:xfrm>
          <a:prstGeom prst="roundRect">
            <a:avLst>
              <a:gd name="adj" fmla="val 28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14516" y="1481328"/>
            <a:ext cx="220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Snacks zur Bar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414516" y="2011680"/>
            <a:ext cx="220141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Nachos mit Dip 8,90 €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Käse- und Wurstplatte 14,90 €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Flammkuchen 11,90 €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Bruschetta 7,90 €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Chicken Wings 9,90 €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Süßkartoffel-Pommes 6,90 €</a:t>
            </a:r>
            <a:endParaRPr lang="en-US" sz="1300" dirty="0"/>
          </a:p>
        </p:txBody>
      </p:sp>
      <p:sp>
        <p:nvSpPr>
          <p:cNvPr id="14" name="Bar und Getränke"/>
          <p:cNvSpPr/>
          <p:nvPr/>
        </p:nvSpPr>
        <p:spPr>
          <a:xfrm>
            <a:off x="9073134" y="1371600"/>
            <a:ext cx="2567178" cy="3657600"/>
          </a:xfrm>
          <a:prstGeom prst="roundRect">
            <a:avLst>
              <a:gd name="adj" fmla="val 28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56014" y="1481328"/>
            <a:ext cx="220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 und Getränke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9256014" y="2011680"/>
            <a:ext cx="220141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Cocktails 9,90–12,90 €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Wein 0,2 l ab 6,50 €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Bier vom Fass 0,3 l 3,90 €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Kaffee 3,20 €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Alkoholfreie Cocktails 6,90 €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3035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Durchschnittlicher Bon (Annahme): Frühstück 11 €, Brunch 14 €, Bowls 13 €, Kaffee 7 €, Bar mit Snacks 20–26 €, Events 40 €.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Hauptfokus Abend: Bar mit Snacks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pic>
        <p:nvPicPr>
          <p:cNvPr id="5" name="Image 0" descr="Bar am Abend mit beleuchteter Backb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206240" cy="2743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0" y="1371600"/>
            <a:ext cx="66111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Snacks (kleine Küche)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Snackkarte: Platten, Flammkuchen, Nachos, Wings, Bruschetta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Gäste teilen und bleiben, dadurch mehr Getränkeumsatz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(ab 17:00, Fr und Sa bis 01:00)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Signature-Cocktails, regionale Weine, Craft-Bier vom Fass, alkoholfreie Drinks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After-Work am Donnerstag, Live-Musik oder DJ am Freitag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Feiern und Events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Séparée, Themenabende, Firmen- und Vereinsfeiern, Weihnachtsfeiern</a:t>
            </a:r>
            <a:endParaRPr lang="en-US" sz="1300" dirty="0"/>
          </a:p>
        </p:txBody>
      </p:sp>
      <p:graphicFrame>
        <p:nvGraphicFramePr>
          <p:cNvPr id="7" name="Tabelle Aben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74980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822960"/>
                <a:gridCol w="1005840"/>
                <a:gridCol w="914400"/>
                <a:gridCol w="12801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Abend-Bereich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Gäste/Tag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Ø Bon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Umsatz/Monat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 mit Snacks Di–Do, So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 Fr, Sa (bis 01:00)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21.060 €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Events: Live-Musik, Feiern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Abend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39.360 €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8229600" y="4663440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61 % vom Gastro-Umsatz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Raumkonzept: Grundriss der Gastro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Gastro EG"/>
          <p:cNvSpPr/>
          <p:nvPr/>
        </p:nvSpPr>
        <p:spPr>
          <a:xfrm>
            <a:off x="548640" y="1371600"/>
            <a:ext cx="4864608" cy="3127248"/>
          </a:xfrm>
          <a:prstGeom prst="rect">
            <a:avLst/>
          </a:prstGeom>
          <a:solidFill>
            <a:srgbClr val="F2D48C"/>
          </a:solidFill>
          <a:ln w="19050">
            <a:solidFill>
              <a:srgbClr val="5B6770"/>
            </a:solidFill>
            <a:prstDash val="solid"/>
          </a:ln>
        </p:spPr>
      </p:sp>
      <p:sp>
        <p:nvSpPr>
          <p:cNvPr id="6" name="Terrasse"/>
          <p:cNvSpPr/>
          <p:nvPr/>
        </p:nvSpPr>
        <p:spPr>
          <a:xfrm>
            <a:off x="1069848" y="4498848"/>
            <a:ext cx="4343400" cy="486461"/>
          </a:xfrm>
          <a:prstGeom prst="rect">
            <a:avLst/>
          </a:prstGeom>
          <a:solidFill>
            <a:srgbClr val="D6B98F"/>
          </a:solidFill>
          <a:ln w="12700">
            <a:solidFill>
              <a:srgbClr val="5B6770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1069848" y="4498848"/>
            <a:ext cx="43434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Terrasse, ca. 60 Plätze</a:t>
            </a:r>
            <a:endParaRPr lang="en-US" sz="1000" dirty="0"/>
          </a:p>
        </p:txBody>
      </p:sp>
      <p:sp>
        <p:nvSpPr>
          <p:cNvPr id="8" name="Eingang"/>
          <p:cNvSpPr/>
          <p:nvPr/>
        </p:nvSpPr>
        <p:spPr>
          <a:xfrm>
            <a:off x="757123" y="4255618"/>
            <a:ext cx="451714" cy="243230"/>
          </a:xfrm>
          <a:prstGeom prst="rect">
            <a:avLst/>
          </a:prstGeom>
          <a:solidFill>
            <a:srgbClr val="3A3F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7123" y="4255618"/>
            <a:ext cx="451714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Eingang</a:t>
            </a:r>
            <a:endParaRPr lang="en-US" sz="900" dirty="0"/>
          </a:p>
        </p:txBody>
      </p:sp>
      <p:sp>
        <p:nvSpPr>
          <p:cNvPr id="10" name="Tisch 1"/>
          <p:cNvSpPr/>
          <p:nvPr/>
        </p:nvSpPr>
        <p:spPr>
          <a:xfrm>
            <a:off x="1069848" y="3882085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isch 2"/>
          <p:cNvSpPr/>
          <p:nvPr/>
        </p:nvSpPr>
        <p:spPr>
          <a:xfrm>
            <a:off x="1747418" y="3882085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isch 3"/>
          <p:cNvSpPr/>
          <p:nvPr/>
        </p:nvSpPr>
        <p:spPr>
          <a:xfrm>
            <a:off x="2424989" y="3882085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isch 4"/>
          <p:cNvSpPr/>
          <p:nvPr/>
        </p:nvSpPr>
        <p:spPr>
          <a:xfrm>
            <a:off x="3102559" y="3882085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isch 5"/>
          <p:cNvSpPr/>
          <p:nvPr/>
        </p:nvSpPr>
        <p:spPr>
          <a:xfrm>
            <a:off x="3780130" y="3882085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isch 6"/>
          <p:cNvSpPr/>
          <p:nvPr/>
        </p:nvSpPr>
        <p:spPr>
          <a:xfrm>
            <a:off x="1069848" y="3578047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isch 7"/>
          <p:cNvSpPr/>
          <p:nvPr/>
        </p:nvSpPr>
        <p:spPr>
          <a:xfrm>
            <a:off x="1747418" y="3578047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isch 8"/>
          <p:cNvSpPr/>
          <p:nvPr/>
        </p:nvSpPr>
        <p:spPr>
          <a:xfrm>
            <a:off x="2424989" y="3578047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isch 9"/>
          <p:cNvSpPr/>
          <p:nvPr/>
        </p:nvSpPr>
        <p:spPr>
          <a:xfrm>
            <a:off x="3102559" y="3578047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isch 10"/>
          <p:cNvSpPr/>
          <p:nvPr/>
        </p:nvSpPr>
        <p:spPr>
          <a:xfrm>
            <a:off x="3780130" y="3578047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isch 11"/>
          <p:cNvSpPr/>
          <p:nvPr/>
        </p:nvSpPr>
        <p:spPr>
          <a:xfrm>
            <a:off x="1069848" y="3274009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isch 12"/>
          <p:cNvSpPr/>
          <p:nvPr/>
        </p:nvSpPr>
        <p:spPr>
          <a:xfrm>
            <a:off x="1747418" y="3274009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isch 13"/>
          <p:cNvSpPr/>
          <p:nvPr/>
        </p:nvSpPr>
        <p:spPr>
          <a:xfrm>
            <a:off x="2424989" y="3274009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isch 14"/>
          <p:cNvSpPr/>
          <p:nvPr/>
        </p:nvSpPr>
        <p:spPr>
          <a:xfrm>
            <a:off x="3102559" y="3274009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isch 15"/>
          <p:cNvSpPr/>
          <p:nvPr/>
        </p:nvSpPr>
        <p:spPr>
          <a:xfrm>
            <a:off x="3780130" y="3274009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isch 16"/>
          <p:cNvSpPr/>
          <p:nvPr/>
        </p:nvSpPr>
        <p:spPr>
          <a:xfrm>
            <a:off x="1069848" y="2969971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isch 17"/>
          <p:cNvSpPr/>
          <p:nvPr/>
        </p:nvSpPr>
        <p:spPr>
          <a:xfrm>
            <a:off x="1747418" y="2969971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isch 18"/>
          <p:cNvSpPr/>
          <p:nvPr/>
        </p:nvSpPr>
        <p:spPr>
          <a:xfrm>
            <a:off x="2424989" y="2969971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isch 19"/>
          <p:cNvSpPr/>
          <p:nvPr/>
        </p:nvSpPr>
        <p:spPr>
          <a:xfrm>
            <a:off x="3102559" y="2969971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isch 20"/>
          <p:cNvSpPr/>
          <p:nvPr/>
        </p:nvSpPr>
        <p:spPr>
          <a:xfrm>
            <a:off x="3780130" y="2969971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isch 21"/>
          <p:cNvSpPr/>
          <p:nvPr/>
        </p:nvSpPr>
        <p:spPr>
          <a:xfrm>
            <a:off x="1069848" y="2665933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isch 22"/>
          <p:cNvSpPr/>
          <p:nvPr/>
        </p:nvSpPr>
        <p:spPr>
          <a:xfrm>
            <a:off x="1747418" y="2665933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isch 23"/>
          <p:cNvSpPr/>
          <p:nvPr/>
        </p:nvSpPr>
        <p:spPr>
          <a:xfrm>
            <a:off x="2424989" y="2665933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isch 24"/>
          <p:cNvSpPr/>
          <p:nvPr/>
        </p:nvSpPr>
        <p:spPr>
          <a:xfrm>
            <a:off x="3102559" y="2665933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isch 25"/>
          <p:cNvSpPr/>
          <p:nvPr/>
        </p:nvSpPr>
        <p:spPr>
          <a:xfrm>
            <a:off x="3780130" y="2665933"/>
            <a:ext cx="295351" cy="165049"/>
          </a:xfrm>
          <a:prstGeom prst="rect">
            <a:avLst/>
          </a:prstGeom>
          <a:solidFill>
            <a:srgbClr val="8A6A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Fenstertisch 1"/>
          <p:cNvSpPr/>
          <p:nvPr/>
        </p:nvSpPr>
        <p:spPr>
          <a:xfrm>
            <a:off x="965606" y="4264304"/>
            <a:ext cx="138989" cy="138989"/>
          </a:xfrm>
          <a:prstGeom prst="rect">
            <a:avLst/>
          </a:prstGeom>
          <a:solidFill>
            <a:srgbClr val="A872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Fenstertisch 2"/>
          <p:cNvSpPr/>
          <p:nvPr/>
        </p:nvSpPr>
        <p:spPr>
          <a:xfrm>
            <a:off x="1434694" y="4264304"/>
            <a:ext cx="138989" cy="138989"/>
          </a:xfrm>
          <a:prstGeom prst="rect">
            <a:avLst/>
          </a:prstGeom>
          <a:solidFill>
            <a:srgbClr val="A872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Fenstertisch 3"/>
          <p:cNvSpPr/>
          <p:nvPr/>
        </p:nvSpPr>
        <p:spPr>
          <a:xfrm>
            <a:off x="1903781" y="4264304"/>
            <a:ext cx="138989" cy="138989"/>
          </a:xfrm>
          <a:prstGeom prst="rect">
            <a:avLst/>
          </a:prstGeom>
          <a:solidFill>
            <a:srgbClr val="A872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Fenstertisch 4"/>
          <p:cNvSpPr/>
          <p:nvPr/>
        </p:nvSpPr>
        <p:spPr>
          <a:xfrm>
            <a:off x="2372868" y="4264304"/>
            <a:ext cx="138989" cy="138989"/>
          </a:xfrm>
          <a:prstGeom prst="rect">
            <a:avLst/>
          </a:prstGeom>
          <a:solidFill>
            <a:srgbClr val="A872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Fenstertisch 5"/>
          <p:cNvSpPr/>
          <p:nvPr/>
        </p:nvSpPr>
        <p:spPr>
          <a:xfrm>
            <a:off x="2841955" y="4264304"/>
            <a:ext cx="138989" cy="138989"/>
          </a:xfrm>
          <a:prstGeom prst="rect">
            <a:avLst/>
          </a:prstGeom>
          <a:solidFill>
            <a:srgbClr val="A872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Fenstertisch 6"/>
          <p:cNvSpPr/>
          <p:nvPr/>
        </p:nvSpPr>
        <p:spPr>
          <a:xfrm>
            <a:off x="3311042" y="4264304"/>
            <a:ext cx="138989" cy="138989"/>
          </a:xfrm>
          <a:prstGeom prst="rect">
            <a:avLst/>
          </a:prstGeom>
          <a:solidFill>
            <a:srgbClr val="A872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Fenstertisch 7"/>
          <p:cNvSpPr/>
          <p:nvPr/>
        </p:nvSpPr>
        <p:spPr>
          <a:xfrm>
            <a:off x="3780130" y="4264304"/>
            <a:ext cx="138989" cy="138989"/>
          </a:xfrm>
          <a:prstGeom prst="rect">
            <a:avLst/>
          </a:prstGeom>
          <a:solidFill>
            <a:srgbClr val="A872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Fenstertisch 8"/>
          <p:cNvSpPr/>
          <p:nvPr/>
        </p:nvSpPr>
        <p:spPr>
          <a:xfrm>
            <a:off x="4249217" y="4264304"/>
            <a:ext cx="138989" cy="138989"/>
          </a:xfrm>
          <a:prstGeom prst="rect">
            <a:avLst/>
          </a:prstGeom>
          <a:solidFill>
            <a:srgbClr val="A872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Lounge"/>
          <p:cNvSpPr/>
          <p:nvPr/>
        </p:nvSpPr>
        <p:spPr>
          <a:xfrm>
            <a:off x="4509821" y="2691994"/>
            <a:ext cx="833933" cy="1459382"/>
          </a:xfrm>
          <a:prstGeom prst="rect">
            <a:avLst/>
          </a:prstGeom>
          <a:solidFill>
            <a:srgbClr val="B07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509821" y="2691994"/>
            <a:ext cx="833933" cy="1459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Lounge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Plätze</a:t>
            </a:r>
            <a:endParaRPr lang="en-US" sz="1000" dirty="0"/>
          </a:p>
        </p:txBody>
      </p:sp>
      <p:sp>
        <p:nvSpPr>
          <p:cNvPr id="45" name="Bar"/>
          <p:cNvSpPr/>
          <p:nvPr/>
        </p:nvSpPr>
        <p:spPr>
          <a:xfrm>
            <a:off x="1938528" y="2292401"/>
            <a:ext cx="2258568" cy="243230"/>
          </a:xfrm>
          <a:prstGeom prst="rect">
            <a:avLst/>
          </a:prstGeom>
          <a:solidFill>
            <a:srgbClr val="3A3F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938528" y="2292401"/>
            <a:ext cx="2258568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Bar, 12 Barhocker</a:t>
            </a:r>
            <a:endParaRPr lang="en-US" sz="1000" dirty="0"/>
          </a:p>
        </p:txBody>
      </p:sp>
      <p:sp>
        <p:nvSpPr>
          <p:cNvPr id="47" name="Backbar"/>
          <p:cNvSpPr/>
          <p:nvPr/>
        </p:nvSpPr>
        <p:spPr>
          <a:xfrm>
            <a:off x="1938528" y="2127352"/>
            <a:ext cx="2258568" cy="95555"/>
          </a:xfrm>
          <a:prstGeom prst="rect">
            <a:avLst/>
          </a:prstGeom>
          <a:solidFill>
            <a:srgbClr val="5B4B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éparée"/>
          <p:cNvSpPr/>
          <p:nvPr/>
        </p:nvSpPr>
        <p:spPr>
          <a:xfrm>
            <a:off x="618134" y="1441094"/>
            <a:ext cx="1250899" cy="886054"/>
          </a:xfrm>
          <a:prstGeom prst="rect">
            <a:avLst/>
          </a:prstGeom>
          <a:solidFill>
            <a:srgbClr val="7A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18134" y="1441094"/>
            <a:ext cx="1250899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Séparée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Plätze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Stahl-Glas-Wand</a:t>
            </a:r>
            <a:endParaRPr lang="en-US" sz="1000" dirty="0"/>
          </a:p>
        </p:txBody>
      </p:sp>
      <p:sp>
        <p:nvSpPr>
          <p:cNvPr id="50" name="Küche"/>
          <p:cNvSpPr/>
          <p:nvPr/>
        </p:nvSpPr>
        <p:spPr>
          <a:xfrm>
            <a:off x="2008022" y="1441094"/>
            <a:ext cx="1111910" cy="590702"/>
          </a:xfrm>
          <a:prstGeom prst="rect">
            <a:avLst/>
          </a:prstGeom>
          <a:solidFill>
            <a:srgbClr val="7E8A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2008022" y="1441094"/>
            <a:ext cx="11119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Küche</a:t>
            </a:r>
            <a:endParaRPr lang="en-US" sz="1100" dirty="0"/>
          </a:p>
        </p:txBody>
      </p:sp>
      <p:sp>
        <p:nvSpPr>
          <p:cNvPr id="52" name="Lager und Kühlung"/>
          <p:cNvSpPr/>
          <p:nvPr/>
        </p:nvSpPr>
        <p:spPr>
          <a:xfrm>
            <a:off x="3137306" y="1441094"/>
            <a:ext cx="799186" cy="590702"/>
          </a:xfrm>
          <a:prstGeom prst="rect">
            <a:avLst/>
          </a:prstGeom>
          <a:solidFill>
            <a:srgbClr val="A6AD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3137306" y="1441094"/>
            <a:ext cx="799186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Lager,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Kühlung</a:t>
            </a:r>
            <a:endParaRPr lang="en-US" sz="1000" dirty="0"/>
          </a:p>
        </p:txBody>
      </p:sp>
      <p:sp>
        <p:nvSpPr>
          <p:cNvPr id="54" name="WC"/>
          <p:cNvSpPr/>
          <p:nvPr/>
        </p:nvSpPr>
        <p:spPr>
          <a:xfrm>
            <a:off x="3953866" y="1441094"/>
            <a:ext cx="1389888" cy="590702"/>
          </a:xfrm>
          <a:prstGeom prst="rect">
            <a:avLst/>
          </a:prstGeom>
          <a:solidFill>
            <a:srgbClr val="8A91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3953866" y="1441094"/>
            <a:ext cx="1389888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(H, D, barrierefrei)</a:t>
            </a:r>
            <a:endParaRPr lang="en-US" sz="1000" dirty="0"/>
          </a:p>
        </p:txBody>
      </p:sp>
      <p:graphicFrame>
        <p:nvGraphicFramePr>
          <p:cNvPr id="8" name="Tabelle Zon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371600"/>
          <a:ext cx="574243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63040"/>
                <a:gridCol w="14447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Plätze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Gastraum (Tische, Fenster, Gänge)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304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Lounge in der Ecke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 Gastraum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Große Bar und Theken-Zone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45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Stehtische an der Bar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 Gastraum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Séparée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42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Kleine Küche, Lager, WC, Eingang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119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Gastro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510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190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7" name="Text 53"/>
          <p:cNvSpPr txBox="1"/>
          <p:nvPr/>
        </p:nvSpPr>
        <p:spPr>
          <a:xfrm>
            <a:off x="5897880" y="5120640"/>
            <a:ext cx="5742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Treppenhaus und Aufzug zu den Wohnungen liegen am Westende des Hauses und sind von der Gastro getrennt.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Gestaltung: warm, dunkel, hochwertig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Farbe Olivgrün"/>
          <p:cNvSpPr/>
          <p:nvPr/>
        </p:nvSpPr>
        <p:spPr>
          <a:xfrm>
            <a:off x="548640" y="1371600"/>
            <a:ext cx="1600200" cy="731520"/>
          </a:xfrm>
          <a:prstGeom prst="rect">
            <a:avLst/>
          </a:prstGeom>
          <a:solidFill>
            <a:srgbClr val="3D4638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Olivgrün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95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Wände mit Vertäfelung</a:t>
            </a:r>
            <a:endParaRPr lang="en-US" sz="1100" dirty="0"/>
          </a:p>
        </p:txBody>
      </p:sp>
      <p:sp>
        <p:nvSpPr>
          <p:cNvPr id="8" name="Farbe Cognac"/>
          <p:cNvSpPr/>
          <p:nvPr/>
        </p:nvSpPr>
        <p:spPr>
          <a:xfrm>
            <a:off x="2331720" y="1371600"/>
            <a:ext cx="1600200" cy="731520"/>
          </a:xfrm>
          <a:prstGeom prst="rect">
            <a:avLst/>
          </a:prstGeom>
          <a:solidFill>
            <a:srgbClr val="A9692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33172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Cognac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2331720" y="2395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Samt-Banketten</a:t>
            </a:r>
            <a:endParaRPr lang="en-US" sz="1100" dirty="0"/>
          </a:p>
        </p:txBody>
      </p:sp>
      <p:sp>
        <p:nvSpPr>
          <p:cNvPr id="11" name="Farbe Bordeaux"/>
          <p:cNvSpPr/>
          <p:nvPr/>
        </p:nvSpPr>
        <p:spPr>
          <a:xfrm>
            <a:off x="4114800" y="1371600"/>
            <a:ext cx="1600200" cy="731520"/>
          </a:xfrm>
          <a:prstGeom prst="rect">
            <a:avLst/>
          </a:prstGeom>
          <a:solidFill>
            <a:srgbClr val="6B1E2E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1480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Bordeaux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114800" y="2395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Kissen, Akzentlampe</a:t>
            </a:r>
            <a:endParaRPr lang="en-US" sz="1100" dirty="0"/>
          </a:p>
        </p:txBody>
      </p:sp>
      <p:sp>
        <p:nvSpPr>
          <p:cNvPr id="14" name="Farbe Eiche"/>
          <p:cNvSpPr/>
          <p:nvPr/>
        </p:nvSpPr>
        <p:spPr>
          <a:xfrm>
            <a:off x="5897880" y="1371600"/>
            <a:ext cx="1600200" cy="731520"/>
          </a:xfrm>
          <a:prstGeom prst="rect">
            <a:avLst/>
          </a:prstGeom>
          <a:solidFill>
            <a:srgbClr val="B8865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9788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Eiche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897880" y="2395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Tische, Theke oben</a:t>
            </a:r>
            <a:endParaRPr lang="en-US" sz="1100" dirty="0"/>
          </a:p>
        </p:txBody>
      </p:sp>
      <p:sp>
        <p:nvSpPr>
          <p:cNvPr id="17" name="Farbe Anthrazit"/>
          <p:cNvSpPr/>
          <p:nvPr/>
        </p:nvSpPr>
        <p:spPr>
          <a:xfrm>
            <a:off x="548640" y="2788920"/>
            <a:ext cx="1600200" cy="731520"/>
          </a:xfrm>
          <a:prstGeom prst="rect">
            <a:avLst/>
          </a:prstGeom>
          <a:solidFill>
            <a:srgbClr val="2B2E31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566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Anthrazit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8130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Theke, geriffelte Front</a:t>
            </a:r>
            <a:endParaRPr lang="en-US" sz="1100" dirty="0"/>
          </a:p>
        </p:txBody>
      </p:sp>
      <p:sp>
        <p:nvSpPr>
          <p:cNvPr id="20" name="Farbe Messing"/>
          <p:cNvSpPr/>
          <p:nvPr/>
        </p:nvSpPr>
        <p:spPr>
          <a:xfrm>
            <a:off x="2331720" y="2788920"/>
            <a:ext cx="1600200" cy="731520"/>
          </a:xfrm>
          <a:prstGeom prst="rect">
            <a:avLst/>
          </a:prstGeom>
          <a:solidFill>
            <a:srgbClr val="B08D57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331720" y="3566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Messing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2331720" y="38130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Lampen, Details</a:t>
            </a:r>
            <a:endParaRPr lang="en-US" sz="1100" dirty="0"/>
          </a:p>
        </p:txBody>
      </p:sp>
      <p:sp>
        <p:nvSpPr>
          <p:cNvPr id="23" name="Farbe Creme"/>
          <p:cNvSpPr/>
          <p:nvPr/>
        </p:nvSpPr>
        <p:spPr>
          <a:xfrm>
            <a:off x="4114800" y="2788920"/>
            <a:ext cx="1600200" cy="731520"/>
          </a:xfrm>
          <a:prstGeom prst="rect">
            <a:avLst/>
          </a:prstGeom>
          <a:solidFill>
            <a:srgbClr val="E8DCC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114800" y="3566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Creme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4114800" y="38130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Pampas, Textilien</a:t>
            </a:r>
            <a:endParaRPr lang="en-US" sz="1100" dirty="0"/>
          </a:p>
        </p:txBody>
      </p:sp>
      <p:sp>
        <p:nvSpPr>
          <p:cNvPr id="26" name="Farbe Schwarzstahl"/>
          <p:cNvSpPr/>
          <p:nvPr/>
        </p:nvSpPr>
        <p:spPr>
          <a:xfrm>
            <a:off x="5897880" y="2788920"/>
            <a:ext cx="1600200" cy="731520"/>
          </a:xfrm>
          <a:prstGeom prst="rect">
            <a:avLst/>
          </a:prstGeom>
          <a:solidFill>
            <a:srgbClr val="1E2326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897880" y="3566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Schwarzstahl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5897880" y="38130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Glaswand mit Raster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438912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Licht: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indirekte Voutenbeleuchtung an der Decke, Glaspendel mit Messing, geriffelte Tischlichter mit Kerze.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Boden und Akustik: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Betonoptik oder Mikrozement, Akustikdecke und Textilien gegen Lärm.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ovale und Bogen-Spiegel, Pampasgras als Wandobjekt, Stahl-Glas-Trennwand zum Séparée.</a:t>
            </a:r>
            <a:endParaRPr lang="en-US" sz="1300" dirty="0"/>
          </a:p>
        </p:txBody>
      </p:sp>
      <p:pic>
        <p:nvPicPr>
          <p:cNvPr id="30" name="Image 0" descr="Bar mit anthrazitfarbener geriffelter Fro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2" y="1371600"/>
            <a:ext cx="329184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kann es aussehen: Gastraum und Bar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pic>
        <p:nvPicPr>
          <p:cNvPr id="5" name="Image 0" descr="Gastraum am Abe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08676" cy="3042380"/>
          </a:xfrm>
          <a:prstGeom prst="rect">
            <a:avLst/>
          </a:prstGeom>
        </p:spPr>
      </p:pic>
      <p:pic>
        <p:nvPicPr>
          <p:cNvPr id="6" name="Image 1" descr="Séparée mit Stahl-Glas-Wa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371600"/>
            <a:ext cx="5408676" cy="304238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4459700"/>
            <a:ext cx="5408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Gastraum am Abend: Banketten, Glaswand, Bar im Hintergrund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6231636" y="4459700"/>
            <a:ext cx="5408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Séparée für Feiern mit 30 Plätzen, hinter Stahl und Glas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Terrasse und Außenwirkung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pic>
        <p:nvPicPr>
          <p:cNvPr id="5" name="Image 0" descr="Terrasse am Abe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0" cy="3086100"/>
          </a:xfrm>
          <a:prstGeom prst="rect">
            <a:avLst/>
          </a:prstGeom>
        </p:spPr>
      </p:pic>
      <p:pic>
        <p:nvPicPr>
          <p:cNvPr id="6" name="Image 1" descr="Haus am Abe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486400" cy="30861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464058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60 Plätze auf Holzdeck unter dunklem Stahl-Vordach, Heizstrahler und Windschutz verlängern die Saison.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vollverglaste Fassade über die ganze Länge zeigt das Leben im Haus und zieht Gäste an.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Wohnungen darüber haben eigene Eingänge und Balkone zur anderen Seite, wichtig für Ruhe.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65.010 € Umsatz im Monat zusammenkommen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Bank</a:t>
            </a:r>
            <a:endParaRPr lang="en-US" sz="1000" dirty="0"/>
          </a:p>
        </p:txBody>
      </p:sp>
      <p:graphicFrame>
        <p:nvGraphicFramePr>
          <p:cNvPr id="12" name="Tabelle Umsatzaufb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822960"/>
                <a:gridCol w="914400"/>
                <a:gridCol w="8229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Bereich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Tage /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Gäste pro Tag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Ø Bon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Umsatz /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Frühstück werktags (Di–Fr 08:00–11:00)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5.610 €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Brunch am Wochenende (Sa, So 09:00–14:00)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Mittag: Bowls, Salate, Suppe (Di–Fr 11:30–14:30)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8.840 €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Nachmittag: Kaffee, Kuchen, Snacks (Di–So 14:30–17:00)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3.640 €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 mit Snacks Di–Do, So (ab 17:00)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 Fr, Sa (bis 01:00) (Cocktails, Wein, Bier, Snacks)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21.060 €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Events: Live-Musik, Feiern (nach Absprache, 4 pro Monat)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65.010 €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Einordnung"/>
          <p:cNvSpPr/>
          <p:nvPr/>
        </p:nvSpPr>
        <p:spPr>
          <a:xfrm>
            <a:off x="8412480" y="1371600"/>
            <a:ext cx="3227832" cy="4114800"/>
          </a:xfrm>
          <a:prstGeom prst="roundRect">
            <a:avLst>
              <a:gd name="adj" fmla="val 226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641080" y="1554480"/>
            <a:ext cx="27706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das bedeutet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3.815 Gäste im Monat, im Schnitt ca. 147 pro Öffnungstag bei 190 Plätzen. Der Abend (Bar mit Snacks, Events) bringt 61 % vom Umsatz.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eingerechnet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Terrasse im Sommer, Catering und Weihnachtsfeiern. Das ist Spielraum nach oben.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Betrieb und Personal (Beispiel)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Bank</a:t>
            </a:r>
            <a:endParaRPr lang="en-US" sz="1000" dirty="0"/>
          </a:p>
        </p:txBody>
      </p:sp>
      <p:graphicFrame>
        <p:nvGraphicFramePr>
          <p:cNvPr id="13" name="Tabelle Persona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Stelle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Umfang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Kosten /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Küchenleitung (Bowls, Snacks)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Vollzeit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Küchenhilfe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Teilzeit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Spülen, Frühstücksservice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Teilzeit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Barchef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Vollzeit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und Bar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8 Teilzeit und Minijobs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entspricht 28 % vom Umsatz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Betrieb"/>
          <p:cNvSpPr/>
          <p:nvPr/>
        </p:nvSpPr>
        <p:spPr>
          <a:xfrm>
            <a:off x="7863840" y="1371600"/>
            <a:ext cx="3776472" cy="4206240"/>
          </a:xfrm>
          <a:prstGeom prst="roundRect">
            <a:avLst>
              <a:gd name="adj" fmla="val 19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092440" y="1554480"/>
            <a:ext cx="331927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Betreiber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führst die Gastro selbst oder verpachtest sie. Bei Verpachtung zahlt der Betreiber ca. 10 €/m² Pacht, das sind bei 510 m² ca. 5.100 € im Monat (ca. 7.8 % vom Umsatz).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Barchef und Küchenleitung früh einstellen, 4 bis 6 Wochen vor Eröffnung Probebetrieb.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Wirtschaftlichkeit der Gastro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Bank</a:t>
            </a:r>
            <a:endParaRPr lang="en-US" sz="1000" dirty="0"/>
          </a:p>
        </p:txBody>
      </p:sp>
      <p:graphicFrame>
        <p:nvGraphicFramePr>
          <p:cNvPr id="14" name="Tabelle Gastro Gewin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Umsatz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Gewinn vor Pacht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Pacht ans Haus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Gewinn nach Pacht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−5.100 €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−5.100 €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+10.150 €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65.010 €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19.828 €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−5.100 €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+14.728 €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24.400 €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−5.100 €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+19.300 €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28.975 €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−5.100 €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+23.875 €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6" name="Haus"/>
          <p:cNvSpPr/>
          <p:nvPr/>
        </p:nvSpPr>
        <p:spPr>
          <a:xfrm>
            <a:off x="8595360" y="1371600"/>
            <a:ext cx="3044952" cy="3840480"/>
          </a:xfrm>
          <a:prstGeom prst="roundRect">
            <a:avLst>
              <a:gd name="adj" fmla="val 24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823960" y="1554480"/>
            <a:ext cx="258775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das ganze Haus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65.010 € Umsatz bleiben im ganzen Haus +9.613 € pro Monat nach Zinsen und Tilgung (KfW-Kredite und Hausbank, ohne Lohn). Die Gastro braucht für Break-even im Haus ca. 33.500 € Umsatz.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 im Detail (Wareneinsatz, Personal, Energie ...) stehen im Anhang der Hauptpräsentation.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Ausbau: Budget und Posten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Bank</a:t>
            </a:r>
            <a:endParaRPr lang="en-US" sz="1000" dirty="0"/>
          </a:p>
        </p:txBody>
      </p:sp>
      <p:graphicFrame>
        <p:nvGraphicFramePr>
          <p:cNvPr id="15" name="Tabelle Ausb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3152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Küche (Bowl- und Snackküche, Kühlräume, Spülküche)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Lüftung und Abluft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Theke und Bar (Zapfanlage, Kühlung, Backbar, große Theke)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Möbel (ca. 190 Plätze, Lounge, Séparée)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Beleuchtung und Deko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Wand, Boden, Decke, Akustik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Gäste-WC Ausstattung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Kasse, Technik, Musik, WLAN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Terrasse (Holzdeck, Möbel, Heizstrahler, 60 Plätze)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Planung und Genehmigung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Eröffnung, Marketing, Warenerstbestückung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Puffer 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(im Modell: 190.000 €)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190.050 €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Hinweis"/>
          <p:cNvSpPr/>
          <p:nvPr/>
        </p:nvSpPr>
        <p:spPr>
          <a:xfrm>
            <a:off x="8229600" y="1280160"/>
            <a:ext cx="341071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458200" y="1463040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250.000 € Ausbau steigt die Rate des Hauses um ca. 228 € im Monat. Der Schallschutz zur Decke und die Küchenabluft (über Dach, weg von den Wohnungen) gehören unbedingt in die Planung.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Genehmigung, Recht und Risiken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Konzession und Hygiene"/>
          <p:cNvSpPr/>
          <p:nvPr/>
        </p:nvSpPr>
        <p:spPr>
          <a:xfrm>
            <a:off x="548640" y="137160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Konzession und Hygiene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Gaststättenerlaubnis beim Ordnungsamt, Hygienekonzept und Lebensmittelaufsicht, Alkoholausschank anmelden.</a:t>
            </a:r>
            <a:endParaRPr lang="en-US" sz="1300" dirty="0"/>
          </a:p>
        </p:txBody>
      </p:sp>
      <p:sp>
        <p:nvSpPr>
          <p:cNvPr id="8" name="Schall und Abluft"/>
          <p:cNvSpPr/>
          <p:nvPr/>
        </p:nvSpPr>
        <p:spPr>
          <a:xfrm>
            <a:off x="6217920" y="137160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Schall und Abluft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19659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 unter Wohnungen: Schallschutz der Decke, leise Technik, Abluft der kleinen Küche über Dach. Nutzungszeiten der Terrasse klären.</a:t>
            </a:r>
            <a:endParaRPr lang="en-US" sz="1300" dirty="0"/>
          </a:p>
        </p:txBody>
      </p:sp>
      <p:sp>
        <p:nvSpPr>
          <p:cNvPr id="11" name="Stellplätze"/>
          <p:cNvSpPr/>
          <p:nvPr/>
        </p:nvSpPr>
        <p:spPr>
          <a:xfrm>
            <a:off x="548640" y="356616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Stellplätze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1605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Bedarf der großen Gastro ca. 37 Plätze, mit Büros und Wohnungen ca. 55. Auf dem Grundstück passen nur ca. 6–8, Rest über die öffentliche Parkfläche oder Ablöse.</a:t>
            </a:r>
            <a:endParaRPr lang="en-US" sz="1300" dirty="0"/>
          </a:p>
        </p:txBody>
      </p:sp>
      <p:sp>
        <p:nvSpPr>
          <p:cNvPr id="14" name="Markt und Betreiber"/>
          <p:cNvSpPr/>
          <p:nvPr/>
        </p:nvSpPr>
        <p:spPr>
          <a:xfrm>
            <a:off x="6217920" y="356616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Markt und Betreiber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1605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Marktdaten für Werlte. Erfahrener Betreiber oder Barchef früh gewinnen, Probebetrieb und vorsichtiger Start.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Nächste Schritte für die Gastro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Schritt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3898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13898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Marke und Zielgruppe festlegen, Betreiber oder Barchef ansprechen</a:t>
            </a:r>
            <a:endParaRPr lang="en-US" sz="1500" dirty="0"/>
          </a:p>
        </p:txBody>
      </p:sp>
      <p:sp>
        <p:nvSpPr>
          <p:cNvPr id="9" name="Schritt 2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1671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2167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Gastro-Fachplaner: Küche, Lüftung, Schallschutz, genaue Plätze</a:t>
            </a:r>
            <a:endParaRPr lang="en-US" sz="1500" dirty="0"/>
          </a:p>
        </p:txBody>
      </p:sp>
      <p:sp>
        <p:nvSpPr>
          <p:cNvPr id="13" name="Schritt 3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29443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3017520" y="2944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Angebote für Ausbau einholen, Budget prüfen (190.000 €)</a:t>
            </a:r>
            <a:endParaRPr lang="en-US" sz="1500" dirty="0"/>
          </a:p>
        </p:txBody>
      </p:sp>
      <p:sp>
        <p:nvSpPr>
          <p:cNvPr id="17" name="Schritt 4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721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3017520" y="3721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Innenarchitektur und Möbel bestellen, Speisekarte und Preise kalkulieren</a:t>
            </a:r>
            <a:endParaRPr lang="en-US" sz="1500" dirty="0"/>
          </a:p>
        </p:txBody>
      </p:sp>
      <p:sp>
        <p:nvSpPr>
          <p:cNvPr id="21" name="Schritt 5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44988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 2028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3017520" y="4498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einstellen, Probebetrieb, Genehmigungen</a:t>
            </a:r>
            <a:endParaRPr lang="en-US" sz="1500" dirty="0"/>
          </a:p>
        </p:txBody>
      </p:sp>
      <p:sp>
        <p:nvSpPr>
          <p:cNvPr id="25" name="Schritt 6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325880" y="52760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2028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3017520" y="52760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Eröffnung zusammen mit der neuen Mitte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e Mitte Werlte">
  <a:themeElements>
    <a:clrScheme name="Neue Mitte Werlte">
      <a:dk1>
        <a:srgbClr val="1F2421"/>
      </a:dk1>
      <a:lt1>
        <a:srgbClr val="FFFFFF"/>
      </a:lt1>
      <a:dk2>
        <a:srgbClr val="2F4A3E"/>
      </a:dk2>
      <a:lt2>
        <a:srgbClr val="F1F0EE"/>
      </a:lt2>
      <a:accent1>
        <a:srgbClr val="8C3B32"/>
      </a:accent1>
      <a:accent2>
        <a:srgbClr val="2F4A3E"/>
      </a:accent2>
      <a:accent3>
        <a:srgbClr val="C49A45"/>
      </a:accent3>
      <a:accent4>
        <a:srgbClr val="5B6770"/>
      </a:accent4>
      <a:accent5>
        <a:srgbClr val="2E7D5B"/>
      </a:accent5>
      <a:accent6>
        <a:srgbClr val="B3261E"/>
      </a:accent6>
      <a:hlink>
        <a:srgbClr val="8C3B32"/>
      </a:hlink>
      <a:folHlink>
        <a:srgbClr val="5B6770"/>
      </a:folHlink>
    </a:clrScheme>
    <a:fontScheme name="Neue Mitte Werlt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Neue Mitte Werlte – Baufeld 3: Gastro, Gestaltung und Konzept</dc:title>
  <dc:subject>PptxGenJS Presentation</dc:subject>
  <dc:creator>Bessam Hasso</dc:creator>
  <cp:lastModifiedBy>Bessam Hasso</cp:lastModifiedBy>
  <cp:revision>1</cp:revision>
  <dcterms:created xsi:type="dcterms:W3CDTF">2026-10-19T18:10:22Z</dcterms:created>
  <dcterms:modified xsi:type="dcterms:W3CDTF">2026-10-19T18:10:22Z</dcterms:modified>
</cp:coreProperties>
</file>