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Die Gastro hat ca. 150 Plätze, die Annahme ist vorsichtig.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 vor Pacht 30,5 % vom Umsatz (Branchen-Richtwert, nicht aus Werlte). Bei sehr niedrigem Umsatz drücken die Fixkosten stärker, die Rechnung ist dort zu günstig.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Annahme des Bauherrn: 150.000 € für einen einfachen Ausbau. Für 460 m² und ca. 150 Plätze ist das knapp,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460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Tagsüber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Tagsüber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Mittagstisch und Kaffee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mit moderner, regionaler Küche. Gemütlich, mit Banketten, Kerzenlicht und offener Bar.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Cocktails, Wein und Bier an der Theke. Séparée mit 20 Plätzen für Geburtstage, Firmen- und Vereinsfeiern.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460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30 Gastraum, 2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(130 Gastraum, 20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40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Eis,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17:00–22:00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Musik leise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Mittag 14 €, Brunch 13 €, Abend 29 € mit Getränk.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73752" cy="3374136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110996" y="4745736"/>
            <a:ext cx="4311396" cy="524866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110996" y="4745736"/>
            <a:ext cx="4311396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40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73582" y="4483303"/>
            <a:ext cx="487375" cy="262433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3582" y="4483303"/>
            <a:ext cx="487375" cy="262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148486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879549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610612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341675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4072738" y="4080281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148486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879549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610612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341675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4072738" y="3677260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148486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879549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610612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341675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4072738" y="3274238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148486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879549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610612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341675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4072738" y="2871216"/>
            <a:ext cx="318668" cy="17807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Fenstertisch 1"/>
          <p:cNvSpPr/>
          <p:nvPr/>
        </p:nvSpPr>
        <p:spPr>
          <a:xfrm>
            <a:off x="1036015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Fenstertisch 2"/>
          <p:cNvSpPr/>
          <p:nvPr/>
        </p:nvSpPr>
        <p:spPr>
          <a:xfrm>
            <a:off x="1476527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Fenstertisch 3"/>
          <p:cNvSpPr/>
          <p:nvPr/>
        </p:nvSpPr>
        <p:spPr>
          <a:xfrm>
            <a:off x="1917040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Fenstertisch 4"/>
          <p:cNvSpPr/>
          <p:nvPr/>
        </p:nvSpPr>
        <p:spPr>
          <a:xfrm>
            <a:off x="2357552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Fenstertisch 5"/>
          <p:cNvSpPr/>
          <p:nvPr/>
        </p:nvSpPr>
        <p:spPr>
          <a:xfrm>
            <a:off x="2798064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6"/>
          <p:cNvSpPr/>
          <p:nvPr/>
        </p:nvSpPr>
        <p:spPr>
          <a:xfrm>
            <a:off x="3238576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7"/>
          <p:cNvSpPr/>
          <p:nvPr/>
        </p:nvSpPr>
        <p:spPr>
          <a:xfrm>
            <a:off x="3679088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8"/>
          <p:cNvSpPr/>
          <p:nvPr/>
        </p:nvSpPr>
        <p:spPr>
          <a:xfrm>
            <a:off x="4119601" y="4492676"/>
            <a:ext cx="149962" cy="149962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Lounge"/>
          <p:cNvSpPr/>
          <p:nvPr/>
        </p:nvSpPr>
        <p:spPr>
          <a:xfrm>
            <a:off x="4485132" y="2964942"/>
            <a:ext cx="862279" cy="1405890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485132" y="2964942"/>
            <a:ext cx="862279" cy="1405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Plätze</a:t>
            </a:r>
            <a:endParaRPr lang="en-US" sz="1000" dirty="0"/>
          </a:p>
        </p:txBody>
      </p:sp>
      <p:sp>
        <p:nvSpPr>
          <p:cNvPr id="40" name="Bar"/>
          <p:cNvSpPr/>
          <p:nvPr/>
        </p:nvSpPr>
        <p:spPr>
          <a:xfrm>
            <a:off x="2048256" y="2365096"/>
            <a:ext cx="2249424" cy="262433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48256" y="2365096"/>
            <a:ext cx="2249424" cy="262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10 Barhocker</a:t>
            </a:r>
            <a:endParaRPr lang="en-US" sz="1000" dirty="0"/>
          </a:p>
        </p:txBody>
      </p:sp>
      <p:sp>
        <p:nvSpPr>
          <p:cNvPr id="42" name="Backbar"/>
          <p:cNvSpPr/>
          <p:nvPr/>
        </p:nvSpPr>
        <p:spPr>
          <a:xfrm>
            <a:off x="2048256" y="2187016"/>
            <a:ext cx="2249424" cy="103099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éparée"/>
          <p:cNvSpPr/>
          <p:nvPr/>
        </p:nvSpPr>
        <p:spPr>
          <a:xfrm>
            <a:off x="623621" y="1446581"/>
            <a:ext cx="1237183" cy="956005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3621" y="1446581"/>
            <a:ext cx="1237183" cy="956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Stahl-Glas-Wand</a:t>
            </a:r>
            <a:endParaRPr lang="en-US" sz="1000" dirty="0"/>
          </a:p>
        </p:txBody>
      </p:sp>
      <p:sp>
        <p:nvSpPr>
          <p:cNvPr id="45" name="Küche"/>
          <p:cNvSpPr/>
          <p:nvPr/>
        </p:nvSpPr>
        <p:spPr>
          <a:xfrm>
            <a:off x="2123237" y="1446581"/>
            <a:ext cx="1199693" cy="637337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123237" y="1446581"/>
            <a:ext cx="1199693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47" name="Lager und Kühlung"/>
          <p:cNvSpPr/>
          <p:nvPr/>
        </p:nvSpPr>
        <p:spPr>
          <a:xfrm>
            <a:off x="3341675" y="1446581"/>
            <a:ext cx="862279" cy="637337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341675" y="1446581"/>
            <a:ext cx="862279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49" name="WC"/>
          <p:cNvSpPr/>
          <p:nvPr/>
        </p:nvSpPr>
        <p:spPr>
          <a:xfrm>
            <a:off x="4222699" y="1446581"/>
            <a:ext cx="1124712" cy="637337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222699" y="1446581"/>
            <a:ext cx="1124712" cy="637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7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mit Tischen und Gängen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Fenstertische (2er)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Backbar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8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20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50.000 €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1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  <a:gridCol w="9144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Brunch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28.652 €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am Abend (Fr, 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 im Séparée (2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2.416 Gäste im Monat, im Schnitt ca. 93 pro Öffnungstag bei 150 Plätzen.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Catering, Weihnachtsfeiern und ein Mittagstisch an Samstagen.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30 %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führst die Gastro selbst oder verpachtest sie. Bei Verpachtung zahlt der Betreiber ca. 12 €/m² Pacht, das sind bei 460 m² ca. 5.520 € im Monat.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−5.520 €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ganze Haus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50.000 € Umsatz bleiben im ganzen Haus +6.351 € pro Monat (3,3 % Zins, ohne Förderung, ohne Lohn). Die Gastro braucht für Break-even im Haus ca. 29.000 €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150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200.000 € Ausbau steigt die Rate des Hauses um ca. 190 €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33 Plätze plus Wohnungen. Auf dem Grundstück passen nur ca. 8–10,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(150.000 € ist knapp)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2026-10-16T08:58:08Z</dcterms:created>
  <dcterms:modified xsi:type="dcterms:W3CDTF">2026-10-16T08:58:08Z</dcterms:modified>
</cp:coreProperties>
</file>