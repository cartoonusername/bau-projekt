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zu Plätzen, Preisen und Gästen sind Planungsannahmen, noch kein Betreiberkonzept.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Zielgruppen sind Annahmen, es gibt keine Marktstudie für Werlte. Eine Betreiber- und Wettbewerbsanalyse steht noch 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Vorschlag für Öffnungszeiten, Ruhetag Montag. Hauptfokus ist der Abend. Küche warm bis ca. 21:30 Uhr.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Gerichte und Preise sind Beispiele für die Kalkulation, kein fertiges Konzept. Küche: regional und modern, kurze Karte, frische Zutaten.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Konzeptideen und Zahlen sind Annahmen, keine Betreiberplanung. Der Abend bringt den größten Teil des Umsatzes.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Skizze, nicht maßstäblich genau. Aufteilung wird mit Gastro-Fachplaner und Architekt verfeinert. Süden liegt unten.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Stimmung nach dem Referenzbild des Bauherrn: olivgrüne Wände mit Vertäfelung, Cognac-Samt, schwarzer Stahl und warmes Licht.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Renderings zur Orientierung,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Terrasse mit Vordach zum Marktplatz. Nutzungszeiten und Lärmschutz mit der Stadt abstimmen.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Plausibilitätsrechnung mit Annahmen für Gäste und Bon. Ca. 6.000 € Umsatz je Sitzplatz und Jahr bei 190 Plätzen, Branchen-Median Österreich ca. 12.000 €.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Personal ca. 30 % vom Umsatz (Branchen-Richtwert). Der Lohn des Bauherrn ist nicht gerechnet. Beträge sind Arbeitgeber-Brutto, Annahmen.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Betreiberfirma: Marge vor Pacht 30,5 % vom Umsatz (Branchen-Richtwert, nicht aus Werlte). Pacht = Maximum aus 10 €/m² und 10 % vom Umsatz. Bei sehr niedrigem Umsatz drücken die Fixkosten stärker.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Hochgerechnet vom Budget des Bauherrn (150.000 € für 150 Plätze): 1.000 € je Platz bei 190 Plätzen.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Hinweise sind keine Rechtsberatung. Bitte mit Bauamt und Ordnungsamt klären.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passend zum Baubeginn Mitte 2027 und zur Eröffnung Ende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2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astraum mit Vertäfelung, Cognac-Banketten und 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 im Erdgeschoss: Gestaltung und Konzept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Bar-Restaurant für den ganzen Tag, ca. 510 m² im ganzen EG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Bebauungsplan Nr. 123, 1. Änderung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Idee: ein Ort für den ganzen Tag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Morgens und mittags"/>
          <p:cNvSpPr/>
          <p:nvPr/>
        </p:nvSpPr>
        <p:spPr>
          <a:xfrm>
            <a:off x="548640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Morgens und mittags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Frühstück, Brunch am Wochenende und Mittagstisch am Marktplatz. Regional, frisch, schnell für Beschäftigte aus Rathaus und Umgebung.</a:t>
            </a:r>
            <a:endParaRPr lang="en-US" sz="1400" dirty="0"/>
          </a:p>
        </p:txBody>
      </p:sp>
      <p:sp>
        <p:nvSpPr>
          <p:cNvPr id="8" name="Abends (Hauptfokus)"/>
          <p:cNvSpPr/>
          <p:nvPr/>
        </p:nvSpPr>
        <p:spPr>
          <a:xfrm>
            <a:off x="4337304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5904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Abends (Hauptfokus)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565904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Moderne, regionale Küche in warmer, dunkler Atmosphäre mit Cognac-Banketten und Kerzenlicht. Der Abend bringt ca. 75 % vom Umsatz.</a:t>
            </a:r>
            <a:endParaRPr lang="en-US" sz="1400" dirty="0"/>
          </a:p>
        </p:txBody>
      </p:sp>
      <p:sp>
        <p:nvSpPr>
          <p:cNvPr id="11" name="Bar und Feiern"/>
          <p:cNvSpPr/>
          <p:nvPr/>
        </p:nvSpPr>
        <p:spPr>
          <a:xfrm>
            <a:off x="8125968" y="1371600"/>
            <a:ext cx="351434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54568" y="1508760"/>
            <a:ext cx="3057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Feiern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54568" y="2057400"/>
            <a:ext cx="3057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21 Uhr Cocktails, Wein und Bier an der Theke, Fr und Sa bis 01 Uhr. Live-Abende, Séparée mit 30 Plätzen für Feiern.</a:t>
            </a:r>
            <a:endParaRPr lang="en-US" sz="1400" dirty="0"/>
          </a:p>
        </p:txBody>
      </p:sp>
      <p:sp>
        <p:nvSpPr>
          <p:cNvPr id="14" name="Kennzahl Gastro im ganzen EG"/>
          <p:cNvSpPr/>
          <p:nvPr/>
        </p:nvSpPr>
        <p:spPr>
          <a:xfrm>
            <a:off x="548640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510 m²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im ganzen EG</a:t>
            </a:r>
            <a:endParaRPr lang="en-US" sz="1300" dirty="0"/>
          </a:p>
        </p:txBody>
      </p:sp>
      <p:sp>
        <p:nvSpPr>
          <p:cNvPr id="17" name="Kennzahl Plätze innen (160 Gastraum, 30 Séparée)"/>
          <p:cNvSpPr/>
          <p:nvPr/>
        </p:nvSpPr>
        <p:spPr>
          <a:xfrm>
            <a:off x="3390138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3018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190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573018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innen (160 Gastraum, 30 Séparée)</a:t>
            </a:r>
            <a:endParaRPr lang="en-US" sz="1300" dirty="0"/>
          </a:p>
        </p:txBody>
      </p:sp>
      <p:sp>
        <p:nvSpPr>
          <p:cNvPr id="20" name="Kennzahl Plätze auf der Terrasse"/>
          <p:cNvSpPr/>
          <p:nvPr/>
        </p:nvSpPr>
        <p:spPr>
          <a:xfrm>
            <a:off x="6231636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14516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60</a:t>
            </a:r>
            <a:endParaRPr lang="en-US" sz="2800" dirty="0"/>
          </a:p>
        </p:txBody>
      </p:sp>
      <p:sp>
        <p:nvSpPr>
          <p:cNvPr id="22" name="Text 19"/>
          <p:cNvSpPr txBox="1"/>
          <p:nvPr/>
        </p:nvSpPr>
        <p:spPr>
          <a:xfrm>
            <a:off x="6414516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Plätze auf der Terrasse</a:t>
            </a:r>
            <a:endParaRPr lang="en-US" sz="1300" dirty="0"/>
          </a:p>
        </p:txBody>
      </p:sp>
      <p:sp>
        <p:nvSpPr>
          <p:cNvPr id="23" name="Kennzahl Barhocker an der Theke"/>
          <p:cNvSpPr/>
          <p:nvPr/>
        </p:nvSpPr>
        <p:spPr>
          <a:xfrm>
            <a:off x="9073134" y="3840480"/>
            <a:ext cx="2567178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256014" y="3931920"/>
            <a:ext cx="22014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9256014" y="4572000"/>
            <a:ext cx="22014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Barhocker an der Theke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Arbeitstitel: Bar-Restaurant am Marktplatz. Ein Name und eine Marke sind noch offen.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Wer kommt und warum hier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4" name="Tabelle Zielgrupp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834640"/>
                <a:gridCol w="40507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Zielgruppe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Was sie suchen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Beschäftigte aus Rathaus und Umgebung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Mittag, Di–Fr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frisch, fair im 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Familien und Senioren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Platz, Frühstück, Kaffee und Kuchen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Paare und Freunde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gemütlich essen und trinken am Marktplatz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Vereine, Firmen, Familienfeiern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 Absprache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 mit Menü, Getränkepaket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Radtouristen und Besucher aus dem Hümmling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Sommer, Wochenende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Terrasse, Kaffee, regionale Küche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Lage"/>
          <p:cNvSpPr/>
          <p:nvPr/>
        </p:nvSpPr>
        <p:spPr>
          <a:xfrm>
            <a:off x="548640" y="466344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75488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neuen Marktplatz neben dem Rathaus, ab Ende 2028 mit der neuen Mitte fertig. Die Terrasse zum Platz und die vollverglaste Fassade machen die Gastro von außen sichtbar.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Tag in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5" name="Tabelle Tagesablau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19202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Stimmung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08:00–11:00 (Di–Fr), 09:00–14:00 (Sa, 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Frühstück, am Wochenende Brunch, Kaffee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hell, entspannt, Familien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11:30–14:30 (Di–Fr)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Mittagstisch, Tagesgericht, Suppe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schnell, Tische für zwei und vier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14:30–17:30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Kaffee, Kuchen, kleine Karte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ruhig, Terrasse im Sommer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17:30–22:00 (Di–So)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Abendessen, Wein, Bier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Kerzenlicht, Banketten, Hauptgeschäft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 21:00 (Fr, Sa 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Bar, Cocktails, Live-Abende, leise Musik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Theke, Lounge,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Frühstück am Fen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371600"/>
            <a:ext cx="4480560" cy="301752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59752" y="44348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 und Brunch am Morgen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Speisen und Getränke (Beispielkarte)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rühstück und Brunch"/>
          <p:cNvSpPr/>
          <p:nvPr/>
        </p:nvSpPr>
        <p:spPr>
          <a:xfrm>
            <a:off x="548640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Frühstück und Brunch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Frühstücksteller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Eggs Benedict 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Pancakes mit Früchten 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Brunch am Sonntag 22,90 €</a:t>
            </a:r>
            <a:endParaRPr lang="en-US" sz="1300" dirty="0"/>
          </a:p>
        </p:txBody>
      </p:sp>
      <p:sp>
        <p:nvSpPr>
          <p:cNvPr id="8" name="Mittagstisch"/>
          <p:cNvSpPr/>
          <p:nvPr/>
        </p:nvSpPr>
        <p:spPr>
          <a:xfrm>
            <a:off x="3390138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73018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Mittagstisch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73018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Tagesgericht 10,90–13,90 €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Bowl mit Gemüse und Huhn 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Flammkuchen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Suppe des Tages 6,50 €</a:t>
            </a:r>
            <a:endParaRPr lang="en-US" sz="1300" dirty="0"/>
          </a:p>
        </p:txBody>
      </p:sp>
      <p:sp>
        <p:nvSpPr>
          <p:cNvPr id="11" name="Abendkarte"/>
          <p:cNvSpPr/>
          <p:nvPr/>
        </p:nvSpPr>
        <p:spPr>
          <a:xfrm>
            <a:off x="6231636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14516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Abendkarte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6414516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Burrata mit Tomaten 11,90 €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Burger vom Weiderind 16,90 €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Schnitzel, regional 18,90 €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Pasta, vegetarisch 14,90 €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Steak mit Beilage 29,90 €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Dessert 7,90 €</a:t>
            </a:r>
            <a:endParaRPr lang="en-US" sz="1300" dirty="0"/>
          </a:p>
        </p:txBody>
      </p:sp>
      <p:sp>
        <p:nvSpPr>
          <p:cNvPr id="14" name="Bar und Getränke"/>
          <p:cNvSpPr/>
          <p:nvPr/>
        </p:nvSpPr>
        <p:spPr>
          <a:xfrm>
            <a:off x="9073134" y="1371600"/>
            <a:ext cx="2567178" cy="3657600"/>
          </a:xfrm>
          <a:prstGeom prst="roundRect">
            <a:avLst>
              <a:gd name="adj" fmla="val 28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6014" y="1481328"/>
            <a:ext cx="220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 und Getränke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9256014" y="2011680"/>
            <a:ext cx="220141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Cocktails 9,90–12,90 €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Wein 0,2 l ab 6,50 €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Bier vom Fass 0,3 l 3,90 €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Kaffee 3,20 €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Alkoholfreie Cocktails 6,90 €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Durchschnittlicher Bon (Annahme): Frühstück 11 €, Brunch 14 €, Mittag 14 €, Abendessen 32 €, Bar 18–22 €, Feiern 45 €.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Hauptfokus Abend: Restaurant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Bar am Abend mit beleuchteter Backb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2743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0" y="1371600"/>
            <a:ext cx="6611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(17:30–22:00)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Kurze, moderne Karte mit regionalen Zutaten, Steaks und Burger, Wein-Empfehlung zum Essen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Reservierung für Gruppen, Tische für zwei bis acht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 (ab 21:00, Fr und Sa bis 01:00)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Signature-Cocktails, regionale Weine, Craft-Bier vom Fass, alkoholfreie Drinks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After-Work am Donnerstag, Live-Musik oder DJ am Freitag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Feiern und Events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Séparée, Themenabende, Firmen- und Vereinsfeiern, Weihnachtsfeiern</a:t>
            </a:r>
            <a:endParaRPr lang="en-US" sz="1300" dirty="0"/>
          </a:p>
        </p:txBody>
      </p:sp>
      <p:graphicFrame>
        <p:nvGraphicFramePr>
          <p:cNvPr id="7" name="Tabelle Abe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74980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822960"/>
                <a:gridCol w="1005840"/>
                <a:gridCol w="914400"/>
                <a:gridCol w="128016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Abend-Bereich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Gäste/Tag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Abend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3"/>
          <p:cNvSpPr txBox="1"/>
          <p:nvPr/>
        </p:nvSpPr>
        <p:spPr>
          <a:xfrm>
            <a:off x="8229600" y="4663440"/>
            <a:ext cx="3410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 vom Gastro-Umsatz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Raumkonzept: Grundriss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astro EG"/>
          <p:cNvSpPr/>
          <p:nvPr/>
        </p:nvSpPr>
        <p:spPr>
          <a:xfrm>
            <a:off x="548640" y="1371600"/>
            <a:ext cx="4864608" cy="3127248"/>
          </a:xfrm>
          <a:prstGeom prst="rect">
            <a:avLst/>
          </a:prstGeom>
          <a:solidFill>
            <a:srgbClr val="F2D48C"/>
          </a:solidFill>
          <a:ln w="19050">
            <a:solidFill>
              <a:srgbClr val="5B6770"/>
            </a:solidFill>
            <a:prstDash val="solid"/>
          </a:ln>
        </p:spPr>
      </p:sp>
      <p:sp>
        <p:nvSpPr>
          <p:cNvPr id="6" name="Terrasse"/>
          <p:cNvSpPr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solidFill>
            <a:srgbClr val="D6B98F"/>
          </a:solidFill>
          <a:ln w="12700">
            <a:solidFill>
              <a:srgbClr val="5B6770"/>
            </a:solidFill>
            <a:prstDash val="dash"/>
          </a:ln>
        </p:spPr>
      </p:sp>
      <p:sp>
        <p:nvSpPr>
          <p:cNvPr id="7" name="Text 4"/>
          <p:cNvSpPr txBox="1"/>
          <p:nvPr/>
        </p:nvSpPr>
        <p:spPr>
          <a:xfrm>
            <a:off x="1069848" y="4498848"/>
            <a:ext cx="43434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Terrasse, ca. 60 Plätze</a:t>
            </a:r>
            <a:endParaRPr lang="en-US" sz="1000" dirty="0"/>
          </a:p>
        </p:txBody>
      </p:sp>
      <p:sp>
        <p:nvSpPr>
          <p:cNvPr id="8" name="Eingang"/>
          <p:cNvSpPr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7123" y="4255618"/>
            <a:ext cx="451714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Eingang</a:t>
            </a:r>
            <a:endParaRPr lang="en-US" sz="900" dirty="0"/>
          </a:p>
        </p:txBody>
      </p:sp>
      <p:sp>
        <p:nvSpPr>
          <p:cNvPr id="10" name="Tisch 1"/>
          <p:cNvSpPr/>
          <p:nvPr/>
        </p:nvSpPr>
        <p:spPr>
          <a:xfrm>
            <a:off x="106984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isch 2"/>
          <p:cNvSpPr/>
          <p:nvPr/>
        </p:nvSpPr>
        <p:spPr>
          <a:xfrm>
            <a:off x="1747418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isch 3"/>
          <p:cNvSpPr/>
          <p:nvPr/>
        </p:nvSpPr>
        <p:spPr>
          <a:xfrm>
            <a:off x="242498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isch 4"/>
          <p:cNvSpPr/>
          <p:nvPr/>
        </p:nvSpPr>
        <p:spPr>
          <a:xfrm>
            <a:off x="3102559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isch 5"/>
          <p:cNvSpPr/>
          <p:nvPr/>
        </p:nvSpPr>
        <p:spPr>
          <a:xfrm>
            <a:off x="3780130" y="3882085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isch 6"/>
          <p:cNvSpPr/>
          <p:nvPr/>
        </p:nvSpPr>
        <p:spPr>
          <a:xfrm>
            <a:off x="106984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isch 7"/>
          <p:cNvSpPr/>
          <p:nvPr/>
        </p:nvSpPr>
        <p:spPr>
          <a:xfrm>
            <a:off x="1747418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7" name="Tisch 8"/>
          <p:cNvSpPr/>
          <p:nvPr/>
        </p:nvSpPr>
        <p:spPr>
          <a:xfrm>
            <a:off x="242498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isch 9"/>
          <p:cNvSpPr/>
          <p:nvPr/>
        </p:nvSpPr>
        <p:spPr>
          <a:xfrm>
            <a:off x="3102559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isch 10"/>
          <p:cNvSpPr/>
          <p:nvPr/>
        </p:nvSpPr>
        <p:spPr>
          <a:xfrm>
            <a:off x="3780130" y="3578047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isch 11"/>
          <p:cNvSpPr/>
          <p:nvPr/>
        </p:nvSpPr>
        <p:spPr>
          <a:xfrm>
            <a:off x="106984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Tisch 12"/>
          <p:cNvSpPr/>
          <p:nvPr/>
        </p:nvSpPr>
        <p:spPr>
          <a:xfrm>
            <a:off x="1747418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isch 13"/>
          <p:cNvSpPr/>
          <p:nvPr/>
        </p:nvSpPr>
        <p:spPr>
          <a:xfrm>
            <a:off x="242498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Tisch 14"/>
          <p:cNvSpPr/>
          <p:nvPr/>
        </p:nvSpPr>
        <p:spPr>
          <a:xfrm>
            <a:off x="3102559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isch 15"/>
          <p:cNvSpPr/>
          <p:nvPr/>
        </p:nvSpPr>
        <p:spPr>
          <a:xfrm>
            <a:off x="3780130" y="3274009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Tisch 16"/>
          <p:cNvSpPr/>
          <p:nvPr/>
        </p:nvSpPr>
        <p:spPr>
          <a:xfrm>
            <a:off x="106984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isch 17"/>
          <p:cNvSpPr/>
          <p:nvPr/>
        </p:nvSpPr>
        <p:spPr>
          <a:xfrm>
            <a:off x="1747418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isch 18"/>
          <p:cNvSpPr/>
          <p:nvPr/>
        </p:nvSpPr>
        <p:spPr>
          <a:xfrm>
            <a:off x="242498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isch 19"/>
          <p:cNvSpPr/>
          <p:nvPr/>
        </p:nvSpPr>
        <p:spPr>
          <a:xfrm>
            <a:off x="3102559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9" name="Tisch 20"/>
          <p:cNvSpPr/>
          <p:nvPr/>
        </p:nvSpPr>
        <p:spPr>
          <a:xfrm>
            <a:off x="3780130" y="2969971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0" name="Tisch 21"/>
          <p:cNvSpPr/>
          <p:nvPr/>
        </p:nvSpPr>
        <p:spPr>
          <a:xfrm>
            <a:off x="106984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isch 22"/>
          <p:cNvSpPr/>
          <p:nvPr/>
        </p:nvSpPr>
        <p:spPr>
          <a:xfrm>
            <a:off x="1747418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2" name="Tisch 23"/>
          <p:cNvSpPr/>
          <p:nvPr/>
        </p:nvSpPr>
        <p:spPr>
          <a:xfrm>
            <a:off x="242498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Tisch 24"/>
          <p:cNvSpPr/>
          <p:nvPr/>
        </p:nvSpPr>
        <p:spPr>
          <a:xfrm>
            <a:off x="3102559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isch 25"/>
          <p:cNvSpPr/>
          <p:nvPr/>
        </p:nvSpPr>
        <p:spPr>
          <a:xfrm>
            <a:off x="3780130" y="2665933"/>
            <a:ext cx="295351" cy="165049"/>
          </a:xfrm>
          <a:prstGeom prst="rect">
            <a:avLst/>
          </a:prstGeom>
          <a:solidFill>
            <a:srgbClr val="8A6A4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5" name="Fenstertisch 1"/>
          <p:cNvSpPr/>
          <p:nvPr/>
        </p:nvSpPr>
        <p:spPr>
          <a:xfrm>
            <a:off x="965606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Fenstertisch 2"/>
          <p:cNvSpPr/>
          <p:nvPr/>
        </p:nvSpPr>
        <p:spPr>
          <a:xfrm>
            <a:off x="1434694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Fenstertisch 3"/>
          <p:cNvSpPr/>
          <p:nvPr/>
        </p:nvSpPr>
        <p:spPr>
          <a:xfrm>
            <a:off x="1903781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Fenstertisch 4"/>
          <p:cNvSpPr/>
          <p:nvPr/>
        </p:nvSpPr>
        <p:spPr>
          <a:xfrm>
            <a:off x="2372868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Fenstertisch 5"/>
          <p:cNvSpPr/>
          <p:nvPr/>
        </p:nvSpPr>
        <p:spPr>
          <a:xfrm>
            <a:off x="2841955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Fenstertisch 6"/>
          <p:cNvSpPr/>
          <p:nvPr/>
        </p:nvSpPr>
        <p:spPr>
          <a:xfrm>
            <a:off x="3311042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Fenstertisch 7"/>
          <p:cNvSpPr/>
          <p:nvPr/>
        </p:nvSpPr>
        <p:spPr>
          <a:xfrm>
            <a:off x="3780130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Fenstertisch 8"/>
          <p:cNvSpPr/>
          <p:nvPr/>
        </p:nvSpPr>
        <p:spPr>
          <a:xfrm>
            <a:off x="4249217" y="4264304"/>
            <a:ext cx="138989" cy="138989"/>
          </a:xfrm>
          <a:prstGeom prst="rect">
            <a:avLst/>
          </a:prstGeom>
          <a:solidFill>
            <a:srgbClr val="A8723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Lounge"/>
          <p:cNvSpPr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solidFill>
            <a:srgbClr val="B07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4509821" y="2691994"/>
            <a:ext cx="833933" cy="1459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Lounge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Plätze</a:t>
            </a:r>
            <a:endParaRPr lang="en-US" sz="1000" dirty="0"/>
          </a:p>
        </p:txBody>
      </p:sp>
      <p:sp>
        <p:nvSpPr>
          <p:cNvPr id="45" name="Bar"/>
          <p:cNvSpPr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solidFill>
            <a:srgbClr val="3A3F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938528" y="2292401"/>
            <a:ext cx="225856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Bar, 12 Barhocker</a:t>
            </a:r>
            <a:endParaRPr lang="en-US" sz="1000" dirty="0"/>
          </a:p>
        </p:txBody>
      </p:sp>
      <p:sp>
        <p:nvSpPr>
          <p:cNvPr id="47" name="Backbar"/>
          <p:cNvSpPr/>
          <p:nvPr/>
        </p:nvSpPr>
        <p:spPr>
          <a:xfrm>
            <a:off x="1938528" y="2127352"/>
            <a:ext cx="2258568" cy="95555"/>
          </a:xfrm>
          <a:prstGeom prst="rect">
            <a:avLst/>
          </a:prstGeom>
          <a:solidFill>
            <a:srgbClr val="5B4B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éparée"/>
          <p:cNvSpPr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solidFill>
            <a:srgbClr val="7A5C3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18134" y="1441094"/>
            <a:ext cx="1250899" cy="886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Plätze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Stahl-Glas-Wand</a:t>
            </a:r>
            <a:endParaRPr lang="en-US" sz="1000" dirty="0"/>
          </a:p>
        </p:txBody>
      </p:sp>
      <p:sp>
        <p:nvSpPr>
          <p:cNvPr id="50" name="Küche"/>
          <p:cNvSpPr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solidFill>
            <a:srgbClr val="7E8A9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022" y="1441094"/>
            <a:ext cx="11119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52" name="Lager und Kühlung"/>
          <p:cNvSpPr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solidFill>
            <a:srgbClr val="A6ADB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137306" y="1441094"/>
            <a:ext cx="799186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Lager,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Kühlung</a:t>
            </a:r>
            <a:endParaRPr lang="en-US" sz="1000" dirty="0"/>
          </a:p>
        </p:txBody>
      </p:sp>
      <p:sp>
        <p:nvSpPr>
          <p:cNvPr id="54" name="WC"/>
          <p:cNvSpPr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solidFill>
            <a:srgbClr val="8A919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3953866" y="1441094"/>
            <a:ext cx="1389888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 (H, D, barrierefrei)</a:t>
            </a:r>
            <a:endParaRPr lang="en-US" sz="1000" dirty="0"/>
          </a:p>
        </p:txBody>
      </p:sp>
      <p:graphicFrame>
        <p:nvGraphicFramePr>
          <p:cNvPr id="8" name="Tabelle Zon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71600"/>
          <a:ext cx="57424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444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Gastraum (Tische, Fenster, Gänge)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304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Lounge in der Ecke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und Theken-Zone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25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Stehtische an der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Gastraum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Séparée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42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Küche, Lager, WC, Eingang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139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510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190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7" name="Text 53"/>
          <p:cNvSpPr txBox="1"/>
          <p:nvPr/>
        </p:nvSpPr>
        <p:spPr>
          <a:xfrm>
            <a:off x="5897880" y="5120640"/>
            <a:ext cx="5742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Treppenhaus und Aufzug zu den Wohnungen liegen am Westende des Hauses und sind von der Gastro getrennt.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Gestaltung: warm, dunkel, hochwertig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Farbe Olivgrün"/>
          <p:cNvSpPr/>
          <p:nvPr/>
        </p:nvSpPr>
        <p:spPr>
          <a:xfrm>
            <a:off x="548640" y="1371600"/>
            <a:ext cx="1600200" cy="731520"/>
          </a:xfrm>
          <a:prstGeom prst="rect">
            <a:avLst/>
          </a:prstGeom>
          <a:solidFill>
            <a:srgbClr val="3D4638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Wände mit Vertäfelung</a:t>
            </a:r>
            <a:endParaRPr lang="en-US" sz="1100" dirty="0"/>
          </a:p>
        </p:txBody>
      </p:sp>
      <p:sp>
        <p:nvSpPr>
          <p:cNvPr id="8" name="Farbe Cognac"/>
          <p:cNvSpPr/>
          <p:nvPr/>
        </p:nvSpPr>
        <p:spPr>
          <a:xfrm>
            <a:off x="2331720" y="1371600"/>
            <a:ext cx="1600200" cy="731520"/>
          </a:xfrm>
          <a:prstGeom prst="rect">
            <a:avLst/>
          </a:prstGeom>
          <a:solidFill>
            <a:srgbClr val="A9692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33172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Cognac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Samt-Banketten</a:t>
            </a:r>
            <a:endParaRPr lang="en-US" sz="1100" dirty="0"/>
          </a:p>
        </p:txBody>
      </p:sp>
      <p:sp>
        <p:nvSpPr>
          <p:cNvPr id="11" name="Farbe Bordeaux"/>
          <p:cNvSpPr/>
          <p:nvPr/>
        </p:nvSpPr>
        <p:spPr>
          <a:xfrm>
            <a:off x="4114800" y="1371600"/>
            <a:ext cx="1600200" cy="731520"/>
          </a:xfrm>
          <a:prstGeom prst="rect">
            <a:avLst/>
          </a:prstGeom>
          <a:solidFill>
            <a:srgbClr val="6B1E2E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1480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Bordeaux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Kissen, Akzentlampe</a:t>
            </a:r>
            <a:endParaRPr lang="en-US" sz="1100" dirty="0"/>
          </a:p>
        </p:txBody>
      </p:sp>
      <p:sp>
        <p:nvSpPr>
          <p:cNvPr id="14" name="Farbe Eiche"/>
          <p:cNvSpPr/>
          <p:nvPr/>
        </p:nvSpPr>
        <p:spPr>
          <a:xfrm>
            <a:off x="5897880" y="1371600"/>
            <a:ext cx="1600200" cy="731520"/>
          </a:xfrm>
          <a:prstGeom prst="rect">
            <a:avLst/>
          </a:prstGeom>
          <a:solidFill>
            <a:srgbClr val="B88652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7880" y="21488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Eiche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39572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Tische, Theke oben</a:t>
            </a:r>
            <a:endParaRPr lang="en-US" sz="1100" dirty="0"/>
          </a:p>
        </p:txBody>
      </p:sp>
      <p:sp>
        <p:nvSpPr>
          <p:cNvPr id="17" name="Farbe Anthrazit"/>
          <p:cNvSpPr/>
          <p:nvPr/>
        </p:nvSpPr>
        <p:spPr>
          <a:xfrm>
            <a:off x="548640" y="2788920"/>
            <a:ext cx="1600200" cy="731520"/>
          </a:xfrm>
          <a:prstGeom prst="rect">
            <a:avLst/>
          </a:prstGeom>
          <a:solidFill>
            <a:srgbClr val="2B2E31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Anthrazit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Theke, geriffelte Front</a:t>
            </a:r>
            <a:endParaRPr lang="en-US" sz="1100" dirty="0"/>
          </a:p>
        </p:txBody>
      </p:sp>
      <p:sp>
        <p:nvSpPr>
          <p:cNvPr id="20" name="Farbe Messing"/>
          <p:cNvSpPr/>
          <p:nvPr/>
        </p:nvSpPr>
        <p:spPr>
          <a:xfrm>
            <a:off x="2331720" y="2788920"/>
            <a:ext cx="1600200" cy="731520"/>
          </a:xfrm>
          <a:prstGeom prst="rect">
            <a:avLst/>
          </a:prstGeom>
          <a:solidFill>
            <a:srgbClr val="B08D57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33172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Messing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233172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Lampen, Details</a:t>
            </a:r>
            <a:endParaRPr lang="en-US" sz="1100" dirty="0"/>
          </a:p>
        </p:txBody>
      </p:sp>
      <p:sp>
        <p:nvSpPr>
          <p:cNvPr id="23" name="Farbe Creme"/>
          <p:cNvSpPr/>
          <p:nvPr/>
        </p:nvSpPr>
        <p:spPr>
          <a:xfrm>
            <a:off x="4114800" y="2788920"/>
            <a:ext cx="1600200" cy="731520"/>
          </a:xfrm>
          <a:prstGeom prst="rect">
            <a:avLst/>
          </a:prstGeom>
          <a:solidFill>
            <a:srgbClr val="E8DCC4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11480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Creme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411480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Pampas, Textilien</a:t>
            </a:r>
            <a:endParaRPr lang="en-US" sz="1100" dirty="0"/>
          </a:p>
        </p:txBody>
      </p:sp>
      <p:sp>
        <p:nvSpPr>
          <p:cNvPr id="26" name="Farbe Schwarzstahl"/>
          <p:cNvSpPr/>
          <p:nvPr/>
        </p:nvSpPr>
        <p:spPr>
          <a:xfrm>
            <a:off x="5897880" y="2788920"/>
            <a:ext cx="1600200" cy="731520"/>
          </a:xfrm>
          <a:prstGeom prst="rect">
            <a:avLst/>
          </a:prstGeom>
          <a:solidFill>
            <a:srgbClr val="1E2326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897880" y="356616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Schwarzstahl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5897880" y="3813048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Glaswand mit Raster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38912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Licht: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indirekte Voutenbeleuchtung an der Decke, Glaspendel mit Messing, geriffelte Tischlichter mit Kerze.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 und Akustik: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Betonoptik oder Mikrozement, Akustikdecke und Textilien gegen Lärm.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ovale und Bogen-Spiegel, Pampasgras als Wandobjekt, Stahl-Glas-Trennwand zum Séparée.</a:t>
            </a:r>
            <a:endParaRPr lang="en-US" sz="1300" dirty="0"/>
          </a:p>
        </p:txBody>
      </p:sp>
      <p:pic>
        <p:nvPicPr>
          <p:cNvPr id="30" name="Image 0" descr="Bar mit anthrazitfarbener geriffelter 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8472" y="1371600"/>
            <a:ext cx="3291840" cy="4480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kann es aussehen: Gastraum und Bar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Gastraum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08676" cy="3042380"/>
          </a:xfrm>
          <a:prstGeom prst="rect">
            <a:avLst/>
          </a:prstGeom>
        </p:spPr>
      </p:pic>
      <p:pic>
        <p:nvPicPr>
          <p:cNvPr id="6" name="Image 1" descr="Séparée mit Stahl-Glas-W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636" y="1371600"/>
            <a:ext cx="5408676" cy="304238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 am Abend: Banketten, Glaswand, Bar im Hintergrund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31636" y="4459700"/>
            <a:ext cx="54086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Séparée für Feiern mit 30 Plätzen, hinter Stahl und Glas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Terrasse und Außenwirkung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pic>
        <p:nvPicPr>
          <p:cNvPr id="5" name="Image 0" descr="Terrasse am Ab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486400" cy="3086100"/>
          </a:xfrm>
          <a:prstGeom prst="rect">
            <a:avLst/>
          </a:prstGeom>
        </p:spPr>
      </p:pic>
      <p:pic>
        <p:nvPicPr>
          <p:cNvPr id="6" name="Image 1" descr="Haus am Ab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486400" cy="30861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640580"/>
            <a:ext cx="110916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60 Plätze auf Holzdeck unter dunklem Stahl-Vordach, Heizstrahler und Windschutz verlängern die Saison.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vollverglaste Fassade über die ganze Länge zeigt das Leben im Haus und zieht Gäste an.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Wohnungen darüber haben eigene Eingänge und Balkone zur anderen Seite, wichtig für Ruhe.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95.635 € Umsatz im Monat zusammenkommen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2" name="Tabelle Umsatzauf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49808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822960"/>
                <a:gridCol w="914400"/>
                <a:gridCol w="8229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Tage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 pro Tag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Ø Bon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Frühstück werktags (Di–Fr 08:00–11:00)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Brunch am Wochenende (Sa, So 09:00–14:00)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Mittagstisch (Di–Fr 11:30–14:30)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Abendessen Restaurant (Di–So 17:30–22:00)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45.760 €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Di–Do (ab 21:00)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 Fr, Sa (bis 01:00) (Cocktails, Wein, Bier, Musik)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Feiern, Live-Abende, Séparée (nach Absprache, 4 pro Monat)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Einordnung"/>
          <p:cNvSpPr/>
          <p:nvPr/>
        </p:nvSpPr>
        <p:spPr>
          <a:xfrm>
            <a:off x="8412480" y="1371600"/>
            <a:ext cx="3227832" cy="4114800"/>
          </a:xfrm>
          <a:prstGeom prst="roundRect">
            <a:avLst>
              <a:gd name="adj" fmla="val 22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641080" y="1554480"/>
            <a:ext cx="277063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bedeutet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4.295 Gäste im Monat, im Schnitt ca. 165 pro Öffnungstag bei 190 Plätzen. Der Abend (Restaurant, Bar, Feiern) bringt 75 % vom Umsatz.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eingerechnet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Terrasse im Sommer, Catering und Weihnachtsfeiern. Das ist Spielraum nach oben.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Betrieb und Personal (Beispiel)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3" name="Tabelle Person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74320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/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Küchenchef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Vollzeit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Koch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Küchenhilfe, Spülen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Teilzeit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7 Teilzeit und Minijobs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entspricht 20 % vom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Betrieb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92440" y="155448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eigene Betreiberfirma des Bauherrn pachtet die Gastro von der Vermietungs-GbR. Die Pacht beträgt 10 % vom Umsatz, mindestens 10 €/m². Bei Plan-Umsatz sind das 9.564 € im Monat (18.75 €/m²).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Küchenchef früh einstellen, 4 bis 6 Wochen vor Eröffnung Probebetrieb.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Wirtschaftlichkeit der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4" name="Tabelle Gastro Gewin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680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1828800"/>
                <a:gridCol w="18288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Umsatz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vor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 die GbR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−5.100 €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−6.500 €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95.635 €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29.169 €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−9.563 €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+19.605 €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+22.550 €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Haus"/>
          <p:cNvSpPr/>
          <p:nvPr/>
        </p:nvSpPr>
        <p:spPr>
          <a:xfrm>
            <a:off x="8595360" y="1371600"/>
            <a:ext cx="3044952" cy="38404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554480"/>
            <a:ext cx="258775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Betreiberfirma und GbR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95.635 € Umsatz verdient die Betreiberfirma +19.605 € pro Monat nach Pacht (ohne Lohn). Die Vermietungs-GbR bekommt 9.564 € Pacht und deckt damit ihre Raten ab ca. 101.800 € Umsatz.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 im Detail (Wareneinsatz, Personal, Energie ...) stehen im Anhang der Hauptpräsentation.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Ausbau: Budget und Posten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</a:t>
            </a:r>
            <a:endParaRPr lang="en-US" sz="1000" dirty="0"/>
          </a:p>
        </p:txBody>
      </p:sp>
      <p:graphicFrame>
        <p:nvGraphicFramePr>
          <p:cNvPr id="15" name="Tabelle 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190 Plätze, Lounge, Séparée)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Heizstrahler, 60 Plätze)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190.000 €)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190.050 €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"/>
          <p:cNvSpPr/>
          <p:nvPr/>
        </p:nvSpPr>
        <p:spPr>
          <a:xfrm>
            <a:off x="8229600" y="128016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6304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250.000 € Ausbau steigt die Rate des Hauses um ca. 228 € im Monat. Der Schallschutz zur Decke und die Küchenabluft (über Dach, weg von den Wohnungen) gehören unbedingt in die Planung.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Genehmigung, Recht und Risiken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onzession und Hygiene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Konzession und Hygiene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Gaststättenerlaubnis beim Ordnungsamt, Hygienekonzept und Lebensmittelaufsicht, Alkoholausschank anmelden.</a:t>
            </a:r>
            <a:endParaRPr lang="en-US" sz="1300" dirty="0"/>
          </a:p>
        </p:txBody>
      </p:sp>
      <p:sp>
        <p:nvSpPr>
          <p:cNvPr id="8" name="Schall und Abluft"/>
          <p:cNvSpPr/>
          <p:nvPr/>
        </p:nvSpPr>
        <p:spPr>
          <a:xfrm>
            <a:off x="6217920" y="137160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08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Schall und Abluft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659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unter Wohnungen: Schallschutz der Decke, leise Technik, Abluft der Küche über Dach. Nutzungszeiten der Terrasse klären.</a:t>
            </a:r>
            <a:endParaRPr lang="en-US" sz="1300" dirty="0"/>
          </a:p>
        </p:txBody>
      </p:sp>
      <p:sp>
        <p:nvSpPr>
          <p:cNvPr id="11" name="Stellplätze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der großen Gastro ca. 37 Plätze, mit Büros und Wohnungen ca. 55. Auf dem Grundstück passen nur ca. 6–8, Rest über die öffentliche Parkfläche oder Ablöse.</a:t>
            </a:r>
            <a:endParaRPr lang="en-US" sz="1300" dirty="0"/>
          </a:p>
        </p:txBody>
      </p:sp>
      <p:sp>
        <p:nvSpPr>
          <p:cNvPr id="14" name="Markt und Betreiber"/>
          <p:cNvSpPr/>
          <p:nvPr/>
        </p:nvSpPr>
        <p:spPr>
          <a:xfrm>
            <a:off x="6217920" y="3566160"/>
            <a:ext cx="539496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46520" y="37033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Markt und Betreiber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16052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Marktdaten für Werlte. Erfahrener Betreiber oder Küchenchef früh gewinnen, Probebetrieb und vorsichtiger Start.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 für die Gastro</a:t>
            </a:r>
            <a:endParaRPr lang="en-US" sz="27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Marke und Zielgruppe festlegen, Betreiber oder Küchenchef ansprechen</a:t>
            </a:r>
            <a:endParaRPr lang="en-US" sz="15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Gastro-Fachplaner: Küche, Lüftung, Schallschutz, genaue Plätze</a:t>
            </a:r>
            <a:endParaRPr lang="en-US" sz="15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Angebote für Ausbau einholen, Budget prüfen (190.000 €)</a:t>
            </a:r>
            <a:endParaRPr lang="en-US" sz="15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Innenarchitektur und Möbel bestellen, Speisekarte und Preise kalkulieren</a:t>
            </a:r>
            <a:endParaRPr lang="en-US" sz="15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2028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01752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einstellen, Probebetrieb, Genehmigungen</a:t>
            </a:r>
            <a:endParaRPr lang="en-US" sz="15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301752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Gestaltung und Konzept</dc:title>
  <dc:subject>PptxGenJS Presentation</dc:subject>
  <dc:creator>Bessam Hasso</dc:creator>
  <cp:lastModifiedBy>Bessam Hasso</cp:lastModifiedBy>
  <cp:revision>1</cp:revision>
  <dcterms:created xsi:type="dcterms:W3CDTF">2026-10-22T17:07:40Z</dcterms:created>
  <dcterms:modified xsi:type="dcterms:W3CDTF">2026-10-22T17:07:40Z</dcterms:modified>
</cp:coreProperties>
</file>