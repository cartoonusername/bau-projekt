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Quellen: KfW-Infoblatt Klimafreundlicher Neubau und Ratgeberseiten (Oktober 2026). Die KfW-Seiten selbst waren nicht abrufbar, die Ratgeber widersprechen sich bei den Zinsen.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Mehrkosten für Effizienzhaus 40 und QNG-Nachweis angenommen mit 3 % der Baukosten, das sind ca. 116.886 €. Das ist eine Annahme, der Architekt muss sie bestätigen.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Zinsen für KfW laut Ratgebern ca. 0,6 bis 3,05 %, einer nennt 1,94 % für EH40 (10 Jahre, 2 tilgungsfreie Jahre). Hier gerechnet mit 1, 2 und 3 %. Rest des Kredits zu 4,0 %. Ohne Förderung, 1 % Tilgung, 50.000 € Umsatz.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Jeder Käufer einer Wohnung kann den KfW-Kredit 298 für seine Wohnung beantragen, wenn er sie vermietet. Selbstkosten-Preis, Miete 11,18 €/m², 1 % Tilgung, Rest zu 4,0 %.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Hauptpräsentation rechnet die Förderung als Zuschuss in Prozent der Kosten. Die KfW bietet im Neubau keinen Zuschuss.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Verbindlich sind nur die Konditionen von KfW und Hausbank am Tag der Zusage.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p:bg>
      <p:bgPr>
        <a:solidFill>
          <a:srgbClr val="2F4A3E"/>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0"/>
            <a:ext cx="822960" cy="41148"/>
          </a:xfrm>
          <a:prstGeom prst="rect">
            <a:avLst/>
          </a:prstGeom>
          <a:solidFill>
            <a:schemeClr val="accent3"/>
          </a:solidFill>
          <a:ln w="12700">
            <a:solidFill>
              <a:schemeClr val="accent3"/>
            </a:solidFill>
            <a:prstDash val="solid"/>
          </a:ln>
        </p:spPr>
      </p:sp>
      <p:sp>
        <p:nvSpPr>
          <p:cNvPr id="3" name="Text 1"/>
          <p:cNvSpPr/>
          <p:nvPr>
            <p:ph idx="101" type="title" hasCustomPrompt="1"/>
          </p:nvPr>
        </p:nvSpPr>
        <p:spPr>
          <a:xfrm>
            <a:off x="548640" y="320040"/>
            <a:ext cx="11091672" cy="822960"/>
          </a:xfrm>
          <a:prstGeom prst="rect">
            <a:avLst/>
          </a:prstGeom>
          <a:noFill/>
          <a:ln/>
        </p:spPr>
        <p:txBody>
          <a:bodyPr wrap="square" rtlCol="0"/>
          <a:lstStyle>
            <a:lvl1pPr algn="l" indent="0" marL="0">
              <a:buNone/>
              <a:defRPr lang="en-US" sz="2700" dirty="0">
                <a:solidFill>
                  <a:schemeClr val="accent1"/>
                </a:solidFill>
                <a:latin typeface="Georgia" pitchFamily="34" charset="0"/>
                <a:ea typeface="Georgia" pitchFamily="34" charset="-122"/>
                <a:cs typeface="Georgia" pitchFamily="34" charset="-120"/>
              </a:defRPr>
            </a:lvl1pPr>
          </a:lstStyle>
          <a:p>
            <a:pPr algn="l" indent="0" marL="0">
              <a:buNone/>
            </a:pPr>
            <a:endParaRPr lang="en-US" sz="27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ußenansicht am Abend">    </p:cNvPr>
          <p:cNvPicPr>
            <a:picLocks noChangeAspect="1"/>
          </p:cNvPicPr>
          <p:nvPr/>
        </p:nvPicPr>
        <p:blipFill>
          <a:blip r:embed="rId1"/>
          <a:stretch>
            <a:fillRect/>
          </a:stretch>
        </p:blipFill>
        <p:spPr>
          <a:xfrm>
            <a:off x="6309360" y="0"/>
            <a:ext cx="5879592" cy="6858000"/>
          </a:xfrm>
          <a:prstGeom prst="rect">
            <a:avLst/>
          </a:prstGeom>
        </p:spPr>
      </p:pic>
      <p:sp>
        <p:nvSpPr>
          <p:cNvPr id="3" name="Text 0"/>
          <p:cNvSpPr txBox="1"/>
          <p:nvPr/>
        </p:nvSpPr>
        <p:spPr>
          <a:xfrm>
            <a:off x="548640" y="1188720"/>
            <a:ext cx="5486400" cy="365760"/>
          </a:xfrm>
          <a:prstGeom prst="rect">
            <a:avLst/>
          </a:prstGeom>
          <a:noFill/>
          <a:ln/>
        </p:spPr>
        <p:txBody>
          <a:bodyPr wrap="square" lIns="0" tIns="0" rIns="0" bIns="0" rtlCol="0" anchor="t"/>
          <a:lstStyle/>
          <a:p>
            <a:pPr indent="0" marL="0">
              <a:buNone/>
            </a:pPr>
            <a:r>
              <a:rPr lang="en-US" sz="1500" b="1" spc="400" kern="0" dirty="0">
                <a:solidFill>
                  <a:schemeClr val="accent3"/>
                </a:solidFill>
                <a:latin typeface="Arial" pitchFamily="34" charset="0"/>
                <a:ea typeface="Arial" pitchFamily="34" charset="-122"/>
                <a:cs typeface="Arial" pitchFamily="34" charset="-120"/>
              </a:rPr>
              <a:t>NEUE MITTE WERLTE</a:t>
            </a:r>
            <a:endParaRPr lang="en-US" sz="1500" dirty="0"/>
          </a:p>
        </p:txBody>
      </p:sp>
      <p:sp>
        <p:nvSpPr>
          <p:cNvPr id="4" name="Text 1"/>
          <p:cNvSpPr txBox="1"/>
          <p:nvPr/>
        </p:nvSpPr>
        <p:spPr>
          <a:xfrm>
            <a:off x="548640" y="1691640"/>
            <a:ext cx="5486400" cy="2011680"/>
          </a:xfrm>
          <a:prstGeom prst="rect">
            <a:avLst/>
          </a:prstGeom>
          <a:noFill/>
          <a:ln/>
        </p:spPr>
        <p:txBody>
          <a:bodyPr wrap="square" lIns="0" tIns="0" rIns="0" bIns="0" rtlCol="0" anchor="t"/>
          <a:lstStyle/>
          <a:p>
            <a:pPr indent="0" marL="0">
              <a:buNone/>
            </a:pPr>
            <a:r>
              <a:rPr lang="en-US" sz="3400" dirty="0">
                <a:solidFill>
                  <a:schemeClr val="bg1"/>
                </a:solidFill>
                <a:latin typeface="Georgia" pitchFamily="34" charset="0"/>
                <a:ea typeface="Georgia" pitchFamily="34" charset="-122"/>
                <a:cs typeface="Georgia" pitchFamily="34" charset="-120"/>
              </a:rPr>
              <a:t>KfW-Förderung für Baufeld 3</a:t>
            </a:r>
            <a:endParaRPr lang="en-US" sz="3400" dirty="0"/>
          </a:p>
        </p:txBody>
      </p:sp>
      <p:sp>
        <p:nvSpPr>
          <p:cNvPr id="5" name="Text 2"/>
          <p:cNvSpPr txBox="1"/>
          <p:nvPr/>
        </p:nvSpPr>
        <p:spPr>
          <a:xfrm>
            <a:off x="548640" y="3931920"/>
            <a:ext cx="5486400" cy="640080"/>
          </a:xfrm>
          <a:prstGeom prst="rect">
            <a:avLst/>
          </a:prstGeom>
          <a:noFill/>
          <a:ln/>
        </p:spPr>
        <p:txBody>
          <a:bodyPr wrap="square" lIns="0" tIns="0" rIns="0" bIns="0" rtlCol="0" anchor="t"/>
          <a:lstStyle/>
          <a:p>
            <a:pPr indent="0" marL="0">
              <a:buNone/>
            </a:pPr>
            <a:r>
              <a:rPr lang="en-US" sz="1700" dirty="0">
                <a:solidFill>
                  <a:schemeClr val="bg1"/>
                </a:solidFill>
                <a:latin typeface="Arial" pitchFamily="34" charset="0"/>
                <a:ea typeface="Arial" pitchFamily="34" charset="-122"/>
                <a:cs typeface="Arial" pitchFamily="34" charset="-120"/>
              </a:rPr>
              <a:t>Günstiger Kredit für 8 Wohnungen und die große Gastro</a:t>
            </a:r>
            <a:endParaRPr lang="en-US" sz="1700" dirty="0"/>
          </a:p>
        </p:txBody>
      </p:sp>
      <p:sp>
        <p:nvSpPr>
          <p:cNvPr id="6" name="Text 3"/>
          <p:cNvSpPr txBox="1"/>
          <p:nvPr/>
        </p:nvSpPr>
        <p:spPr>
          <a:xfrm>
            <a:off x="548640" y="5029200"/>
            <a:ext cx="5486400" cy="1005840"/>
          </a:xfrm>
          <a:prstGeom prst="rect">
            <a:avLst/>
          </a:prstGeom>
          <a:noFill/>
          <a:ln/>
        </p:spPr>
        <p:txBody>
          <a:bodyPr wrap="square" lIns="0" tIns="0" rIns="0" bIns="0" rtlCol="0" anchor="t"/>
          <a:lstStyle/>
          <a:p>
            <a:pPr indent="0" marL="0">
              <a:buNone/>
            </a:pPr>
            <a:r>
              <a:rPr lang="en-US" sz="1300" dirty="0">
                <a:solidFill>
                  <a:srgbClr val="CFD8D3"/>
                </a:solidFill>
                <a:latin typeface="Arial" pitchFamily="34" charset="0"/>
                <a:ea typeface="Arial" pitchFamily="34" charset="-122"/>
                <a:cs typeface="Arial" pitchFamily="34" charset="-120"/>
              </a:rPr>
              <a:t>Bessam Hasso, Werlte</a:t>
            </a:r>
            <a:endParaRPr lang="en-US" sz="1300" dirty="0"/>
          </a:p>
          <a:p>
            <a:pPr indent="0" marL="0">
              <a:buNone/>
            </a:pPr>
            <a:r>
              <a:rPr lang="en-US" sz="1300" dirty="0">
                <a:solidFill>
                  <a:srgbClr val="CFD8D3"/>
                </a:solidFill>
                <a:latin typeface="Arial" pitchFamily="34" charset="0"/>
                <a:ea typeface="Arial" pitchFamily="34" charset="-122"/>
                <a:cs typeface="Arial" pitchFamily="34" charset="-120"/>
              </a:rPr>
              <a:t>Stand Oktober 2026</a:t>
            </a:r>
            <a:endParaRPr lang="en-US" sz="1300" dirty="0"/>
          </a:p>
          <a:p>
            <a:pPr indent="0" marL="0">
              <a:buNone/>
            </a:pPr>
            <a:r>
              <a:rPr lang="en-US" sz="1300" dirty="0">
                <a:solidFill>
                  <a:srgbClr val="CFD8D3"/>
                </a:solidFill>
                <a:latin typeface="Arial" pitchFamily="34" charset="0"/>
                <a:ea typeface="Arial" pitchFamily="34" charset="-122"/>
                <a:cs typeface="Arial" pitchFamily="34" charset="-120"/>
              </a:rPr>
              <a:t>Konditionen müssen bei Hausbank und KfW bestätigt werden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700" dirty="0">
                <a:solidFill>
                  <a:schemeClr val="accent1"/>
                </a:solidFill>
                <a:latin typeface="Georgia" pitchFamily="34" charset="0"/>
                <a:ea typeface="Georgia" pitchFamily="34" charset="-122"/>
                <a:cs typeface="Georgia" pitchFamily="34" charset="-120"/>
              </a:rPr>
              <a:t>Kurzfassung: ein günstiger Kredit, kein Zuschuss</a:t>
            </a:r>
            <a:endParaRPr lang="en-US" sz="2700" dirty="0"/>
          </a:p>
        </p:txBody>
      </p:sp>
      <p:sp>
        <p:nvSpPr>
          <p:cNvPr id="3" name="Zielgruppe"/>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Für Stadt und Bank</a:t>
            </a:r>
            <a:endParaRPr lang="en-US" sz="1000" dirty="0"/>
          </a:p>
        </p:txBody>
      </p:sp>
      <p:sp>
        <p:nvSpPr>
          <p:cNvPr id="5" name="Kennzahl 0"/>
          <p:cNvSpPr/>
          <p:nvPr/>
        </p:nvSpPr>
        <p:spPr>
          <a:xfrm>
            <a:off x="548640" y="1371600"/>
            <a:ext cx="2567178" cy="1463040"/>
          </a:xfrm>
          <a:prstGeom prst="roundRect">
            <a:avLst>
              <a:gd name="adj" fmla="val 5000"/>
            </a:avLst>
          </a:prstGeom>
          <a:solidFill>
            <a:schemeClr val="bg2"/>
          </a:solidFill>
          <a:ln w="12700">
            <a:solidFill>
              <a:schemeClr val="bg2"/>
            </a:solidFill>
            <a:prstDash val="solid"/>
          </a:ln>
        </p:spPr>
      </p:sp>
      <p:sp>
        <p:nvSpPr>
          <p:cNvPr id="6" name="Text 3"/>
          <p:cNvSpPr txBox="1"/>
          <p:nvPr/>
        </p:nvSpPr>
        <p:spPr>
          <a:xfrm>
            <a:off x="731520" y="1463040"/>
            <a:ext cx="2201418" cy="685800"/>
          </a:xfrm>
          <a:prstGeom prst="rect">
            <a:avLst/>
          </a:prstGeom>
          <a:noFill/>
          <a:ln/>
        </p:spPr>
        <p:txBody>
          <a:bodyPr wrap="square" lIns="0" tIns="0" rIns="0" bIns="0" rtlCol="0" anchor="ctr"/>
          <a:lstStyle/>
          <a:p>
            <a:pPr indent="0" marL="0">
              <a:buNone/>
            </a:pPr>
            <a:r>
              <a:rPr lang="en-US" sz="2400" dirty="0">
                <a:solidFill>
                  <a:schemeClr val="accent2"/>
                </a:solidFill>
                <a:latin typeface="Georgia" pitchFamily="34" charset="0"/>
                <a:ea typeface="Georgia" pitchFamily="34" charset="-122"/>
                <a:cs typeface="Georgia" pitchFamily="34" charset="-120"/>
              </a:rPr>
              <a:t>1.387.000 €</a:t>
            </a:r>
            <a:endParaRPr lang="en-US" sz="2400" dirty="0"/>
          </a:p>
        </p:txBody>
      </p:sp>
      <p:sp>
        <p:nvSpPr>
          <p:cNvPr id="7" name="Text 4"/>
          <p:cNvSpPr txBox="1"/>
          <p:nvPr/>
        </p:nvSpPr>
        <p:spPr>
          <a:xfrm>
            <a:off x="731520" y="2194560"/>
            <a:ext cx="2201418" cy="594360"/>
          </a:xfrm>
          <a:prstGeom prst="rect">
            <a:avLst/>
          </a:prstGeom>
          <a:noFill/>
          <a:ln/>
        </p:spPr>
        <p:txBody>
          <a:bodyPr wrap="square" lIns="0" tIns="0" rIns="0" bIns="0" rtlCol="0" anchor="t"/>
          <a:lstStyle/>
          <a:p>
            <a:pPr indent="0" marL="0">
              <a:buNone/>
            </a:pPr>
            <a:r>
              <a:rPr lang="en-US" sz="1250" dirty="0">
                <a:solidFill>
                  <a:schemeClr val="accent4"/>
                </a:solidFill>
                <a:latin typeface="Arial" pitchFamily="34" charset="0"/>
                <a:ea typeface="Arial" pitchFamily="34" charset="-122"/>
                <a:cs typeface="Arial" pitchFamily="34" charset="-120"/>
              </a:rPr>
              <a:t>KfW-Kreditrahmen ohne QNG-Zertifikat</a:t>
            </a:r>
            <a:endParaRPr lang="en-US" sz="1250" dirty="0"/>
          </a:p>
        </p:txBody>
      </p:sp>
      <p:sp>
        <p:nvSpPr>
          <p:cNvPr id="8" name="Kennzahl 1"/>
          <p:cNvSpPr/>
          <p:nvPr/>
        </p:nvSpPr>
        <p:spPr>
          <a:xfrm>
            <a:off x="3390138" y="1371600"/>
            <a:ext cx="2567178" cy="1463040"/>
          </a:xfrm>
          <a:prstGeom prst="roundRect">
            <a:avLst>
              <a:gd name="adj" fmla="val 5000"/>
            </a:avLst>
          </a:prstGeom>
          <a:solidFill>
            <a:schemeClr val="bg2"/>
          </a:solidFill>
          <a:ln w="12700">
            <a:solidFill>
              <a:schemeClr val="bg2"/>
            </a:solidFill>
            <a:prstDash val="solid"/>
          </a:ln>
        </p:spPr>
      </p:sp>
      <p:sp>
        <p:nvSpPr>
          <p:cNvPr id="9" name="Text 6"/>
          <p:cNvSpPr txBox="1"/>
          <p:nvPr/>
        </p:nvSpPr>
        <p:spPr>
          <a:xfrm>
            <a:off x="3573018" y="1463040"/>
            <a:ext cx="2201418" cy="685800"/>
          </a:xfrm>
          <a:prstGeom prst="rect">
            <a:avLst/>
          </a:prstGeom>
          <a:noFill/>
          <a:ln/>
        </p:spPr>
        <p:txBody>
          <a:bodyPr wrap="square" lIns="0" tIns="0" rIns="0" bIns="0" rtlCol="0" anchor="ctr"/>
          <a:lstStyle/>
          <a:p>
            <a:pPr indent="0" marL="0">
              <a:buNone/>
            </a:pPr>
            <a:r>
              <a:rPr lang="en-US" sz="2400" dirty="0">
                <a:solidFill>
                  <a:schemeClr val="accent2"/>
                </a:solidFill>
                <a:latin typeface="Georgia" pitchFamily="34" charset="0"/>
                <a:ea typeface="Georgia" pitchFamily="34" charset="-122"/>
                <a:cs typeface="Georgia" pitchFamily="34" charset="-120"/>
              </a:rPr>
              <a:t>1.982.000 €</a:t>
            </a:r>
            <a:endParaRPr lang="en-US" sz="2400" dirty="0"/>
          </a:p>
        </p:txBody>
      </p:sp>
      <p:sp>
        <p:nvSpPr>
          <p:cNvPr id="10" name="Text 7"/>
          <p:cNvSpPr txBox="1"/>
          <p:nvPr/>
        </p:nvSpPr>
        <p:spPr>
          <a:xfrm>
            <a:off x="3573018" y="2194560"/>
            <a:ext cx="2201418" cy="594360"/>
          </a:xfrm>
          <a:prstGeom prst="rect">
            <a:avLst/>
          </a:prstGeom>
          <a:noFill/>
          <a:ln/>
        </p:spPr>
        <p:txBody>
          <a:bodyPr wrap="square" lIns="0" tIns="0" rIns="0" bIns="0" rtlCol="0" anchor="t"/>
          <a:lstStyle/>
          <a:p>
            <a:pPr indent="0" marL="0">
              <a:buNone/>
            </a:pPr>
            <a:r>
              <a:rPr lang="en-US" sz="1250" dirty="0">
                <a:solidFill>
                  <a:schemeClr val="accent4"/>
                </a:solidFill>
                <a:latin typeface="Arial" pitchFamily="34" charset="0"/>
                <a:ea typeface="Arial" pitchFamily="34" charset="-122"/>
                <a:cs typeface="Arial" pitchFamily="34" charset="-120"/>
              </a:rPr>
              <a:t>KfW-Kreditrahmen mit QNG-Zertifikat</a:t>
            </a:r>
            <a:endParaRPr lang="en-US" sz="1250" dirty="0"/>
          </a:p>
        </p:txBody>
      </p:sp>
      <p:sp>
        <p:nvSpPr>
          <p:cNvPr id="11" name="Kennzahl 2"/>
          <p:cNvSpPr/>
          <p:nvPr/>
        </p:nvSpPr>
        <p:spPr>
          <a:xfrm>
            <a:off x="6231636" y="1371600"/>
            <a:ext cx="2567178" cy="1463040"/>
          </a:xfrm>
          <a:prstGeom prst="roundRect">
            <a:avLst>
              <a:gd name="adj" fmla="val 5000"/>
            </a:avLst>
          </a:prstGeom>
          <a:solidFill>
            <a:schemeClr val="bg2"/>
          </a:solidFill>
          <a:ln w="12700">
            <a:solidFill>
              <a:schemeClr val="bg2"/>
            </a:solidFill>
            <a:prstDash val="solid"/>
          </a:ln>
        </p:spPr>
      </p:sp>
      <p:sp>
        <p:nvSpPr>
          <p:cNvPr id="12" name="Text 9"/>
          <p:cNvSpPr txBox="1"/>
          <p:nvPr/>
        </p:nvSpPr>
        <p:spPr>
          <a:xfrm>
            <a:off x="6414516" y="1463040"/>
            <a:ext cx="2201418" cy="685800"/>
          </a:xfrm>
          <a:prstGeom prst="rect">
            <a:avLst/>
          </a:prstGeom>
          <a:noFill/>
          <a:ln/>
        </p:spPr>
        <p:txBody>
          <a:bodyPr wrap="square" lIns="0" tIns="0" rIns="0" bIns="0" rtlCol="0" anchor="ctr"/>
          <a:lstStyle/>
          <a:p>
            <a:pPr indent="0" marL="0">
              <a:buNone/>
            </a:pPr>
            <a:r>
              <a:rPr lang="en-US" sz="2400" dirty="0">
                <a:solidFill>
                  <a:schemeClr val="accent1"/>
                </a:solidFill>
                <a:latin typeface="Georgia" pitchFamily="34" charset="0"/>
                <a:ea typeface="Georgia" pitchFamily="34" charset="-122"/>
                <a:cs typeface="Georgia" pitchFamily="34" charset="-120"/>
              </a:rPr>
              <a:t>33 bis 47 %</a:t>
            </a:r>
            <a:endParaRPr lang="en-US" sz="2400" dirty="0"/>
          </a:p>
        </p:txBody>
      </p:sp>
      <p:sp>
        <p:nvSpPr>
          <p:cNvPr id="13" name="Text 10"/>
          <p:cNvSpPr txBox="1"/>
          <p:nvPr/>
        </p:nvSpPr>
        <p:spPr>
          <a:xfrm>
            <a:off x="6414516" y="2194560"/>
            <a:ext cx="2201418" cy="594360"/>
          </a:xfrm>
          <a:prstGeom prst="rect">
            <a:avLst/>
          </a:prstGeom>
          <a:noFill/>
          <a:ln/>
        </p:spPr>
        <p:txBody>
          <a:bodyPr wrap="square" lIns="0" tIns="0" rIns="0" bIns="0" rtlCol="0" anchor="t"/>
          <a:lstStyle/>
          <a:p>
            <a:pPr indent="0" marL="0">
              <a:buNone/>
            </a:pPr>
            <a:r>
              <a:rPr lang="en-US" sz="1250" dirty="0">
                <a:solidFill>
                  <a:schemeClr val="accent4"/>
                </a:solidFill>
                <a:latin typeface="Arial" pitchFamily="34" charset="0"/>
                <a:ea typeface="Arial" pitchFamily="34" charset="-122"/>
                <a:cs typeface="Arial" pitchFamily="34" charset="-120"/>
              </a:rPr>
              <a:t>der Gesamtkosten sind so günstig finanzierbar</a:t>
            </a:r>
            <a:endParaRPr lang="en-US" sz="1250" dirty="0"/>
          </a:p>
        </p:txBody>
      </p:sp>
      <p:sp>
        <p:nvSpPr>
          <p:cNvPr id="14" name="Kennzahl 3"/>
          <p:cNvSpPr/>
          <p:nvPr/>
        </p:nvSpPr>
        <p:spPr>
          <a:xfrm>
            <a:off x="9073134" y="1371600"/>
            <a:ext cx="2567178" cy="1463040"/>
          </a:xfrm>
          <a:prstGeom prst="roundRect">
            <a:avLst>
              <a:gd name="adj" fmla="val 5000"/>
            </a:avLst>
          </a:prstGeom>
          <a:solidFill>
            <a:schemeClr val="bg2"/>
          </a:solidFill>
          <a:ln w="12700">
            <a:solidFill>
              <a:schemeClr val="bg2"/>
            </a:solidFill>
            <a:prstDash val="solid"/>
          </a:ln>
        </p:spPr>
      </p:sp>
      <p:sp>
        <p:nvSpPr>
          <p:cNvPr id="15" name="Text 12"/>
          <p:cNvSpPr txBox="1"/>
          <p:nvPr/>
        </p:nvSpPr>
        <p:spPr>
          <a:xfrm>
            <a:off x="9256014" y="1463040"/>
            <a:ext cx="2201418" cy="685800"/>
          </a:xfrm>
          <a:prstGeom prst="rect">
            <a:avLst/>
          </a:prstGeom>
          <a:noFill/>
          <a:ln/>
        </p:spPr>
        <p:txBody>
          <a:bodyPr wrap="square" lIns="0" tIns="0" rIns="0" bIns="0" rtlCol="0" anchor="ctr"/>
          <a:lstStyle/>
          <a:p>
            <a:pPr indent="0" marL="0">
              <a:buNone/>
            </a:pPr>
            <a:r>
              <a:rPr lang="en-US" sz="2400" dirty="0">
                <a:solidFill>
                  <a:schemeClr val="accent5"/>
                </a:solidFill>
                <a:latin typeface="Georgia" pitchFamily="34" charset="0"/>
                <a:ea typeface="Georgia" pitchFamily="34" charset="-122"/>
                <a:cs typeface="Georgia" pitchFamily="34" charset="-120"/>
              </a:rPr>
              <a:t>+3.258 €</a:t>
            </a:r>
            <a:endParaRPr lang="en-US" sz="2400" dirty="0"/>
          </a:p>
        </p:txBody>
      </p:sp>
      <p:sp>
        <p:nvSpPr>
          <p:cNvPr id="16" name="Text 13"/>
          <p:cNvSpPr txBox="1"/>
          <p:nvPr/>
        </p:nvSpPr>
        <p:spPr>
          <a:xfrm>
            <a:off x="9256014" y="2194560"/>
            <a:ext cx="2201418" cy="594360"/>
          </a:xfrm>
          <a:prstGeom prst="rect">
            <a:avLst/>
          </a:prstGeom>
          <a:noFill/>
          <a:ln/>
        </p:spPr>
        <p:txBody>
          <a:bodyPr wrap="square" lIns="0" tIns="0" rIns="0" bIns="0" rtlCol="0" anchor="t"/>
          <a:lstStyle/>
          <a:p>
            <a:pPr indent="0" marL="0">
              <a:buNone/>
            </a:pPr>
            <a:r>
              <a:rPr lang="en-US" sz="1250" dirty="0">
                <a:solidFill>
                  <a:schemeClr val="accent4"/>
                </a:solidFill>
                <a:latin typeface="Arial" pitchFamily="34" charset="0"/>
                <a:ea typeface="Arial" pitchFamily="34" charset="-122"/>
                <a:cs typeface="Arial" pitchFamily="34" charset="-120"/>
              </a:rPr>
              <a:t>pro Monat mehr als ohne KfW (QNG, 2 % KfW-Zins)</a:t>
            </a:r>
            <a:endParaRPr lang="en-US" sz="1250" dirty="0"/>
          </a:p>
        </p:txBody>
      </p:sp>
      <p:graphicFrame>
        <p:nvGraphicFramePr>
          <p:cNvPr id="3" name="Tabelle Programme"/>
          <p:cNvGraphicFramePr>
            <a:graphicFrameLocks noGrp="1"/>
          </p:cNvGraphicFramePr>
          <p:nvPr>
            <p:extLst>
              <p:ext uri="{D42A27DB-BD31-4B8C-83A1-F6EECF244321}">
                <p14:modId xmlns:p14="http://schemas.microsoft.com/office/powerpoint/2010/main" val="1579011935"/>
              </p:ext>
            </p:extLst>
          </p:nvPr>
        </p:nvGraphicFramePr>
        <p:xfrm>
          <a:off x="548640" y="3108960"/>
          <a:ext cx="11091672" cy="914400"/>
        </p:xfrm>
        <a:graphic>
          <a:graphicData uri="http://schemas.openxmlformats.org/drawingml/2006/table">
            <a:tbl>
              <a:tblPr/>
              <a:tblGrid>
                <a:gridCol w="4023360"/>
                <a:gridCol w="3657600"/>
                <a:gridCol w="3410712"/>
              </a:tblGrid>
              <a:tr h="502920">
                <a:tc>
                  <a:txBody>
                    <a:bodyPr/>
                    <a:lstStyle/>
                    <a:p>
                      <a:pPr algn="l" indent="0" marL="0">
                        <a:buNone/>
                      </a:pPr>
                      <a:r>
                        <a:rPr lang="en-US" sz="1250" b="1" dirty="0">
                          <a:solidFill>
                            <a:schemeClr val="bg1"/>
                          </a:solidFill>
                          <a:latin typeface="Arial" pitchFamily="34" charset="0"/>
                          <a:ea typeface="Arial" pitchFamily="34" charset="-122"/>
                          <a:cs typeface="Arial" pitchFamily="34" charset="-120"/>
                        </a:rPr>
                        <a:t>Programm</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l" indent="0" marL="0">
                        <a:buNone/>
                      </a:pPr>
                      <a:r>
                        <a:rPr lang="en-US" sz="1250" b="1" dirty="0">
                          <a:solidFill>
                            <a:schemeClr val="bg1"/>
                          </a:solidFill>
                          <a:latin typeface="Arial" pitchFamily="34" charset="0"/>
                          <a:ea typeface="Arial" pitchFamily="34" charset="-122"/>
                          <a:cs typeface="Arial" pitchFamily="34" charset="-120"/>
                        </a:rPr>
                        <a:t>Wofür</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l" indent="0" marL="0">
                        <a:buNone/>
                      </a:pPr>
                      <a:r>
                        <a:rPr lang="en-US" sz="1250" b="1" dirty="0">
                          <a:solidFill>
                            <a:schemeClr val="bg1"/>
                          </a:solidFill>
                          <a:latin typeface="Arial" pitchFamily="34" charset="0"/>
                          <a:ea typeface="Arial" pitchFamily="34" charset="-122"/>
                          <a:cs typeface="Arial" pitchFamily="34" charset="-120"/>
                        </a:rPr>
                        <a:t>Betrag (Stand Ratgeber)</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r>
              <a:tr h="502920">
                <a:tc>
                  <a:txBody>
                    <a:bodyPr/>
                    <a:lstStyle/>
                    <a:p>
                      <a:pPr indent="0" marL="0">
                        <a:buNone/>
                      </a:pPr>
                      <a:r>
                        <a:rPr lang="en-US" sz="1250" dirty="0">
                          <a:solidFill>
                            <a:srgbClr val="000000"/>
                          </a:solidFill>
                          <a:latin typeface="Arial" pitchFamily="34" charset="0"/>
                          <a:ea typeface="Arial" pitchFamily="34" charset="-122"/>
                          <a:cs typeface="Arial" pitchFamily="34" charset="-120"/>
                        </a:rPr>
                        <a:t>KfW 298 Klimafreundlicher Neubau (Wohngebäude)</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8 Wohnungen, auch für Vermieter und Käufer als Anlage</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bis 100.000 € je Wohnung, mit QNG bis 150.000 €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502920">
                <a:tc>
                  <a:txBody>
                    <a:bodyPr/>
                    <a:lstStyle/>
                    <a:p>
                      <a:pPr indent="0" marL="0">
                        <a:buNone/>
                      </a:pPr>
                      <a:r>
                        <a:rPr lang="en-US" sz="1250" dirty="0">
                          <a:solidFill>
                            <a:srgbClr val="000000"/>
                          </a:solidFill>
                          <a:latin typeface="Arial" pitchFamily="34" charset="0"/>
                          <a:ea typeface="Arial" pitchFamily="34" charset="-122"/>
                          <a:cs typeface="Arial" pitchFamily="34" charset="-120"/>
                        </a:rPr>
                        <a:t>KfW 299 Klimafreundlicher Neubau (Nichtwohngebäude)</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Gastro im EG (ca. 460 m²)</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ca. 1.500 € je m² Nettogrundfläche, mit QNG ca. 2.000 €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502920">
                <a:tc>
                  <a:txBody>
                    <a:bodyPr/>
                    <a:lstStyle/>
                    <a:p>
                      <a:pPr indent="0" marL="0">
                        <a:buNone/>
                      </a:pPr>
                      <a:r>
                        <a:rPr lang="en-US" sz="1250" dirty="0">
                          <a:solidFill>
                            <a:srgbClr val="000000"/>
                          </a:solidFill>
                          <a:latin typeface="Arial" pitchFamily="34" charset="0"/>
                          <a:ea typeface="Arial" pitchFamily="34" charset="-122"/>
                          <a:cs typeface="Arial" pitchFamily="34" charset="-120"/>
                        </a:rPr>
                        <a:t>KfW 300 Wohneigentum für Familien</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nur Selbstnutzer mit Kindern und Einkommensgrenze</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passt nicht für vermietete Wohnungen</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18" name="Text 14"/>
          <p:cNvSpPr txBox="1"/>
          <p:nvPr/>
        </p:nvSpPr>
        <p:spPr>
          <a:xfrm>
            <a:off x="548640" y="5303520"/>
            <a:ext cx="11091672" cy="45720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Die KfW zahlt im Neubau keinen Zuschuss mehr: Der Vorteil ist der niedrigere Zins auf einen Teil des Kredits.</a:t>
            </a:r>
            <a:endParaRPr lang="en-US" sz="15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700" dirty="0">
                <a:solidFill>
                  <a:schemeClr val="accent1"/>
                </a:solidFill>
                <a:latin typeface="Georgia" pitchFamily="34" charset="0"/>
                <a:ea typeface="Georgia" pitchFamily="34" charset="-122"/>
                <a:cs typeface="Georgia" pitchFamily="34" charset="-120"/>
              </a:rPr>
              <a:t>Voraussetzungen und Mehrkosten</a:t>
            </a:r>
            <a:endParaRPr lang="en-US" sz="2700" dirty="0"/>
          </a:p>
        </p:txBody>
      </p:sp>
      <p:sp>
        <p:nvSpPr>
          <p:cNvPr id="3" name="Zielgruppe"/>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Für Stadt und Bank</a:t>
            </a:r>
            <a:endParaRPr lang="en-US" sz="1000" dirty="0"/>
          </a:p>
        </p:txBody>
      </p:sp>
      <p:sp>
        <p:nvSpPr>
          <p:cNvPr id="5" name="Effizienzhaus 40"/>
          <p:cNvSpPr/>
          <p:nvPr/>
        </p:nvSpPr>
        <p:spPr>
          <a:xfrm>
            <a:off x="548640" y="1371600"/>
            <a:ext cx="5394960" cy="2103120"/>
          </a:xfrm>
          <a:prstGeom prst="roundRect">
            <a:avLst>
              <a:gd name="adj" fmla="val 3478"/>
            </a:avLst>
          </a:prstGeom>
          <a:solidFill>
            <a:schemeClr val="bg2"/>
          </a:solidFill>
          <a:ln w="12700">
            <a:solidFill>
              <a:schemeClr val="bg2"/>
            </a:solidFill>
            <a:prstDash val="solid"/>
          </a:ln>
        </p:spPr>
      </p:sp>
      <p:sp>
        <p:nvSpPr>
          <p:cNvPr id="6" name="Text 3"/>
          <p:cNvSpPr txBox="1"/>
          <p:nvPr/>
        </p:nvSpPr>
        <p:spPr>
          <a:xfrm>
            <a:off x="777240" y="1508760"/>
            <a:ext cx="4937760" cy="365760"/>
          </a:xfrm>
          <a:prstGeom prst="rect">
            <a:avLst/>
          </a:prstGeom>
          <a:noFill/>
          <a:ln/>
        </p:spPr>
        <p:txBody>
          <a:bodyPr wrap="square" lIns="0" tIns="0" rIns="0" bIns="0" rtlCol="0" anchor="t"/>
          <a:lstStyle/>
          <a:p>
            <a:pPr indent="0" marL="0">
              <a:buNone/>
            </a:pPr>
            <a:r>
              <a:rPr lang="en-US" sz="1700" dirty="0">
                <a:solidFill>
                  <a:schemeClr val="accent1"/>
                </a:solidFill>
                <a:latin typeface="Georgia" pitchFamily="34" charset="0"/>
                <a:ea typeface="Georgia" pitchFamily="34" charset="-122"/>
                <a:cs typeface="Georgia" pitchFamily="34" charset="-120"/>
              </a:rPr>
              <a:t>Effizienzhaus 40</a:t>
            </a:r>
            <a:endParaRPr lang="en-US" sz="1700" dirty="0"/>
          </a:p>
        </p:txBody>
      </p:sp>
      <p:sp>
        <p:nvSpPr>
          <p:cNvPr id="7" name="Text 4"/>
          <p:cNvSpPr txBox="1"/>
          <p:nvPr/>
        </p:nvSpPr>
        <p:spPr>
          <a:xfrm>
            <a:off x="777240" y="1965960"/>
            <a:ext cx="4937760" cy="141732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Das Haus muss mindestens den Standard Effizienzhaus 40 (Wohnen) bzw. Effizienzgebäude 40 (Gastro) erreichen. Ein Energieeffizienz-Experte plant und bestätigt das.</a:t>
            </a:r>
            <a:endParaRPr lang="en-US" sz="1300" dirty="0"/>
          </a:p>
        </p:txBody>
      </p:sp>
      <p:sp>
        <p:nvSpPr>
          <p:cNvPr id="8" name="QNG-Zertifikat"/>
          <p:cNvSpPr/>
          <p:nvPr/>
        </p:nvSpPr>
        <p:spPr>
          <a:xfrm>
            <a:off x="6217920" y="1371600"/>
            <a:ext cx="5394960" cy="2103120"/>
          </a:xfrm>
          <a:prstGeom prst="roundRect">
            <a:avLst>
              <a:gd name="adj" fmla="val 3478"/>
            </a:avLst>
          </a:prstGeom>
          <a:solidFill>
            <a:schemeClr val="bg2"/>
          </a:solidFill>
          <a:ln w="12700">
            <a:solidFill>
              <a:schemeClr val="bg2"/>
            </a:solidFill>
            <a:prstDash val="solid"/>
          </a:ln>
        </p:spPr>
      </p:sp>
      <p:sp>
        <p:nvSpPr>
          <p:cNvPr id="9" name="Text 6"/>
          <p:cNvSpPr txBox="1"/>
          <p:nvPr/>
        </p:nvSpPr>
        <p:spPr>
          <a:xfrm>
            <a:off x="6446520" y="1508760"/>
            <a:ext cx="4937760" cy="365760"/>
          </a:xfrm>
          <a:prstGeom prst="rect">
            <a:avLst/>
          </a:prstGeom>
          <a:noFill/>
          <a:ln/>
        </p:spPr>
        <p:txBody>
          <a:bodyPr wrap="square" lIns="0" tIns="0" rIns="0" bIns="0" rtlCol="0" anchor="t"/>
          <a:lstStyle/>
          <a:p>
            <a:pPr indent="0" marL="0">
              <a:buNone/>
            </a:pPr>
            <a:r>
              <a:rPr lang="en-US" sz="1700" dirty="0">
                <a:solidFill>
                  <a:schemeClr val="accent1"/>
                </a:solidFill>
                <a:latin typeface="Georgia" pitchFamily="34" charset="0"/>
                <a:ea typeface="Georgia" pitchFamily="34" charset="-122"/>
                <a:cs typeface="Georgia" pitchFamily="34" charset="-120"/>
              </a:rPr>
              <a:t>QNG-Zertifikat</a:t>
            </a:r>
            <a:endParaRPr lang="en-US" sz="1700" dirty="0"/>
          </a:p>
        </p:txBody>
      </p:sp>
      <p:sp>
        <p:nvSpPr>
          <p:cNvPr id="10" name="Text 7"/>
          <p:cNvSpPr txBox="1"/>
          <p:nvPr/>
        </p:nvSpPr>
        <p:spPr>
          <a:xfrm>
            <a:off x="6446520" y="1965960"/>
            <a:ext cx="4937760" cy="141732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Das Qualitätssiegel Nachhaltiges Gebäude erhöht den Kreditrahmen auf 150.000 € je Wohnung. Für die Gastro ist QNG-PLUS oder -PREMIUM nötig. Holzbau im Staffelgeschoss kann dabei helfen.</a:t>
            </a:r>
            <a:endParaRPr lang="en-US" sz="1300" dirty="0"/>
          </a:p>
        </p:txBody>
      </p:sp>
      <p:sp>
        <p:nvSpPr>
          <p:cNvPr id="11" name="Heizung"/>
          <p:cNvSpPr/>
          <p:nvPr/>
        </p:nvSpPr>
        <p:spPr>
          <a:xfrm>
            <a:off x="548640" y="3657600"/>
            <a:ext cx="5394960" cy="2103120"/>
          </a:xfrm>
          <a:prstGeom prst="roundRect">
            <a:avLst>
              <a:gd name="adj" fmla="val 3478"/>
            </a:avLst>
          </a:prstGeom>
          <a:solidFill>
            <a:schemeClr val="bg2"/>
          </a:solidFill>
          <a:ln w="12700">
            <a:solidFill>
              <a:schemeClr val="bg2"/>
            </a:solidFill>
            <a:prstDash val="solid"/>
          </a:ln>
        </p:spPr>
      </p:sp>
      <p:sp>
        <p:nvSpPr>
          <p:cNvPr id="12" name="Text 9"/>
          <p:cNvSpPr txBox="1"/>
          <p:nvPr/>
        </p:nvSpPr>
        <p:spPr>
          <a:xfrm>
            <a:off x="777240" y="3794760"/>
            <a:ext cx="4937760" cy="365760"/>
          </a:xfrm>
          <a:prstGeom prst="rect">
            <a:avLst/>
          </a:prstGeom>
          <a:noFill/>
          <a:ln/>
        </p:spPr>
        <p:txBody>
          <a:bodyPr wrap="square" lIns="0" tIns="0" rIns="0" bIns="0" rtlCol="0" anchor="t"/>
          <a:lstStyle/>
          <a:p>
            <a:pPr indent="0" marL="0">
              <a:buNone/>
            </a:pPr>
            <a:r>
              <a:rPr lang="en-US" sz="1700" dirty="0">
                <a:solidFill>
                  <a:schemeClr val="accent1"/>
                </a:solidFill>
                <a:latin typeface="Georgia" pitchFamily="34" charset="0"/>
                <a:ea typeface="Georgia" pitchFamily="34" charset="-122"/>
                <a:cs typeface="Georgia" pitchFamily="34" charset="-120"/>
              </a:rPr>
              <a:t>Heizung</a:t>
            </a:r>
            <a:endParaRPr lang="en-US" sz="1700" dirty="0"/>
          </a:p>
        </p:txBody>
      </p:sp>
      <p:sp>
        <p:nvSpPr>
          <p:cNvPr id="13" name="Text 10"/>
          <p:cNvSpPr txBox="1"/>
          <p:nvPr/>
        </p:nvSpPr>
        <p:spPr>
          <a:xfrm>
            <a:off x="777240" y="4251960"/>
            <a:ext cx="4937760" cy="141732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Keine Öl-, Gas- oder Biomasseheizung, zum Beispiel Wärmepumpe oder Fernwärme. Das gilt für das ganze Haus mit Gastro-Küche.</a:t>
            </a:r>
            <a:endParaRPr lang="en-US" sz="1300" dirty="0"/>
          </a:p>
        </p:txBody>
      </p:sp>
      <p:sp>
        <p:nvSpPr>
          <p:cNvPr id="14" name="Antrag vor Baubeginn"/>
          <p:cNvSpPr/>
          <p:nvPr/>
        </p:nvSpPr>
        <p:spPr>
          <a:xfrm>
            <a:off x="6217920" y="3657600"/>
            <a:ext cx="5394960" cy="2103120"/>
          </a:xfrm>
          <a:prstGeom prst="roundRect">
            <a:avLst>
              <a:gd name="adj" fmla="val 3478"/>
            </a:avLst>
          </a:prstGeom>
          <a:solidFill>
            <a:schemeClr val="bg2"/>
          </a:solidFill>
          <a:ln w="12700">
            <a:solidFill>
              <a:schemeClr val="bg2"/>
            </a:solidFill>
            <a:prstDash val="solid"/>
          </a:ln>
        </p:spPr>
      </p:sp>
      <p:sp>
        <p:nvSpPr>
          <p:cNvPr id="15" name="Text 12"/>
          <p:cNvSpPr txBox="1"/>
          <p:nvPr/>
        </p:nvSpPr>
        <p:spPr>
          <a:xfrm>
            <a:off x="6446520" y="3794760"/>
            <a:ext cx="4937760" cy="365760"/>
          </a:xfrm>
          <a:prstGeom prst="rect">
            <a:avLst/>
          </a:prstGeom>
          <a:noFill/>
          <a:ln/>
        </p:spPr>
        <p:txBody>
          <a:bodyPr wrap="square" lIns="0" tIns="0" rIns="0" bIns="0" rtlCol="0" anchor="t"/>
          <a:lstStyle/>
          <a:p>
            <a:pPr indent="0" marL="0">
              <a:buNone/>
            </a:pPr>
            <a:r>
              <a:rPr lang="en-US" sz="1700" dirty="0">
                <a:solidFill>
                  <a:schemeClr val="accent1"/>
                </a:solidFill>
                <a:latin typeface="Georgia" pitchFamily="34" charset="0"/>
                <a:ea typeface="Georgia" pitchFamily="34" charset="-122"/>
                <a:cs typeface="Georgia" pitchFamily="34" charset="-120"/>
              </a:rPr>
              <a:t>Antrag vor Baubeginn</a:t>
            </a:r>
            <a:endParaRPr lang="en-US" sz="1700" dirty="0"/>
          </a:p>
        </p:txBody>
      </p:sp>
      <p:sp>
        <p:nvSpPr>
          <p:cNvPr id="16" name="Text 13"/>
          <p:cNvSpPr txBox="1"/>
          <p:nvPr/>
        </p:nvSpPr>
        <p:spPr>
          <a:xfrm>
            <a:off x="6446520" y="4251960"/>
            <a:ext cx="4937760" cy="141732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Der Antrag läuft über die Hausbank und muss vor dem Vorhabenbeginn gestellt sein. Verträge mit aufschiebender Bedingung sind erlaubt, Bauarbeiten erst nach dem Antrag. Kein Rechtsanspruch, es zählt der Zins am Tag der Zusage.</a:t>
            </a:r>
            <a:endParaRPr lang="en-US" sz="13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700" dirty="0">
                <a:solidFill>
                  <a:schemeClr val="accent1"/>
                </a:solidFill>
                <a:latin typeface="Georgia" pitchFamily="34" charset="0"/>
                <a:ea typeface="Georgia" pitchFamily="34" charset="-122"/>
                <a:cs typeface="Georgia" pitchFamily="34" charset="-120"/>
              </a:rPr>
              <a:t>Was KfW dem Haus bringt</a:t>
            </a:r>
            <a:endParaRPr lang="en-US" sz="2700" dirty="0"/>
          </a:p>
        </p:txBody>
      </p:sp>
      <p:sp>
        <p:nvSpPr>
          <p:cNvPr id="3" name="Zielgruppe"/>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Für Bank</a:t>
            </a:r>
            <a:endParaRPr lang="en-US" sz="1000" dirty="0"/>
          </a:p>
        </p:txBody>
      </p:sp>
      <p:graphicFrame>
        <p:nvGraphicFramePr>
          <p:cNvPr id="5" name="Tabelle KfW Szenarien"/>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566160"/>
                <a:gridCol w="1280160"/>
                <a:gridCol w="1371600"/>
                <a:gridCol w="1097280"/>
                <a:gridCol w="1280160"/>
                <a:gridCol w="1371600"/>
                <a:gridCol w="1124712"/>
              </a:tblGrid>
              <a:tr h="384048">
                <a:tc>
                  <a:txBody>
                    <a:bodyPr/>
                    <a:lstStyle/>
                    <a:p>
                      <a:pPr algn="l" indent="0" marL="0">
                        <a:buNone/>
                      </a:pPr>
                      <a:r>
                        <a:rPr lang="en-US" sz="1250" b="1" dirty="0">
                          <a:solidFill>
                            <a:schemeClr val="bg1"/>
                          </a:solidFill>
                          <a:latin typeface="Arial" pitchFamily="34" charset="0"/>
                          <a:ea typeface="Arial" pitchFamily="34" charset="-122"/>
                          <a:cs typeface="Arial" pitchFamily="34" charset="-120"/>
                        </a:rPr>
                        <a:t>Szenario</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KfW-Rahmen</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Anteil am Kredit</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Mischzins</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Rate / Monat</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Ergebnis / Monat</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gg. ohne KfW</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r>
              <a:tr h="384048">
                <a:tc>
                  <a:txBody>
                    <a:bodyPr/>
                    <a:lstStyle/>
                    <a:p>
                      <a:pPr indent="0" marL="0">
                        <a:buNone/>
                      </a:pPr>
                      <a:r>
                        <a:rPr lang="en-US" sz="1250" b="1" dirty="0">
                          <a:solidFill>
                            <a:srgbClr val="000000"/>
                          </a:solidFill>
                          <a:latin typeface="Arial" pitchFamily="34" charset="0"/>
                          <a:ea typeface="Arial" pitchFamily="34" charset="-122"/>
                          <a:cs typeface="Arial" pitchFamily="34" charset="-120"/>
                        </a:rPr>
                        <a:t>Ohne KfW (Markt 4,0 %)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4,00 %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18.393 €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5"/>
                          </a:solidFill>
                          <a:latin typeface="Arial" pitchFamily="34" charset="0"/>
                          <a:ea typeface="Arial" pitchFamily="34" charset="-122"/>
                          <a:cs typeface="Arial" pitchFamily="34" charset="-120"/>
                        </a:rPr>
                        <a:t>+3.598 €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1EA"/>
                    </a:solidFill>
                  </a:tcPr>
                </a:tc>
                <a:tc>
                  <a:txBody>
                    <a:bodyPr/>
                    <a:lstStyle/>
                    <a:p>
                      <a:pPr algn="r" indent="0" marL="0">
                        <a:buNone/>
                      </a:pP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84048">
                <a:tc>
                  <a:txBody>
                    <a:bodyPr/>
                    <a:lstStyle/>
                    <a:p>
                      <a:pPr indent="0" marL="0">
                        <a:buNone/>
                      </a:pPr>
                      <a:r>
                        <a:rPr lang="en-US" sz="1250" dirty="0">
                          <a:solidFill>
                            <a:srgbClr val="000000"/>
                          </a:solidFill>
                          <a:latin typeface="Arial" pitchFamily="34" charset="0"/>
                          <a:ea typeface="Arial" pitchFamily="34" charset="-122"/>
                          <a:cs typeface="Arial" pitchFamily="34" charset="-120"/>
                        </a:rPr>
                        <a:t>ohne QNG, KfW 3 %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1.387.000 €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33 %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3,67 %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17.580 €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5"/>
                          </a:solidFill>
                          <a:latin typeface="Arial" pitchFamily="34" charset="0"/>
                          <a:ea typeface="Arial" pitchFamily="34" charset="-122"/>
                          <a:cs typeface="Arial" pitchFamily="34" charset="-120"/>
                        </a:rPr>
                        <a:t>+4.410 €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1EA"/>
                    </a:solidFill>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+812 €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84048">
                <a:tc>
                  <a:txBody>
                    <a:bodyPr/>
                    <a:lstStyle/>
                    <a:p>
                      <a:pPr indent="0" marL="0">
                        <a:buNone/>
                      </a:pPr>
                      <a:r>
                        <a:rPr lang="en-US" sz="1250" dirty="0">
                          <a:solidFill>
                            <a:srgbClr val="000000"/>
                          </a:solidFill>
                          <a:latin typeface="Arial" pitchFamily="34" charset="0"/>
                          <a:ea typeface="Arial" pitchFamily="34" charset="-122"/>
                          <a:cs typeface="Arial" pitchFamily="34" charset="-120"/>
                        </a:rPr>
                        <a:t>ohne QNG, KfW 2 %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1.387.000 €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33 %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3,34 %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16.259 €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5"/>
                          </a:solidFill>
                          <a:latin typeface="Arial" pitchFamily="34" charset="0"/>
                          <a:ea typeface="Arial" pitchFamily="34" charset="-122"/>
                          <a:cs typeface="Arial" pitchFamily="34" charset="-120"/>
                        </a:rPr>
                        <a:t>+5.732 €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1EA"/>
                    </a:solidFill>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+2.134 €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84048">
                <a:tc>
                  <a:txBody>
                    <a:bodyPr/>
                    <a:lstStyle/>
                    <a:p>
                      <a:pPr indent="0" marL="0">
                        <a:buNone/>
                      </a:pPr>
                      <a:r>
                        <a:rPr lang="en-US" sz="1250" dirty="0">
                          <a:solidFill>
                            <a:srgbClr val="000000"/>
                          </a:solidFill>
                          <a:latin typeface="Arial" pitchFamily="34" charset="0"/>
                          <a:ea typeface="Arial" pitchFamily="34" charset="-122"/>
                          <a:cs typeface="Arial" pitchFamily="34" charset="-120"/>
                        </a:rPr>
                        <a:t>ohne QNG, KfW 1 %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1.387.000 €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33 %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3,02 %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14.951 €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5"/>
                          </a:solidFill>
                          <a:latin typeface="Arial" pitchFamily="34" charset="0"/>
                          <a:ea typeface="Arial" pitchFamily="34" charset="-122"/>
                          <a:cs typeface="Arial" pitchFamily="34" charset="-120"/>
                        </a:rPr>
                        <a:t>+7.040 €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1EA"/>
                    </a:solidFill>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+3.442 €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84048">
                <a:tc>
                  <a:txBody>
                    <a:bodyPr/>
                    <a:lstStyle/>
                    <a:p>
                      <a:pPr indent="0" marL="0">
                        <a:buNone/>
                      </a:pPr>
                      <a:r>
                        <a:rPr lang="en-US" sz="1250" dirty="0">
                          <a:solidFill>
                            <a:srgbClr val="000000"/>
                          </a:solidFill>
                          <a:latin typeface="Arial" pitchFamily="34" charset="0"/>
                          <a:ea typeface="Arial" pitchFamily="34" charset="-122"/>
                          <a:cs typeface="Arial" pitchFamily="34" charset="-120"/>
                        </a:rPr>
                        <a:t>mit QNG, KfW 3 %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1.982.000 €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47 %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3,53 %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17.011 €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5"/>
                          </a:solidFill>
                          <a:latin typeface="Arial" pitchFamily="34" charset="0"/>
                          <a:ea typeface="Arial" pitchFamily="34" charset="-122"/>
                          <a:cs typeface="Arial" pitchFamily="34" charset="-120"/>
                        </a:rPr>
                        <a:t>+4.980 €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1EA"/>
                    </a:solidFill>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+1.382 €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84048">
                <a:tc>
                  <a:txBody>
                    <a:bodyPr/>
                    <a:lstStyle/>
                    <a:p>
                      <a:pPr indent="0" marL="0">
                        <a:buNone/>
                      </a:pPr>
                      <a:r>
                        <a:rPr lang="en-US" sz="1250" dirty="0">
                          <a:solidFill>
                            <a:srgbClr val="000000"/>
                          </a:solidFill>
                          <a:latin typeface="Arial" pitchFamily="34" charset="0"/>
                          <a:ea typeface="Arial" pitchFamily="34" charset="-122"/>
                          <a:cs typeface="Arial" pitchFamily="34" charset="-120"/>
                        </a:rPr>
                        <a:t>mit QNG, KfW 2 %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1.982.000 €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47 %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3,06 %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15.134 €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5"/>
                          </a:solidFill>
                          <a:latin typeface="Arial" pitchFamily="34" charset="0"/>
                          <a:ea typeface="Arial" pitchFamily="34" charset="-122"/>
                          <a:cs typeface="Arial" pitchFamily="34" charset="-120"/>
                        </a:rPr>
                        <a:t>+6.856 €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1EA"/>
                    </a:solidFill>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+3.258 €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84048">
                <a:tc>
                  <a:txBody>
                    <a:bodyPr/>
                    <a:lstStyle/>
                    <a:p>
                      <a:pPr indent="0" marL="0">
                        <a:buNone/>
                      </a:pPr>
                      <a:r>
                        <a:rPr lang="en-US" sz="1250" dirty="0">
                          <a:solidFill>
                            <a:srgbClr val="000000"/>
                          </a:solidFill>
                          <a:latin typeface="Arial" pitchFamily="34" charset="0"/>
                          <a:ea typeface="Arial" pitchFamily="34" charset="-122"/>
                          <a:cs typeface="Arial" pitchFamily="34" charset="-120"/>
                        </a:rPr>
                        <a:t>mit QNG, KfW 1 %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1.982.000 €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47 %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2,59 %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13.285 €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5"/>
                          </a:solidFill>
                          <a:latin typeface="Arial" pitchFamily="34" charset="0"/>
                          <a:ea typeface="Arial" pitchFamily="34" charset="-122"/>
                          <a:cs typeface="Arial" pitchFamily="34" charset="-120"/>
                        </a:rPr>
                        <a:t>+8.706 €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1EA"/>
                    </a:solidFill>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+5.108 €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84048">
                <a:tc>
                  <a:txBody>
                    <a:bodyPr/>
                    <a:lstStyle/>
                    <a:p>
                      <a:pPr indent="0" marL="0">
                        <a:buNone/>
                      </a:pPr>
                      <a:r>
                        <a:rPr lang="en-US" sz="1250" dirty="0">
                          <a:solidFill>
                            <a:schemeClr val="accent4"/>
                          </a:solidFill>
                          <a:latin typeface="Arial" pitchFamily="34" charset="0"/>
                          <a:ea typeface="Arial" pitchFamily="34" charset="-122"/>
                          <a:cs typeface="Arial" pitchFamily="34" charset="-120"/>
                        </a:rPr>
                        <a:t>Annahme Hauptpräsentation (3,3 %)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3,30 %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15.639 €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5"/>
                          </a:solidFill>
                          <a:latin typeface="Arial" pitchFamily="34" charset="0"/>
                          <a:ea typeface="Arial" pitchFamily="34" charset="-122"/>
                          <a:cs typeface="Arial" pitchFamily="34" charset="-120"/>
                        </a:rPr>
                        <a:t>+6.351 €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1EA"/>
                    </a:solidFill>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+2.753 €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6" name="Text 2"/>
          <p:cNvSpPr txBox="1"/>
          <p:nvPr/>
        </p:nvSpPr>
        <p:spPr>
          <a:xfrm>
            <a:off x="548640" y="5440680"/>
            <a:ext cx="11091672" cy="731520"/>
          </a:xfrm>
          <a:prstGeom prst="rect">
            <a:avLst/>
          </a:prstGeom>
          <a:noFill/>
          <a:ln/>
        </p:spPr>
        <p:txBody>
          <a:bodyPr wrap="square" lIns="0" tIns="0" rIns="0" bIns="0" rtlCol="0" anchor="t"/>
          <a:lstStyle/>
          <a:p>
            <a:pPr indent="0" marL="0">
              <a:buNone/>
            </a:pPr>
            <a:r>
              <a:rPr lang="en-US" sz="1400" b="1" dirty="0">
                <a:solidFill>
                  <a:schemeClr val="accent2"/>
                </a:solidFill>
                <a:latin typeface="Arial" pitchFamily="34" charset="0"/>
                <a:ea typeface="Arial" pitchFamily="34" charset="-122"/>
                <a:cs typeface="Arial" pitchFamily="34" charset="-120"/>
              </a:rPr>
              <a:t>Fazit: Mit QNG und einem KfW-Zins von ca. 2 % sinkt der Mischzins auf ca. 3,1 %. Das passt zur Annahme von 3,3 % in der Hauptpräsentation, die damit realistisch ist, aber nur mit KfW-Zusage.</a:t>
            </a:r>
            <a:endParaRPr lang="en-US" sz="14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700" dirty="0">
                <a:solidFill>
                  <a:schemeClr val="accent1"/>
                </a:solidFill>
                <a:latin typeface="Georgia" pitchFamily="34" charset="0"/>
                <a:ea typeface="Georgia" pitchFamily="34" charset="-122"/>
                <a:cs typeface="Georgia" pitchFamily="34" charset="-120"/>
              </a:rPr>
              <a:t>Auch für die Käufer in der Familie</a:t>
            </a:r>
            <a:endParaRPr lang="en-US" sz="2700" dirty="0"/>
          </a:p>
        </p:txBody>
      </p:sp>
      <p:sp>
        <p:nvSpPr>
          <p:cNvPr id="3" name="Zielgruppe"/>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Für Verwandte und Bank</a:t>
            </a:r>
            <a:endParaRPr lang="en-US" sz="1000" dirty="0"/>
          </a:p>
        </p:txBody>
      </p:sp>
      <p:graphicFrame>
        <p:nvGraphicFramePr>
          <p:cNvPr id="6" name="Tabelle KfW Käufer"/>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743200"/>
                <a:gridCol w="1737360"/>
                <a:gridCol w="2194560"/>
                <a:gridCol w="2194560"/>
                <a:gridCol w="2221992"/>
              </a:tblGrid>
              <a:tr h="548640">
                <a:tc>
                  <a:txBody>
                    <a:bodyPr/>
                    <a:lstStyle/>
                    <a:p>
                      <a:pPr algn="l" indent="0" marL="0">
                        <a:buNone/>
                      </a:pPr>
                      <a:r>
                        <a:rPr lang="en-US" sz="1250" b="1" dirty="0">
                          <a:solidFill>
                            <a:schemeClr val="bg1"/>
                          </a:solidFill>
                          <a:latin typeface="Arial" pitchFamily="34" charset="0"/>
                          <a:ea typeface="Arial" pitchFamily="34" charset="-122"/>
                          <a:cs typeface="Arial" pitchFamily="34" charset="-120"/>
                        </a:rPr>
                        <a:t>Wohnung</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Preis</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Ergebnis ohne KfW</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KfW 100.000 € zu 2 %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KfW 150.000 € (QNG) zu 2 %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r>
              <a:tr h="548640">
                <a:tc>
                  <a:txBody>
                    <a:bodyPr/>
                    <a:lstStyle/>
                    <a:p>
                      <a:pPr indent="0" marL="0">
                        <a:buNone/>
                      </a:pPr>
                      <a:r>
                        <a:rPr lang="en-US" sz="1250" dirty="0">
                          <a:solidFill>
                            <a:srgbClr val="000000"/>
                          </a:solidFill>
                          <a:latin typeface="Arial" pitchFamily="34" charset="0"/>
                          <a:ea typeface="Arial" pitchFamily="34" charset="-122"/>
                          <a:cs typeface="Arial" pitchFamily="34" charset="-120"/>
                        </a:rPr>
                        <a:t>1. OG, 83 m²</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289.809 €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6"/>
                          </a:solidFill>
                          <a:latin typeface="Arial" pitchFamily="34" charset="0"/>
                          <a:ea typeface="Arial" pitchFamily="34" charset="-122"/>
                          <a:cs typeface="Arial" pitchFamily="34" charset="-120"/>
                        </a:rPr>
                        <a:t>−463 €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E4E2"/>
                    </a:solidFill>
                  </a:tcPr>
                </a:tc>
                <a:tc>
                  <a:txBody>
                    <a:bodyPr/>
                    <a:lstStyle/>
                    <a:p>
                      <a:pPr algn="r" indent="0" marL="0">
                        <a:buNone/>
                      </a:pPr>
                      <a:r>
                        <a:rPr lang="en-US" sz="1250" b="1" dirty="0">
                          <a:solidFill>
                            <a:schemeClr val="accent6"/>
                          </a:solidFill>
                          <a:latin typeface="Arial" pitchFamily="34" charset="0"/>
                          <a:ea typeface="Arial" pitchFamily="34" charset="-122"/>
                          <a:cs typeface="Arial" pitchFamily="34" charset="-120"/>
                        </a:rPr>
                        <a:t>−271 €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E4E2"/>
                    </a:solidFill>
                  </a:tcPr>
                </a:tc>
                <a:tc>
                  <a:txBody>
                    <a:bodyPr/>
                    <a:lstStyle/>
                    <a:p>
                      <a:pPr algn="r" indent="0" marL="0">
                        <a:buNone/>
                      </a:pPr>
                      <a:r>
                        <a:rPr lang="en-US" sz="1250" b="1" dirty="0">
                          <a:solidFill>
                            <a:schemeClr val="accent6"/>
                          </a:solidFill>
                          <a:latin typeface="Arial" pitchFamily="34" charset="0"/>
                          <a:ea typeface="Arial" pitchFamily="34" charset="-122"/>
                          <a:cs typeface="Arial" pitchFamily="34" charset="-120"/>
                        </a:rPr>
                        <a:t>−177 €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E4E2"/>
                    </a:solidFill>
                  </a:tcPr>
                </a:tc>
              </a:tr>
              <a:tr h="548640">
                <a:tc>
                  <a:txBody>
                    <a:bodyPr/>
                    <a:lstStyle/>
                    <a:p>
                      <a:pPr indent="0" marL="0">
                        <a:buNone/>
                      </a:pPr>
                      <a:r>
                        <a:rPr lang="en-US" sz="1250" dirty="0">
                          <a:solidFill>
                            <a:srgbClr val="000000"/>
                          </a:solidFill>
                          <a:latin typeface="Arial" pitchFamily="34" charset="0"/>
                          <a:ea typeface="Arial" pitchFamily="34" charset="-122"/>
                          <a:cs typeface="Arial" pitchFamily="34" charset="-120"/>
                        </a:rPr>
                        <a:t>Penthouse, 103 m²</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353.343 €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6"/>
                          </a:solidFill>
                          <a:latin typeface="Arial" pitchFamily="34" charset="0"/>
                          <a:ea typeface="Arial" pitchFamily="34" charset="-122"/>
                          <a:cs typeface="Arial" pitchFamily="34" charset="-120"/>
                        </a:rPr>
                        <a:t>−543 €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E4E2"/>
                    </a:solidFill>
                  </a:tcPr>
                </a:tc>
                <a:tc>
                  <a:txBody>
                    <a:bodyPr/>
                    <a:lstStyle/>
                    <a:p>
                      <a:pPr algn="r" indent="0" marL="0">
                        <a:buNone/>
                      </a:pPr>
                      <a:r>
                        <a:rPr lang="en-US" sz="1250" b="1" dirty="0">
                          <a:solidFill>
                            <a:schemeClr val="accent6"/>
                          </a:solidFill>
                          <a:latin typeface="Arial" pitchFamily="34" charset="0"/>
                          <a:ea typeface="Arial" pitchFamily="34" charset="-122"/>
                          <a:cs typeface="Arial" pitchFamily="34" charset="-120"/>
                        </a:rPr>
                        <a:t>−351 €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E4E2"/>
                    </a:solidFill>
                  </a:tcPr>
                </a:tc>
                <a:tc>
                  <a:txBody>
                    <a:bodyPr/>
                    <a:lstStyle/>
                    <a:p>
                      <a:pPr algn="r" indent="0" marL="0">
                        <a:buNone/>
                      </a:pPr>
                      <a:r>
                        <a:rPr lang="en-US" sz="1250" b="1" dirty="0">
                          <a:solidFill>
                            <a:schemeClr val="accent6"/>
                          </a:solidFill>
                          <a:latin typeface="Arial" pitchFamily="34" charset="0"/>
                          <a:ea typeface="Arial" pitchFamily="34" charset="-122"/>
                          <a:cs typeface="Arial" pitchFamily="34" charset="-120"/>
                        </a:rPr>
                        <a:t>−256 €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E4E2"/>
                    </a:solidFill>
                  </a:tcPr>
                </a:tc>
              </a:tr>
            </a:tbl>
          </a:graphicData>
        </a:graphic>
      </p:graphicFrame>
      <p:sp>
        <p:nvSpPr>
          <p:cNvPr id="6" name="Text 2"/>
          <p:cNvSpPr txBox="1"/>
          <p:nvPr/>
        </p:nvSpPr>
        <p:spPr>
          <a:xfrm>
            <a:off x="548640" y="3108960"/>
            <a:ext cx="11091672" cy="1645920"/>
          </a:xfrm>
          <a:prstGeom prst="rect">
            <a:avLst/>
          </a:prstGeom>
          <a:noFill/>
          <a:ln/>
        </p:spPr>
        <p:txBody>
          <a:bodyPr wrap="square" lIns="0" tIns="0" rIns="0" bIns="0" rtlCol="0" anchor="t"/>
          <a:lstStyle/>
          <a:p>
            <a:pPr indent="0" marL="0">
              <a:spcAft>
                <a:spcPts val="800"/>
              </a:spcAft>
              <a:buNone/>
            </a:pPr>
            <a:r>
              <a:rPr lang="en-US" sz="1400" dirty="0">
                <a:solidFill>
                  <a:schemeClr val="tx1"/>
                </a:solidFill>
                <a:latin typeface="Arial" pitchFamily="34" charset="0"/>
                <a:ea typeface="Arial" pitchFamily="34" charset="-122"/>
                <a:cs typeface="Arial" pitchFamily="34" charset="-120"/>
              </a:rPr>
              <a:t>Auch mit KfW bleibt die Wohnung bei Selbstkostenpreis und 1 % Tilgung noch leicht im Minus. Erst mit tilgungsfreien Jahren und einem Nachlass im Verkaufsplan wird ein Plus je Wohnung erreichbar.</a:t>
            </a:r>
            <a:endParaRPr lang="en-US" sz="1400" dirty="0"/>
          </a:p>
          <a:p>
            <a:pPr indent="0" marL="0">
              <a:spcAft>
                <a:spcPts val="800"/>
              </a:spcAft>
              <a:buNone/>
            </a:pPr>
            <a:r>
              <a:rPr lang="en-US" sz="1400" dirty="0">
                <a:solidFill>
                  <a:schemeClr val="tx1"/>
                </a:solidFill>
                <a:latin typeface="Arial" pitchFamily="34" charset="0"/>
                <a:ea typeface="Arial" pitchFamily="34" charset="-122"/>
                <a:cs typeface="Arial" pitchFamily="34" charset="-120"/>
              </a:rPr>
              <a:t>Jeder Käufer braucht eine eigene Zusage von seiner Hausbank, das Wohneigentum-Programm für Familien (300) passt nicht, weil die Wohnungen vermietet werden.</a:t>
            </a:r>
            <a:endParaRPr lang="en-US" sz="14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700" dirty="0">
                <a:solidFill>
                  <a:schemeClr val="accent1"/>
                </a:solidFill>
                <a:latin typeface="Georgia" pitchFamily="34" charset="0"/>
                <a:ea typeface="Georgia" pitchFamily="34" charset="-122"/>
                <a:cs typeface="Georgia" pitchFamily="34" charset="-120"/>
              </a:rPr>
              <a:t>Kredit statt Zuschuss: Einordnung</a:t>
            </a:r>
            <a:endParaRPr lang="en-US" sz="2700" dirty="0"/>
          </a:p>
        </p:txBody>
      </p:sp>
      <p:sp>
        <p:nvSpPr>
          <p:cNvPr id="3" name="Zielgruppe"/>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Für Stadt und Bank</a:t>
            </a:r>
            <a:endParaRPr lang="en-US" sz="1000" dirty="0"/>
          </a:p>
        </p:txBody>
      </p:sp>
      <p:graphicFrame>
        <p:nvGraphicFramePr>
          <p:cNvPr id="7" name="Tabelle Zuschuss gegen Kredit"/>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4754880"/>
                <a:gridCol w="2286000"/>
                <a:gridCol w="2011680"/>
                <a:gridCol w="2039112"/>
              </a:tblGrid>
              <a:tr h="548640">
                <a:tc>
                  <a:txBody>
                    <a:bodyPr/>
                    <a:lstStyle/>
                    <a:p>
                      <a:pPr algn="l" indent="0" marL="0">
                        <a:buNone/>
                      </a:pPr>
                      <a:r>
                        <a:rPr lang="en-US" sz="1250" b="1" dirty="0">
                          <a:solidFill>
                            <a:schemeClr val="bg1"/>
                          </a:solidFill>
                          <a:latin typeface="Arial" pitchFamily="34" charset="0"/>
                          <a:ea typeface="Arial" pitchFamily="34" charset="-122"/>
                          <a:cs typeface="Arial" pitchFamily="34" charset="-120"/>
                        </a:rPr>
                        <a:t>Förderart</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Was passiert</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Ergebnis / Monat</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r" indent="0" marL="0">
                        <a:buNone/>
                      </a:pPr>
                      <a:r>
                        <a:rPr lang="en-US" sz="1250" b="1" dirty="0">
                          <a:solidFill>
                            <a:schemeClr val="bg1"/>
                          </a:solidFill>
                          <a:latin typeface="Arial" pitchFamily="34" charset="0"/>
                          <a:ea typeface="Arial" pitchFamily="34" charset="-122"/>
                          <a:cs typeface="Arial" pitchFamily="34" charset="-120"/>
                        </a:rPr>
                        <a:t>gg. ohne Förderung</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r>
              <a:tr h="548640">
                <a:tc>
                  <a:txBody>
                    <a:bodyPr/>
                    <a:lstStyle/>
                    <a:p>
                      <a:pPr indent="0" marL="0">
                        <a:buNone/>
                      </a:pPr>
                      <a:r>
                        <a:rPr lang="en-US" sz="1250" dirty="0">
                          <a:solidFill>
                            <a:srgbClr val="000000"/>
                          </a:solidFill>
                          <a:latin typeface="Arial" pitchFamily="34" charset="0"/>
                          <a:ea typeface="Arial" pitchFamily="34" charset="-122"/>
                          <a:cs typeface="Arial" pitchFamily="34" charset="-120"/>
                        </a:rPr>
                        <a:t>Ohne Förderung (Zins 4,0 %)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5"/>
                          </a:solidFill>
                          <a:latin typeface="Arial" pitchFamily="34" charset="0"/>
                          <a:ea typeface="Arial" pitchFamily="34" charset="-122"/>
                          <a:cs typeface="Arial" pitchFamily="34" charset="-120"/>
                        </a:rPr>
                        <a:t>+3.598 €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1EA"/>
                    </a:solidFill>
                  </a:tcPr>
                </a:tc>
                <a:tc>
                  <a:txBody>
                    <a:bodyPr/>
                    <a:lstStyle/>
                    <a:p>
                      <a:pPr algn="r" indent="0" marL="0">
                        <a:buNone/>
                      </a:pP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548640">
                <a:tc>
                  <a:txBody>
                    <a:bodyPr/>
                    <a:lstStyle/>
                    <a:p>
                      <a:pPr indent="0" marL="0">
                        <a:buNone/>
                      </a:pPr>
                      <a:r>
                        <a:rPr lang="en-US" sz="1250" dirty="0">
                          <a:solidFill>
                            <a:srgbClr val="000000"/>
                          </a:solidFill>
                          <a:latin typeface="Arial" pitchFamily="34" charset="0"/>
                          <a:ea typeface="Arial" pitchFamily="34" charset="-122"/>
                          <a:cs typeface="Arial" pitchFamily="34" charset="-120"/>
                        </a:rPr>
                        <a:t>5 % Zuschuss der Stadt (Städtebauförderung, offen)</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Kosten 3.902.710 €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5"/>
                          </a:solidFill>
                          <a:latin typeface="Arial" pitchFamily="34" charset="0"/>
                          <a:ea typeface="Arial" pitchFamily="34" charset="-122"/>
                          <a:cs typeface="Arial" pitchFamily="34" charset="-120"/>
                        </a:rPr>
                        <a:t>+4.518 €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1EA"/>
                    </a:solidFill>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+920 €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548640">
                <a:tc>
                  <a:txBody>
                    <a:bodyPr/>
                    <a:lstStyle/>
                    <a:p>
                      <a:pPr indent="0" marL="0">
                        <a:buNone/>
                      </a:pPr>
                      <a:r>
                        <a:rPr lang="en-US" sz="1250" dirty="0">
                          <a:solidFill>
                            <a:srgbClr val="000000"/>
                          </a:solidFill>
                          <a:latin typeface="Arial" pitchFamily="34" charset="0"/>
                          <a:ea typeface="Arial" pitchFamily="34" charset="-122"/>
                          <a:cs typeface="Arial" pitchFamily="34" charset="-120"/>
                        </a:rPr>
                        <a:t>KfW ohne QNG, 2 % auf Teilkredit</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Mischzins 3,34 %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5"/>
                          </a:solidFill>
                          <a:latin typeface="Arial" pitchFamily="34" charset="0"/>
                          <a:ea typeface="Arial" pitchFamily="34" charset="-122"/>
                          <a:cs typeface="Arial" pitchFamily="34" charset="-120"/>
                        </a:rPr>
                        <a:t>+5.732 €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1EA"/>
                    </a:solidFill>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+2.134 €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548640">
                <a:tc>
                  <a:txBody>
                    <a:bodyPr/>
                    <a:lstStyle/>
                    <a:p>
                      <a:pPr indent="0" marL="0">
                        <a:buNone/>
                      </a:pPr>
                      <a:r>
                        <a:rPr lang="en-US" sz="1250" dirty="0">
                          <a:solidFill>
                            <a:srgbClr val="000000"/>
                          </a:solidFill>
                          <a:latin typeface="Arial" pitchFamily="34" charset="0"/>
                          <a:ea typeface="Arial" pitchFamily="34" charset="-122"/>
                          <a:cs typeface="Arial" pitchFamily="34" charset="-120"/>
                        </a:rPr>
                        <a:t>KfW mit QNG, 2 % auf Teilkredit</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Mischzins 3,06 %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250" b="1" dirty="0">
                          <a:solidFill>
                            <a:schemeClr val="accent5"/>
                          </a:solidFill>
                          <a:latin typeface="Arial" pitchFamily="34" charset="0"/>
                          <a:ea typeface="Arial" pitchFamily="34" charset="-122"/>
                          <a:cs typeface="Arial" pitchFamily="34" charset="-120"/>
                        </a:rPr>
                        <a:t>+6.856 €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1EA"/>
                    </a:solidFill>
                  </a:tcPr>
                </a:tc>
                <a:tc>
                  <a:txBody>
                    <a:bodyPr/>
                    <a:lstStyle/>
                    <a:p>
                      <a:pPr algn="r" indent="0" marL="0">
                        <a:buNone/>
                      </a:pPr>
                      <a:r>
                        <a:rPr lang="en-US" sz="1250" dirty="0">
                          <a:solidFill>
                            <a:srgbClr val="000000"/>
                          </a:solidFill>
                          <a:latin typeface="Arial" pitchFamily="34" charset="0"/>
                          <a:ea typeface="Arial" pitchFamily="34" charset="-122"/>
                          <a:cs typeface="Arial" pitchFamily="34" charset="-120"/>
                        </a:rPr>
                        <a:t>+3.258 €</a:t>
                      </a:r>
                      <a:endParaRPr lang="en-US" sz="1250" dirty="0">
                        <a:latin typeface="Arial" charset="0"/>
                        <a:ea typeface="Arial" charset="0"/>
                        <a:cs typeface="Arial"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6" name="Text 2"/>
          <p:cNvSpPr txBox="1"/>
          <p:nvPr/>
        </p:nvSpPr>
        <p:spPr>
          <a:xfrm>
            <a:off x="548640" y="4297680"/>
            <a:ext cx="11091672" cy="109728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KfW und ein Zuschuss der Stadt lassen sich kombinieren, die Stadt muss aber zusagen. Weitere Programme, etwa Landesmittel oder Wohnraumförderung Niedersachsen (NBank) für geförderte Mieten, sind noch nicht geprüft.</a:t>
            </a:r>
            <a:endParaRPr lang="en-US" sz="14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700" dirty="0">
                <a:solidFill>
                  <a:schemeClr val="accent1"/>
                </a:solidFill>
                <a:latin typeface="Georgia" pitchFamily="34" charset="0"/>
                <a:ea typeface="Georgia" pitchFamily="34" charset="-122"/>
                <a:cs typeface="Georgia" pitchFamily="34" charset="-120"/>
              </a:rPr>
              <a:t>Nächste Schritte zur KfW-Zusage</a:t>
            </a:r>
            <a:endParaRPr lang="en-US" sz="2700" dirty="0"/>
          </a:p>
        </p:txBody>
      </p:sp>
      <p:sp>
        <p:nvSpPr>
          <p:cNvPr id="3" name="Zielgruppe"/>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Für Stadt und Bank</a:t>
            </a:r>
            <a:endParaRPr lang="en-US" sz="1000" dirty="0"/>
          </a:p>
        </p:txBody>
      </p:sp>
      <p:sp>
        <p:nvSpPr>
          <p:cNvPr id="5" name="Schritt 1"/>
          <p:cNvSpPr/>
          <p:nvPr/>
        </p:nvSpPr>
        <p:spPr>
          <a:xfrm>
            <a:off x="548640" y="1371600"/>
            <a:ext cx="502920" cy="502920"/>
          </a:xfrm>
          <a:prstGeom prst="ellipse">
            <a:avLst/>
          </a:prstGeom>
          <a:solidFill>
            <a:schemeClr val="accent2"/>
          </a:solidFill>
          <a:ln w="12700">
            <a:solidFill>
              <a:schemeClr val="bg1"/>
            </a:solidFill>
            <a:prstDash val="solid"/>
          </a:ln>
        </p:spPr>
      </p:sp>
      <p:sp>
        <p:nvSpPr>
          <p:cNvPr id="6" name="Text 3"/>
          <p:cNvSpPr txBox="1"/>
          <p:nvPr/>
        </p:nvSpPr>
        <p:spPr>
          <a:xfrm>
            <a:off x="548640" y="13716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1</a:t>
            </a:r>
            <a:endParaRPr lang="en-US" sz="1600" dirty="0"/>
          </a:p>
        </p:txBody>
      </p:sp>
      <p:sp>
        <p:nvSpPr>
          <p:cNvPr id="7" name="Text 4"/>
          <p:cNvSpPr txBox="1"/>
          <p:nvPr/>
        </p:nvSpPr>
        <p:spPr>
          <a:xfrm>
            <a:off x="1325880" y="1389888"/>
            <a:ext cx="2011680" cy="457200"/>
          </a:xfrm>
          <a:prstGeom prst="rect">
            <a:avLst/>
          </a:prstGeom>
          <a:noFill/>
          <a:ln/>
        </p:spPr>
        <p:txBody>
          <a:bodyPr wrap="square" lIns="0" tIns="0" rIns="0" bIns="0" rtlCol="0" anchor="ctr"/>
          <a:lstStyle/>
          <a:p>
            <a:pPr indent="0" marL="0">
              <a:buNone/>
            </a:pPr>
            <a:r>
              <a:rPr lang="en-US" sz="1600" b="1" dirty="0">
                <a:solidFill>
                  <a:schemeClr val="accent1"/>
                </a:solidFill>
                <a:latin typeface="Arial" pitchFamily="34" charset="0"/>
                <a:ea typeface="Arial" pitchFamily="34" charset="-122"/>
                <a:cs typeface="Arial" pitchFamily="34" charset="-120"/>
              </a:rPr>
              <a:t>Jetzt</a:t>
            </a:r>
            <a:endParaRPr lang="en-US" sz="1600" dirty="0"/>
          </a:p>
        </p:txBody>
      </p:sp>
      <p:sp>
        <p:nvSpPr>
          <p:cNvPr id="8" name="Text 5"/>
          <p:cNvSpPr txBox="1"/>
          <p:nvPr/>
        </p:nvSpPr>
        <p:spPr>
          <a:xfrm>
            <a:off x="3383280" y="1389888"/>
            <a:ext cx="822960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Energieeffizienz-Experten beauftragen: Effizienzhaus 40 und QNG für Wohnen und Gastro prüfen</a:t>
            </a:r>
            <a:endParaRPr lang="en-US" sz="1400" dirty="0"/>
          </a:p>
        </p:txBody>
      </p:sp>
      <p:sp>
        <p:nvSpPr>
          <p:cNvPr id="9" name="Schritt 2"/>
          <p:cNvSpPr/>
          <p:nvPr/>
        </p:nvSpPr>
        <p:spPr>
          <a:xfrm>
            <a:off x="548640" y="2148840"/>
            <a:ext cx="502920" cy="502920"/>
          </a:xfrm>
          <a:prstGeom prst="ellipse">
            <a:avLst/>
          </a:prstGeom>
          <a:solidFill>
            <a:schemeClr val="accent2"/>
          </a:solidFill>
          <a:ln w="12700">
            <a:solidFill>
              <a:schemeClr val="bg1"/>
            </a:solidFill>
            <a:prstDash val="solid"/>
          </a:ln>
        </p:spPr>
      </p:sp>
      <p:sp>
        <p:nvSpPr>
          <p:cNvPr id="10" name="Text 7"/>
          <p:cNvSpPr txBox="1"/>
          <p:nvPr/>
        </p:nvSpPr>
        <p:spPr>
          <a:xfrm>
            <a:off x="548640" y="21488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2</a:t>
            </a:r>
            <a:endParaRPr lang="en-US" sz="1600" dirty="0"/>
          </a:p>
        </p:txBody>
      </p:sp>
      <p:sp>
        <p:nvSpPr>
          <p:cNvPr id="11" name="Text 8"/>
          <p:cNvSpPr txBox="1"/>
          <p:nvPr/>
        </p:nvSpPr>
        <p:spPr>
          <a:xfrm>
            <a:off x="1325880" y="2167128"/>
            <a:ext cx="2011680" cy="457200"/>
          </a:xfrm>
          <a:prstGeom prst="rect">
            <a:avLst/>
          </a:prstGeom>
          <a:noFill/>
          <a:ln/>
        </p:spPr>
        <p:txBody>
          <a:bodyPr wrap="square" lIns="0" tIns="0" rIns="0" bIns="0" rtlCol="0" anchor="ctr"/>
          <a:lstStyle/>
          <a:p>
            <a:pPr indent="0" marL="0">
              <a:buNone/>
            </a:pPr>
            <a:r>
              <a:rPr lang="en-US" sz="1600" b="1" dirty="0">
                <a:solidFill>
                  <a:schemeClr val="accent1"/>
                </a:solidFill>
                <a:latin typeface="Arial" pitchFamily="34" charset="0"/>
                <a:ea typeface="Arial" pitchFamily="34" charset="-122"/>
                <a:cs typeface="Arial" pitchFamily="34" charset="-120"/>
              </a:rPr>
              <a:t>Q4 2026</a:t>
            </a:r>
            <a:endParaRPr lang="en-US" sz="1600" dirty="0"/>
          </a:p>
        </p:txBody>
      </p:sp>
      <p:sp>
        <p:nvSpPr>
          <p:cNvPr id="12" name="Text 9"/>
          <p:cNvSpPr txBox="1"/>
          <p:nvPr/>
        </p:nvSpPr>
        <p:spPr>
          <a:xfrm>
            <a:off x="3383280" y="2167128"/>
            <a:ext cx="822960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Heizkonzept ohne Gas und Öl (Wärmepumpe, Fernwärme) und Abluft der Gastro-Küche klären</a:t>
            </a:r>
            <a:endParaRPr lang="en-US" sz="1400" dirty="0"/>
          </a:p>
        </p:txBody>
      </p:sp>
      <p:sp>
        <p:nvSpPr>
          <p:cNvPr id="13" name="Schritt 3"/>
          <p:cNvSpPr/>
          <p:nvPr/>
        </p:nvSpPr>
        <p:spPr>
          <a:xfrm>
            <a:off x="548640" y="2926080"/>
            <a:ext cx="502920" cy="502920"/>
          </a:xfrm>
          <a:prstGeom prst="ellipse">
            <a:avLst/>
          </a:prstGeom>
          <a:solidFill>
            <a:schemeClr val="accent2"/>
          </a:solidFill>
          <a:ln w="12700">
            <a:solidFill>
              <a:schemeClr val="bg1"/>
            </a:solidFill>
            <a:prstDash val="solid"/>
          </a:ln>
        </p:spPr>
      </p:sp>
      <p:sp>
        <p:nvSpPr>
          <p:cNvPr id="14" name="Text 11"/>
          <p:cNvSpPr txBox="1"/>
          <p:nvPr/>
        </p:nvSpPr>
        <p:spPr>
          <a:xfrm>
            <a:off x="548640" y="2926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3</a:t>
            </a:r>
            <a:endParaRPr lang="en-US" sz="1600" dirty="0"/>
          </a:p>
        </p:txBody>
      </p:sp>
      <p:sp>
        <p:nvSpPr>
          <p:cNvPr id="15" name="Text 12"/>
          <p:cNvSpPr txBox="1"/>
          <p:nvPr/>
        </p:nvSpPr>
        <p:spPr>
          <a:xfrm>
            <a:off x="1325880" y="2944368"/>
            <a:ext cx="2011680" cy="457200"/>
          </a:xfrm>
          <a:prstGeom prst="rect">
            <a:avLst/>
          </a:prstGeom>
          <a:noFill/>
          <a:ln/>
        </p:spPr>
        <p:txBody>
          <a:bodyPr wrap="square" lIns="0" tIns="0" rIns="0" bIns="0" rtlCol="0" anchor="ctr"/>
          <a:lstStyle/>
          <a:p>
            <a:pPr indent="0" marL="0">
              <a:buNone/>
            </a:pPr>
            <a:r>
              <a:rPr lang="en-US" sz="1600" b="1" dirty="0">
                <a:solidFill>
                  <a:schemeClr val="accent1"/>
                </a:solidFill>
                <a:latin typeface="Arial" pitchFamily="34" charset="0"/>
                <a:ea typeface="Arial" pitchFamily="34" charset="-122"/>
                <a:cs typeface="Arial" pitchFamily="34" charset="-120"/>
              </a:rPr>
              <a:t>Q1 2027</a:t>
            </a:r>
            <a:endParaRPr lang="en-US" sz="1600" dirty="0"/>
          </a:p>
        </p:txBody>
      </p:sp>
      <p:sp>
        <p:nvSpPr>
          <p:cNvPr id="16" name="Text 13"/>
          <p:cNvSpPr txBox="1"/>
          <p:nvPr/>
        </p:nvSpPr>
        <p:spPr>
          <a:xfrm>
            <a:off x="3383280" y="2944368"/>
            <a:ext cx="822960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Hausbank fragt KfW-Zinsen und Rahmen für 298 und 299 an, QNG-Zertifizierer wählen</a:t>
            </a:r>
            <a:endParaRPr lang="en-US" sz="1400" dirty="0"/>
          </a:p>
        </p:txBody>
      </p:sp>
      <p:sp>
        <p:nvSpPr>
          <p:cNvPr id="17" name="Schritt 4"/>
          <p:cNvSpPr/>
          <p:nvPr/>
        </p:nvSpPr>
        <p:spPr>
          <a:xfrm>
            <a:off x="548640" y="3703320"/>
            <a:ext cx="502920" cy="502920"/>
          </a:xfrm>
          <a:prstGeom prst="ellipse">
            <a:avLst/>
          </a:prstGeom>
          <a:solidFill>
            <a:schemeClr val="accent2"/>
          </a:solidFill>
          <a:ln w="12700">
            <a:solidFill>
              <a:schemeClr val="bg1"/>
            </a:solidFill>
            <a:prstDash val="solid"/>
          </a:ln>
        </p:spPr>
      </p:sp>
      <p:sp>
        <p:nvSpPr>
          <p:cNvPr id="18" name="Text 15"/>
          <p:cNvSpPr txBox="1"/>
          <p:nvPr/>
        </p:nvSpPr>
        <p:spPr>
          <a:xfrm>
            <a:off x="548640" y="37033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4</a:t>
            </a:r>
            <a:endParaRPr lang="en-US" sz="1600" dirty="0"/>
          </a:p>
        </p:txBody>
      </p:sp>
      <p:sp>
        <p:nvSpPr>
          <p:cNvPr id="19" name="Text 16"/>
          <p:cNvSpPr txBox="1"/>
          <p:nvPr/>
        </p:nvSpPr>
        <p:spPr>
          <a:xfrm>
            <a:off x="1325880" y="3721608"/>
            <a:ext cx="2011680" cy="457200"/>
          </a:xfrm>
          <a:prstGeom prst="rect">
            <a:avLst/>
          </a:prstGeom>
          <a:noFill/>
          <a:ln/>
        </p:spPr>
        <p:txBody>
          <a:bodyPr wrap="square" lIns="0" tIns="0" rIns="0" bIns="0" rtlCol="0" anchor="ctr"/>
          <a:lstStyle/>
          <a:p>
            <a:pPr indent="0" marL="0">
              <a:buNone/>
            </a:pPr>
            <a:r>
              <a:rPr lang="en-US" sz="1600" b="1" dirty="0">
                <a:solidFill>
                  <a:schemeClr val="accent1"/>
                </a:solidFill>
                <a:latin typeface="Arial" pitchFamily="34" charset="0"/>
                <a:ea typeface="Arial" pitchFamily="34" charset="-122"/>
                <a:cs typeface="Arial" pitchFamily="34" charset="-120"/>
              </a:rPr>
              <a:t>vor Baubeginn</a:t>
            </a:r>
            <a:endParaRPr lang="en-US" sz="1600" dirty="0"/>
          </a:p>
        </p:txBody>
      </p:sp>
      <p:sp>
        <p:nvSpPr>
          <p:cNvPr id="20" name="Text 17"/>
          <p:cNvSpPr txBox="1"/>
          <p:nvPr/>
        </p:nvSpPr>
        <p:spPr>
          <a:xfrm>
            <a:off x="3383280" y="3721608"/>
            <a:ext cx="822960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KfW-Antrag über die Hausbank stellen (Mitte 2027), erst danach mit dem Bau beginnen</a:t>
            </a:r>
            <a:endParaRPr lang="en-US" sz="1400" dirty="0"/>
          </a:p>
        </p:txBody>
      </p:sp>
      <p:sp>
        <p:nvSpPr>
          <p:cNvPr id="21" name="Schritt 5"/>
          <p:cNvSpPr/>
          <p:nvPr/>
        </p:nvSpPr>
        <p:spPr>
          <a:xfrm>
            <a:off x="548640" y="4480560"/>
            <a:ext cx="502920" cy="502920"/>
          </a:xfrm>
          <a:prstGeom prst="ellipse">
            <a:avLst/>
          </a:prstGeom>
          <a:solidFill>
            <a:schemeClr val="accent2"/>
          </a:solidFill>
          <a:ln w="12700">
            <a:solidFill>
              <a:schemeClr val="bg1"/>
            </a:solidFill>
            <a:prstDash val="solid"/>
          </a:ln>
        </p:spPr>
      </p:sp>
      <p:sp>
        <p:nvSpPr>
          <p:cNvPr id="22" name="Text 19"/>
          <p:cNvSpPr txBox="1"/>
          <p:nvPr/>
        </p:nvSpPr>
        <p:spPr>
          <a:xfrm>
            <a:off x="548640" y="44805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5</a:t>
            </a:r>
            <a:endParaRPr lang="en-US" sz="1600" dirty="0"/>
          </a:p>
        </p:txBody>
      </p:sp>
      <p:sp>
        <p:nvSpPr>
          <p:cNvPr id="23" name="Text 20"/>
          <p:cNvSpPr txBox="1"/>
          <p:nvPr/>
        </p:nvSpPr>
        <p:spPr>
          <a:xfrm>
            <a:off x="1325880" y="4498848"/>
            <a:ext cx="2011680" cy="457200"/>
          </a:xfrm>
          <a:prstGeom prst="rect">
            <a:avLst/>
          </a:prstGeom>
          <a:noFill/>
          <a:ln/>
        </p:spPr>
        <p:txBody>
          <a:bodyPr wrap="square" lIns="0" tIns="0" rIns="0" bIns="0" rtlCol="0" anchor="ctr"/>
          <a:lstStyle/>
          <a:p>
            <a:pPr indent="0" marL="0">
              <a:buNone/>
            </a:pPr>
            <a:r>
              <a:rPr lang="en-US" sz="1600" b="1" dirty="0">
                <a:solidFill>
                  <a:schemeClr val="accent1"/>
                </a:solidFill>
                <a:latin typeface="Arial" pitchFamily="34" charset="0"/>
                <a:ea typeface="Arial" pitchFamily="34" charset="-122"/>
                <a:cs typeface="Arial" pitchFamily="34" charset="-120"/>
              </a:rPr>
              <a:t>nach Fertigstellung</a:t>
            </a:r>
            <a:endParaRPr lang="en-US" sz="1600" dirty="0"/>
          </a:p>
        </p:txBody>
      </p:sp>
      <p:sp>
        <p:nvSpPr>
          <p:cNvPr id="24" name="Text 21"/>
          <p:cNvSpPr txBox="1"/>
          <p:nvPr/>
        </p:nvSpPr>
        <p:spPr>
          <a:xfrm>
            <a:off x="3383280" y="4498848"/>
            <a:ext cx="822960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Nachweis und Bestätigung durch den Experten, Auszahlung abschließen</a:t>
            </a:r>
            <a:endParaRPr lang="en-US" sz="1400" dirty="0"/>
          </a:p>
        </p:txBody>
      </p:sp>
      <p:sp>
        <p:nvSpPr>
          <p:cNvPr id="25" name="Schritt 6"/>
          <p:cNvSpPr/>
          <p:nvPr/>
        </p:nvSpPr>
        <p:spPr>
          <a:xfrm>
            <a:off x="548640" y="5257800"/>
            <a:ext cx="502920" cy="502920"/>
          </a:xfrm>
          <a:prstGeom prst="ellipse">
            <a:avLst/>
          </a:prstGeom>
          <a:solidFill>
            <a:schemeClr val="accent2"/>
          </a:solidFill>
          <a:ln w="12700">
            <a:solidFill>
              <a:schemeClr val="bg1"/>
            </a:solidFill>
            <a:prstDash val="solid"/>
          </a:ln>
        </p:spPr>
      </p:sp>
      <p:sp>
        <p:nvSpPr>
          <p:cNvPr id="26" name="Text 23"/>
          <p:cNvSpPr txBox="1"/>
          <p:nvPr/>
        </p:nvSpPr>
        <p:spPr>
          <a:xfrm>
            <a:off x="548640" y="5257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6</a:t>
            </a:r>
            <a:endParaRPr lang="en-US" sz="1600" dirty="0"/>
          </a:p>
        </p:txBody>
      </p:sp>
      <p:sp>
        <p:nvSpPr>
          <p:cNvPr id="27" name="Text 24"/>
          <p:cNvSpPr txBox="1"/>
          <p:nvPr/>
        </p:nvSpPr>
        <p:spPr>
          <a:xfrm>
            <a:off x="1325880" y="5276088"/>
            <a:ext cx="2011680" cy="457200"/>
          </a:xfrm>
          <a:prstGeom prst="rect">
            <a:avLst/>
          </a:prstGeom>
          <a:noFill/>
          <a:ln/>
        </p:spPr>
        <p:txBody>
          <a:bodyPr wrap="square" lIns="0" tIns="0" rIns="0" bIns="0" rtlCol="0" anchor="ctr"/>
          <a:lstStyle/>
          <a:p>
            <a:pPr indent="0" marL="0">
              <a:buNone/>
            </a:pPr>
            <a:r>
              <a:rPr lang="en-US" sz="1600" b="1" dirty="0">
                <a:solidFill>
                  <a:schemeClr val="accent1"/>
                </a:solidFill>
                <a:latin typeface="Arial" pitchFamily="34" charset="0"/>
                <a:ea typeface="Arial" pitchFamily="34" charset="-122"/>
                <a:cs typeface="Arial" pitchFamily="34" charset="-120"/>
              </a:rPr>
              <a:t>parallel</a:t>
            </a:r>
            <a:endParaRPr lang="en-US" sz="1600" dirty="0"/>
          </a:p>
        </p:txBody>
      </p:sp>
      <p:sp>
        <p:nvSpPr>
          <p:cNvPr id="28" name="Text 25"/>
          <p:cNvSpPr txBox="1"/>
          <p:nvPr/>
        </p:nvSpPr>
        <p:spPr>
          <a:xfrm>
            <a:off x="3383280" y="5276088"/>
            <a:ext cx="822960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Käufer in der Familie: eigene Kreditzusage mit KfW 298 bei ihrer Hausbank</a:t>
            </a:r>
            <a:endParaRPr lang="en-US" sz="14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Neue Mitte Werlte">
  <a:themeElements>
    <a:clrScheme name="Neue Mitte Werlte">
      <a:dk1>
        <a:srgbClr val="1F2421"/>
      </a:dk1>
      <a:lt1>
        <a:srgbClr val="FFFFFF"/>
      </a:lt1>
      <a:dk2>
        <a:srgbClr val="2F4A3E"/>
      </a:dk2>
      <a:lt2>
        <a:srgbClr val="F1F0EE"/>
      </a:lt2>
      <a:accent1>
        <a:srgbClr val="8C3B32"/>
      </a:accent1>
      <a:accent2>
        <a:srgbClr val="2F4A3E"/>
      </a:accent2>
      <a:accent3>
        <a:srgbClr val="C49A45"/>
      </a:accent3>
      <a:accent4>
        <a:srgbClr val="5B6770"/>
      </a:accent4>
      <a:accent5>
        <a:srgbClr val="2E7D5B"/>
      </a:accent5>
      <a:accent6>
        <a:srgbClr val="B3261E"/>
      </a:accent6>
      <a:hlink>
        <a:srgbClr val="8C3B32"/>
      </a:hlink>
      <a:folHlink>
        <a:srgbClr val="5B6770"/>
      </a:folHlink>
    </a:clrScheme>
    <a:fontScheme name="Neue Mitte Werlt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Neue Mitte Werlte – Baufeld 3: KfW-Förderung</dc:title>
  <dc:subject>PptxGenJS Presentation</dc:subject>
  <dc:creator>Bessam Hasso</dc:creator>
  <cp:lastModifiedBy>Bessam Hasso</cp:lastModifiedBy>
  <cp:revision>1</cp:revision>
  <dcterms:created xsi:type="dcterms:W3CDTF">2026-10-17T17:28:44Z</dcterms:created>
  <dcterms:modified xsi:type="dcterms:W3CDTF">2026-10-17T17:28:44Z</dcterms:modified>
</cp:coreProperties>
</file>