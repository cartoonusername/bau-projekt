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Variante A: 930 m² BGF, EG Gastro 290 m², darüber 6 möblierte Apartments, Staffel in Holzbau.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Quellen: ferienhausmiete.de, ferienwohnungen.de (Werlte, Abruf Oktober 2026), Emsland Touristik Geschäftsbericht 2016/2017.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Anteile am Umsatz sind Annahmen. Plattformgebühr laut Portalen je nach Modell ca. 3 % (geteilte Provision) oder 14 bis 16 % (nur Gastgeber).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Ergebnis des ganzen Hauses pro Monat: Gastro (ohne Lohn) plus Apartments minus Rate. Ein Kredit, 3,3 % Zins, 1 % Tilgung.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Bei 45 % Auslastung. Faktor auf unsere Annahme von 100 € und 85 € pro Nacht.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Bitte mit Bauamt und Brandschutz klären, die Hinweise sind keine Rechtsberatung.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rgbClr val="2F4A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097280"/>
            <a:ext cx="822960" cy="41148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2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ußenansic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0"/>
            <a:ext cx="5879592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188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NEUE MITTE WERLTE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691640"/>
            <a:ext cx="5486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Baufeld 3: Große Gastro und 6 Apartments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93192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Kurzzeitvermietung (Airbnb) statt Dauermiete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02920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Bessam Hasso, Werlte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Bebauungsplan Nr. 123, 1. Änderung (Entwurf 25.08.2026)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 Oktober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Das Konzept auf einen Blick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Ausarbeitung 1</a:t>
            </a:r>
            <a:endParaRPr lang="en-US" sz="1000" dirty="0"/>
          </a:p>
        </p:txBody>
      </p:sp>
      <p:sp>
        <p:nvSpPr>
          <p:cNvPr id="5" name="Kennzahl Apartments: 3 × 85 m² (4 Gäste), 3 × 56 m² (2 Gäste)"/>
          <p:cNvSpPr/>
          <p:nvPr/>
        </p:nvSpPr>
        <p:spPr>
          <a:xfrm>
            <a:off x="548640" y="1371600"/>
            <a:ext cx="260146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508760"/>
            <a:ext cx="22357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240280"/>
            <a:ext cx="22357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Apartments: 3 × 85 m² (4 Gäste), 3 × 56 m² (2 Gäste)</a:t>
            </a:r>
            <a:endParaRPr lang="en-US" sz="1300" dirty="0"/>
          </a:p>
        </p:txBody>
      </p:sp>
      <p:sp>
        <p:nvSpPr>
          <p:cNvPr id="8" name="Kennzahl Möblierung und Ausstattung, mit im Kredit"/>
          <p:cNvSpPr/>
          <p:nvPr/>
        </p:nvSpPr>
        <p:spPr>
          <a:xfrm>
            <a:off x="3378708" y="1371600"/>
            <a:ext cx="260146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561588" y="1508760"/>
            <a:ext cx="22357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253.800 €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3561588" y="2240280"/>
            <a:ext cx="22357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Möblierung und Ausstattung, mit im Kredit</a:t>
            </a:r>
            <a:endParaRPr lang="en-US" sz="1300" dirty="0"/>
          </a:p>
        </p:txBody>
      </p:sp>
      <p:sp>
        <p:nvSpPr>
          <p:cNvPr id="11" name="Kennzahl Ergebnis Haus pro Monat bei 45 % Auslastung"/>
          <p:cNvSpPr/>
          <p:nvPr/>
        </p:nvSpPr>
        <p:spPr>
          <a:xfrm>
            <a:off x="6208776" y="1371600"/>
            <a:ext cx="260146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391656" y="1508760"/>
            <a:ext cx="22357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accent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+7.107 €</a:t>
            </a:r>
            <a:endParaRPr lang="en-US" sz="2800" dirty="0"/>
          </a:p>
        </p:txBody>
      </p:sp>
      <p:sp>
        <p:nvSpPr>
          <p:cNvPr id="13" name="Text 10"/>
          <p:cNvSpPr txBox="1"/>
          <p:nvPr/>
        </p:nvSpPr>
        <p:spPr>
          <a:xfrm>
            <a:off x="6391656" y="2240280"/>
            <a:ext cx="22357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 Haus pro Monat bei 45 % Auslastung</a:t>
            </a:r>
            <a:endParaRPr lang="en-US" sz="1300" dirty="0"/>
          </a:p>
        </p:txBody>
      </p:sp>
      <p:sp>
        <p:nvSpPr>
          <p:cNvPr id="14" name="Kennzahl zum Vergleich: Dauermiete (950 € je Wohnung)"/>
          <p:cNvSpPr/>
          <p:nvPr/>
        </p:nvSpPr>
        <p:spPr>
          <a:xfrm>
            <a:off x="9038844" y="1371600"/>
            <a:ext cx="260146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221724" y="1508760"/>
            <a:ext cx="22357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accent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+9.860 €</a:t>
            </a:r>
            <a:endParaRPr lang="en-US" sz="2800" dirty="0"/>
          </a:p>
        </p:txBody>
      </p:sp>
      <p:sp>
        <p:nvSpPr>
          <p:cNvPr id="16" name="Text 13"/>
          <p:cNvSpPr txBox="1"/>
          <p:nvPr/>
        </p:nvSpPr>
        <p:spPr>
          <a:xfrm>
            <a:off x="9221724" y="2240280"/>
            <a:ext cx="22357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zum Vergleich: Dauermiete (950 € je Wohnung)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3108960"/>
            <a:ext cx="1109167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Kurzzeitvermietung bringt in Werlte nicht mehr als normale Mieter.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 45 % Auslastung und 100 € bzw. 85 € pro Nacht liegt das Ergebnis des Hauses 2.753 € unter der Dauermiete. Erst bei ca. 82 % Auslastung wäre es gleich.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Markt in Werlte: was wir wissen und was nicht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Ausarbeitung 1</a:t>
            </a:r>
            <a:endParaRPr lang="en-US" sz="1000" dirty="0"/>
          </a:p>
        </p:txBody>
      </p:sp>
      <p:graphicFrame>
        <p:nvGraphicFramePr>
          <p:cNvPr id="4" name="Tabelle Markt Airbnb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3657600"/>
                <a:gridCol w="3227832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Kennzahl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Wert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Aussagekraft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Ferienwohnung Werlte, 3 bis 6 Gäste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 ca. 70 bis 80 € pro Nacht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Einzelangebote, günstigste Preise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Saisonspanne laut Portalen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119 bis 205 € pro Nacht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widersprüchlich, nicht belegt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Auslastung Emsland (Papenburg, Lingen)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37 % (2016/2017)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fast 10 Jahre alt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Angebot in Werlte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über 60 Unterkünfte auf Portalen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Konkurrenz vorhanden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Unsere Annahme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100 € (85 m²), 85 € (56 m²), 45 %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vorsichtig, mit Daten prüfen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475488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Belastbare Zahlen liefern das Landesamt für Statistik Niedersachsen (Beherbergungsstatistik), Emsland Touristik und Datenanbieter für Kurzzeitvermietung (z. B. AirDNA). Das sollten wir vor einer Entscheidung abfragen.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Kosten der Kurzzeitvermietung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Ausarbeitung 1</a:t>
            </a:r>
            <a:endParaRPr lang="en-US" sz="1000" dirty="0"/>
          </a:p>
        </p:txBody>
      </p:sp>
      <p:graphicFrame>
        <p:nvGraphicFramePr>
          <p:cNvPr id="5" name="Tabelle Kosten Airbnb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585216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182880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Anteil am Umsatz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Plattformgebühr (Airbnb, Booking)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Reinigung und Wäsche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Strom, Wasser, Heizung, Internet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Verbrauchsmaterial (Seife, Kaffee …)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Versicherung, Software, Steuerberater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Rücklage für Reparaturen und Ersatz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Bleibt vom Umsatz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Hinweis"/>
          <p:cNvSpPr/>
          <p:nvPr/>
        </p:nvSpPr>
        <p:spPr>
          <a:xfrm>
            <a:off x="6766560" y="1371600"/>
            <a:ext cx="4873752" cy="4206240"/>
          </a:xfrm>
          <a:prstGeom prst="roundRect">
            <a:avLst>
              <a:gd name="adj" fmla="val 173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6995160" y="1554480"/>
            <a:ext cx="4416552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Möblierung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ca. 600 € je m² (Möbel, Küche, Wäsche, Technik) bei 423 m², das sind 253.800 € mehr im Kredit.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Selbstbetrieb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Dein Aufwand (Gäste, Schlüssel, Preise) ist nicht bezahlt. Eine Verwaltungsfirma kostet zusätzlich ca. 15 bis 25 % vom Umsatz.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Ergebnis je Auslastung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Ausarbeitung 1</a:t>
            </a:r>
            <a:endParaRPr lang="en-US" sz="1000" dirty="0"/>
          </a:p>
        </p:txBody>
      </p:sp>
      <p:graphicFrame>
        <p:nvGraphicFramePr>
          <p:cNvPr id="6" name="Tabelle Auslastung Airbnb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828800"/>
                <a:gridCol w="1828800"/>
                <a:gridCol w="1554480"/>
                <a:gridCol w="1828800"/>
                <a:gridCol w="2039112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Auslastung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Umsatz Apartments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Netto Apartments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Haus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gegenüber Dauermiete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5.908 €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11.137 €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+6.365 €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−3.496 €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7.597 €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3.342 €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11.137 €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+7.107 €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−2.753 €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9.285 €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4.085 €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11.137 €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+7.850 €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−2.010 €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10.973 €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4.828 €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11.137 €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+8.593 €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−1.267 €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12.661 €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5.571 €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11.137 €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+9.336 €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−525 €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Dauermiete (Vergleich)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5.700 €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5.130 €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10.172 €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+9.860 €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52120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Ohne Einrichtungskosten läge die Rate bei 10.172 €. Mit der Möblierung steigt sie auf 11.137 €.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Ergebnis je Preis pro Nacht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Ausarbeitung 1</a:t>
            </a:r>
            <a:endParaRPr lang="en-US" sz="1000" dirty="0"/>
          </a:p>
        </p:txBody>
      </p:sp>
      <p:graphicFrame>
        <p:nvGraphicFramePr>
          <p:cNvPr id="7" name="Tabelle Preis Airbnb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841248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645920"/>
                <a:gridCol w="1645920"/>
                <a:gridCol w="1737360"/>
                <a:gridCol w="173736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Preis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 m², 4 Gäste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 m², 2 Gäste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Haus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gegenüber Dauermiete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+6.439 €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−3.421 €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Annahme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+7.107 €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−2.753 €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+7.776 €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−2.084 €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+8.444 €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−1.416 €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4480560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Auch bei 40 % höheren Preisen bleibt das Ergebnis unter der Dauermiete. Der Vorteil von Airbnb liegt nur in Zeiten und Orten mit hoher Nachfrage, etwa Messen oder Monteure unter der Woche.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Recht und Risiken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Ausarbeitung 1</a:t>
            </a:r>
            <a:endParaRPr lang="en-US" sz="1000" dirty="0"/>
          </a:p>
        </p:txBody>
      </p:sp>
      <p:sp>
        <p:nvSpPr>
          <p:cNvPr id="5" name="Beherbergungsstätte"/>
          <p:cNvSpPr/>
          <p:nvPr/>
        </p:nvSpPr>
        <p:spPr>
          <a:xfrm>
            <a:off x="548640" y="1371600"/>
            <a:ext cx="53949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5087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Beherbergungsstätte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965960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 mehr als 12 Gästebetten gelten meist Sonderbau-Regeln (Brandschutz, Fluchtwege), hier ca. 18 Betten. Das betrifft auch das Holz-Staffelgeschoss.</a:t>
            </a:r>
            <a:endParaRPr lang="en-US" sz="1300" dirty="0"/>
          </a:p>
        </p:txBody>
      </p:sp>
      <p:sp>
        <p:nvSpPr>
          <p:cNvPr id="8" name="Nutzung im B-Plan"/>
          <p:cNvSpPr/>
          <p:nvPr/>
        </p:nvSpPr>
        <p:spPr>
          <a:xfrm>
            <a:off x="6217920" y="1371600"/>
            <a:ext cx="53949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46520" y="15087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Nutzung im B-Plan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6446520" y="1965960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 Mischgebiet sind Beherbergung und Ferienwohnungen meist zulässig, die Stadt muss es für Baufeld 3 bestätigen.</a:t>
            </a:r>
            <a:endParaRPr lang="en-US" sz="1300" dirty="0"/>
          </a:p>
        </p:txBody>
      </p:sp>
      <p:sp>
        <p:nvSpPr>
          <p:cNvPr id="11" name="Stellplätze"/>
          <p:cNvSpPr/>
          <p:nvPr/>
        </p:nvSpPr>
        <p:spPr>
          <a:xfrm>
            <a:off x="548640" y="3566160"/>
            <a:ext cx="53949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37033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Stellplätze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4160520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Gäste und Gastro brauchen zusammen noch mehr Plätze als heute (Bedarf ca. 29, Platz 10–13).</a:t>
            </a:r>
            <a:endParaRPr lang="en-US" sz="1300" dirty="0"/>
          </a:p>
        </p:txBody>
      </p:sp>
      <p:sp>
        <p:nvSpPr>
          <p:cNvPr id="14" name="Aufwand und Steuern"/>
          <p:cNvSpPr/>
          <p:nvPr/>
        </p:nvSpPr>
        <p:spPr>
          <a:xfrm>
            <a:off x="6217920" y="3566160"/>
            <a:ext cx="53949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46520" y="37033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Aufwand und Steuern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6446520" y="4160520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Gäste, Reinigung und Preise kosten Zeit. Einnahmen sind Gewerbe, Verkauf einzelner Apartments an Verwandte passt dazu nicht gut.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Fazit und nächste Schritte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Ausarbeitung 1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91672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Fazit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Apartments sind möglich, aber im Plan 2.753 € im Monat schwächer als normale Mieter, bei mehr Arbeit und Risiko.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Nächste Schritte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Echte Preise und Auslastung für Werlte holen (LSN, Emsland Touristik, Airbnb-Daten).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Nachfrage durch Betriebe und Monteure in der Umgebung prüfen.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Brandschutz und Sonderbau mit dem Bauamt klären.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ue Mitte Werlte">
  <a:themeElements>
    <a:clrScheme name="Neue Mitte Werlte">
      <a:dk1>
        <a:srgbClr val="1F2421"/>
      </a:dk1>
      <a:lt1>
        <a:srgbClr val="FFFFFF"/>
      </a:lt1>
      <a:dk2>
        <a:srgbClr val="2F4A3E"/>
      </a:dk2>
      <a:lt2>
        <a:srgbClr val="F1F0EE"/>
      </a:lt2>
      <a:accent1>
        <a:srgbClr val="8C3B32"/>
      </a:accent1>
      <a:accent2>
        <a:srgbClr val="2F4A3E"/>
      </a:accent2>
      <a:accent3>
        <a:srgbClr val="C49A45"/>
      </a:accent3>
      <a:accent4>
        <a:srgbClr val="5B6770"/>
      </a:accent4>
      <a:accent5>
        <a:srgbClr val="2E7D5B"/>
      </a:accent5>
      <a:accent6>
        <a:srgbClr val="B3261E"/>
      </a:accent6>
      <a:hlink>
        <a:srgbClr val="8C3B32"/>
      </a:hlink>
      <a:folHlink>
        <a:srgbClr val="5B6770"/>
      </a:folHlink>
    </a:clrScheme>
    <a:fontScheme name="Neue Mitte Werlt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Neue Mitte Werlte – Baufeld 3: Gastro und 6 Apartments</dc:title>
  <dc:subject>PptxGenJS Presentation</dc:subject>
  <dc:creator>Bessam Hasso</dc:creator>
  <cp:lastModifiedBy>Bessam Hasso</cp:lastModifiedBy>
  <cp:revision>1</cp:revision>
  <dcterms:created xsi:type="dcterms:W3CDTF">2026-10-15T17:12:26Z</dcterms:created>
  <dcterms:modified xsi:type="dcterms:W3CDTF">2026-10-15T17:12:26Z</dcterms:modified>
</cp:coreProperties>
</file>