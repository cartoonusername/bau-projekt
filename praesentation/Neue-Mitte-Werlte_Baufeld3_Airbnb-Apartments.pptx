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A: 960 m² BGF, EG Gastro 290 m², darüber 6 möblierte Apartments, Staffel in Holzbau.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Quellen: ferienhausmiete.de, ferienwohnungen.de (Werlte, Abruf Oktober 2026), Emsland Touristik Geschäftsbericht 2016/2017.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Anteile am Umsatz sind Annahmen. Plattformgebühr laut Portalen je nach Modell ca. 3 % (geteilte Provision) oder 14 bis 16 % (nur Gastgeber).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Ergebnis des ganzen Hauses pro Monat: Gastro (ohne Lohn) plus Apartments minus Rate. Ein Kredit, 3,3 % Zins, 1 % Tilgung.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45 % Auslastung. Faktor auf unsere Annahme von 100 € und 85 € pro Nacht.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 Einheit mit eigenem Kredit ohne Eigenkapital. Käufer zahlen 3,3 % Zins; Preis für das Plus: nur Zinsen, ohne Tilgung. Selbstkosten enthalten Möblierung (600 €/m²).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Bitte mit Bauamt und Brandschutz klären, die Hinweise sind keine Rechtsberatung.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ßenansic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MITTE WERLTE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Baufeld 3: Große Gastro und 6 Apartments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Kurzzeitvermietung (Airbnb) statt Dauermiete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Bessam Hasso, Werlte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Bebauungsplan Nr. 123, 1. Änderung (Entwurf 25.08.2026)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Oktober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Konzept auf einen Blick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1</a:t>
            </a:r>
            <a:endParaRPr lang="en-US" sz="1000" dirty="0"/>
          </a:p>
        </p:txBody>
      </p:sp>
      <p:sp>
        <p:nvSpPr>
          <p:cNvPr id="5" name="Kennzahl Apartments: 3 × 85 m² (4 Gäste), 3 × 63 m² (2 Gäste)"/>
          <p:cNvSpPr/>
          <p:nvPr/>
        </p:nvSpPr>
        <p:spPr>
          <a:xfrm>
            <a:off x="548640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Apartments: 3 × 85 m² (4 Gäste), 3 × 63 m² (2 Gäste)</a:t>
            </a:r>
            <a:endParaRPr lang="en-US" sz="1300" dirty="0"/>
          </a:p>
        </p:txBody>
      </p:sp>
      <p:sp>
        <p:nvSpPr>
          <p:cNvPr id="8" name="Kennzahl Möblierung und Ausstattung, mit im Kredit"/>
          <p:cNvSpPr/>
          <p:nvPr/>
        </p:nvSpPr>
        <p:spPr>
          <a:xfrm>
            <a:off x="3378708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1588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266.400 €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1588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Möblierung und Ausstattung, mit im Kredit</a:t>
            </a:r>
            <a:endParaRPr lang="en-US" sz="1300" dirty="0"/>
          </a:p>
        </p:txBody>
      </p:sp>
      <p:sp>
        <p:nvSpPr>
          <p:cNvPr id="11" name="Kennzahl Ergebnis Haus pro Monat bei 45 % Auslastung"/>
          <p:cNvSpPr/>
          <p:nvPr/>
        </p:nvSpPr>
        <p:spPr>
          <a:xfrm>
            <a:off x="6208776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91656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+6.886 €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391656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Haus pro Monat bei 45 % Auslastung</a:t>
            </a:r>
            <a:endParaRPr lang="en-US" sz="1300" dirty="0"/>
          </a:p>
        </p:txBody>
      </p:sp>
      <p:sp>
        <p:nvSpPr>
          <p:cNvPr id="14" name="Kennzahl zum Vergleich: Dauermiete (950 € je Wohnung)"/>
          <p:cNvSpPr/>
          <p:nvPr/>
        </p:nvSpPr>
        <p:spPr>
          <a:xfrm>
            <a:off x="9038844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21724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+9.687 €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221724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Vergleich: Dauermiete (950 € je Wohnung)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10896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Kurzzeitvermietung bringt in Werlte nicht mehr als normale Mieter.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45 % Auslastung und 100 € bzw. 85 € pro Nacht liegt das Ergebnis des Hauses 2.801 € unter der Dauermiete. Erst bei ca. 82 % Auslastung wäre es gleich.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 in Werlte: was wir wissen und was nicht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1</a:t>
            </a:r>
            <a:endParaRPr lang="en-US" sz="1000" dirty="0"/>
          </a:p>
        </p:txBody>
      </p:sp>
      <p:graphicFrame>
        <p:nvGraphicFramePr>
          <p:cNvPr id="4" name="Tabelle Markt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657600"/>
                <a:gridCol w="32278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Kennzahl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Aussagekraft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Ferienwohnung Werlte, 3 bis 6 Gäste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 ca. 70 bis 80 € pro Nacht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Einzelangebote, günstigste Preise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Saisonspanne laut Portalen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119 bis 205 € pro Nacht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widersprüchlich, nicht belegt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Auslastung Emsland (Papenburg, Lingen)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37 % (2016/2017)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10 Jahre alt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Angebot in Werlte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über 60 Unterkünfte auf Portalen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Konkurrenz vorhanden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Unsere Annahme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100 € (85 m²), 85 € (63 m²), 45 %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vorsichtig, mit Daten prüfen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754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Belastbare Zahlen liefern das Landesamt für Statistik Niedersachsen (Beherbergungsstatistik), Emsland Touristik und Datenanbieter für Kurzzeitvermietung (z. B. AirDNA). Das sollten wir vor einer Entscheidung abfragen.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Kosten der Kurzzeitvermietung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1</a:t>
            </a:r>
            <a:endParaRPr lang="en-US" sz="1000" dirty="0"/>
          </a:p>
        </p:txBody>
      </p:sp>
      <p:graphicFrame>
        <p:nvGraphicFramePr>
          <p:cNvPr id="5" name="Tabelle Kosten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 am Umsatz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Plattformgebühr (Airbnb, Booking)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Reinigung und Wäsche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Strom, Wasser, Heizung, Internet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Verbrauchsmaterial (Seife, Kaffee …)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Versicherung, Software, Steuerberater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Rücklage für Reparaturen und Ersatz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Bleibt vom Umsatz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"/>
          <p:cNvSpPr/>
          <p:nvPr/>
        </p:nvSpPr>
        <p:spPr>
          <a:xfrm>
            <a:off x="6766560" y="1371600"/>
            <a:ext cx="4873752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95160" y="1554480"/>
            <a:ext cx="44165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Möblierung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600 € je m² (Möbel, Küche, Wäsche, Technik) bei 444 m², das sind 266.400 € mehr im Kredit.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Selbstbetrieb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Aufwand (Gäste, Schlüssel, Preise) ist nicht bezahlt. Eine Verwaltungsfirma kostet zusätzlich ca. 15 bis 25 % vom Umsatz.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Ergebnis je Auslastung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1</a:t>
            </a:r>
            <a:endParaRPr lang="en-US" sz="1000" dirty="0"/>
          </a:p>
        </p:txBody>
      </p:sp>
      <p:graphicFrame>
        <p:nvGraphicFramePr>
          <p:cNvPr id="6" name="Tabelle Auslastung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1554480"/>
                <a:gridCol w="1828800"/>
                <a:gridCol w="20391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Auslastung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 Apartments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 Apartments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Haus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gegenüber Dauermiete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5.908 €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+6.143 €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−3.544 €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7.597 €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3.342 €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+6.886 €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−2.801 €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+7.629 €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−2.058 €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10.973 €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+8.372 €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−1.315 €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12.661 €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+9.114 €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Dauermiete (Vergleich)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+9.687 €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Einrichtungskosten läge die Rate bei 10.345 €. Mit der Möblierung steigt sie auf 11.358 €.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Ergebnis je Preis pro Nacht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1</a:t>
            </a:r>
            <a:endParaRPr lang="en-US" sz="1000" dirty="0"/>
          </a:p>
        </p:txBody>
      </p:sp>
      <p:graphicFrame>
        <p:nvGraphicFramePr>
          <p:cNvPr id="7" name="Tabelle Preis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m², 4 Gäste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 m², 2 Gäste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Haus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gegenüber Dauermiete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+6.218 €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−3.469 €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Annahme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+6.886 €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−2.801 €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+7.555 €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−2.132 €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+8.223 €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4805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Auch bei 40 % höheren Preisen bleibt das Ergebnis unter der Dauermiete. Der Vorteil von Airbnb liegt nur in Zeiten und Orten mit hoher Nachfrage, etwa Messen oder Monteure unter der Woche.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Verkauf an die Verwandten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1</a:t>
            </a:r>
            <a:endParaRPr lang="en-US" sz="1000" dirty="0"/>
          </a:p>
        </p:txBody>
      </p:sp>
      <p:graphicFrame>
        <p:nvGraphicFramePr>
          <p:cNvPr id="8" name="Tabelle Verkauf Verwand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1463040"/>
                <a:gridCol w="1463040"/>
                <a:gridCol w="1554480"/>
                <a:gridCol w="1280160"/>
                <a:gridCol w="1463040"/>
                <a:gridCol w="149047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Einheit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Anzahl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Selbstkosten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(1 % Tilgung)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Einnahme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für +250 €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Differenz je Einheit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365.625 €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120.568 €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245.056 €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263.974 €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−493 €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89.648 €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174.327 €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02336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Selbstkostenpreis ist jede Einheit im Minus. Für ein Plus von 250 € müsste der Preis so tief sinken, dass du insgesamt 1.258.149 € Differenz trägst.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Ergebnis dann: Gastro 15.250 € minus Rate EG 4.164 € minus Zinsen auf die Differenz 3.676 € = +7.410 € pro Monat. Eine Bank finanziert eine so hohe Differenz kaum.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Recht und Risiken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1</a:t>
            </a:r>
            <a:endParaRPr lang="en-US" sz="1000" dirty="0"/>
          </a:p>
        </p:txBody>
      </p:sp>
      <p:sp>
        <p:nvSpPr>
          <p:cNvPr id="5" name="Beherbergungsstätte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Beherbergungsstätte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mehr als 12 Gästebetten gelten meist Sonderbau-Regeln (Brandschutz, Fluchtwege), hier ca. 18 Betten. Das betrifft auch das Holz-Staffelgeschoss.</a:t>
            </a:r>
            <a:endParaRPr lang="en-US" sz="1300" dirty="0"/>
          </a:p>
        </p:txBody>
      </p:sp>
      <p:sp>
        <p:nvSpPr>
          <p:cNvPr id="8" name="Nutzung im B-Plan"/>
          <p:cNvSpPr/>
          <p:nvPr/>
        </p:nvSpPr>
        <p:spPr>
          <a:xfrm>
            <a:off x="621792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Nutzung im B-Plan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965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Mischgebiet sind Beherbergung und Ferienwohnungen meist zulässig, die Stadt muss es für Baufeld 3 bestätigen.</a:t>
            </a:r>
            <a:endParaRPr lang="en-US" sz="1300" dirty="0"/>
          </a:p>
        </p:txBody>
      </p:sp>
      <p:sp>
        <p:nvSpPr>
          <p:cNvPr id="11" name="Stellplätze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160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Gäste und Gastro brauchen zusammen noch mehr Plätze als heute (Bedarf ca. 29, Platz 10–13).</a:t>
            </a:r>
            <a:endParaRPr lang="en-US" sz="1300" dirty="0"/>
          </a:p>
        </p:txBody>
      </p:sp>
      <p:sp>
        <p:nvSpPr>
          <p:cNvPr id="14" name="Aufwand und Steuern"/>
          <p:cNvSpPr/>
          <p:nvPr/>
        </p:nvSpPr>
        <p:spPr>
          <a:xfrm>
            <a:off x="621792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Aufwand und Steuern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160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Gäste, Reinigung und Preise kosten Zeit. Einnahmen sind Gewerbe, Verkauf einzelner Apartments an Verwandte passt dazu nicht gut.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Fazit und nächste Schritte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Ausarbeitung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Apartments sind möglich, aber im Plan 2.801 € im Monat schwächer als normale Mieter, bei mehr Arbeit und Risiko.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Echte Preise und Auslastung für Werlte holen (LSN, Emsland Touristik, Airbnb-Daten).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Nachfrage durch Betriebe und Monteure in der Umgebung prüfen.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Brandschutz und Sonderbau mit dem Bauamt klären.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3: Gastro und 6 Apartments</dc:title>
  <dc:subject>PptxGenJS Presentation</dc:subject>
  <dc:creator>Bessam Hasso</dc:creator>
  <cp:lastModifiedBy>Bessam Hasso</cp:lastModifiedBy>
  <cp:revision>1</cp:revision>
  <dcterms:created xsi:type="dcterms:W3CDTF">2026-10-16T06:29:37Z</dcterms:created>
  <dcterms:modified xsi:type="dcterms:W3CDTF">2026-10-16T06:29:37Z</dcterms:modified>
</cp:coreProperties>
</file>